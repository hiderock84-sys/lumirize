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main.jpg"/>
          <p:cNvPicPr>
            <a:picLocks noChangeAspect="1"/>
          </p:cNvPicPr>
          <p:nvPr/>
        </p:nvPicPr>
        <p:blipFill>
          <a:blip r:embed="rId2"/>
          <a:srcRect l="24943" r="24943"/>
          <a:stretch>
            <a:fillRect/>
          </a:stretch>
        </p:blipFill>
        <p:spPr>
          <a:xfrm>
            <a:off x="2552624" y="0"/>
            <a:ext cx="1285875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760000" y="0"/>
            <a:ext cx="6443999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840000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000" y="413999"/>
            <a:ext cx="502865" cy="468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58000" y="1494000"/>
            <a:ext cx="1872000" cy="234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RECOVERY SUPPORT /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1890000"/>
            <a:ext cx="5832000" cy="79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Noto Sans JP"/>
              </a:rPr>
              <a:t>生き直す力で、
依存症からの回復を。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800" y="2898000"/>
            <a:ext cx="4932000" cy="43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E8F1EF"/>
                </a:solidFill>
                <a:latin typeface="Noto Sans JP"/>
              </a:rPr>
              <a:t>人としての尊厳を大切に、安心して自分を表現できる共同の場をつくります。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000" y="5958000"/>
            <a:ext cx="324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FFFFF"/>
                </a:solidFill>
                <a:latin typeface="Noto Sans JP"/>
              </a:rPr>
              <a:t>一般社団法人 相模原ダルク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8000" y="6173999"/>
            <a:ext cx="4608000" cy="1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E8F1EF"/>
                </a:solidFill>
                <a:latin typeface="Noto Sans JP"/>
              </a:rPr>
              <a:t>アルコール依存症・薬物依存症・ギャンブル依存症の回復支援施設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この資料で伝えること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相模原ダルクの支援価値を、紹介・相談・連携の場面でそのまま使える形に整理。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854000"/>
            <a:ext cx="576000" cy="251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59E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6000" y="1836000"/>
            <a:ext cx="8640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91C32"/>
                </a:solidFill>
                <a:latin typeface="Noto Sans JP"/>
              </a:rPr>
              <a:t>依存症は「意思の弱さ」ではなく、正しい理解と継続的支援が必要な病気です。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6000" y="2250000"/>
            <a:ext cx="8100000" cy="108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2970000"/>
            <a:ext cx="576000" cy="251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59E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6000" y="2951999"/>
            <a:ext cx="8640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91C32"/>
                </a:solidFill>
                <a:latin typeface="Noto Sans JP"/>
              </a:rPr>
              <a:t>相模原ダルクは、安心できる共同の場と専門プログラムで回復を支えます。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86000" y="3366000"/>
            <a:ext cx="8100000" cy="108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4086000"/>
            <a:ext cx="576000" cy="251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59E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6000" y="4068000"/>
            <a:ext cx="8640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91C32"/>
                </a:solidFill>
                <a:latin typeface="Noto Sans JP"/>
              </a:rPr>
              <a:t>本人・家族・医療・行政・司法・地域がつながることで、回復の可能性は広がります。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6000" y="4482000"/>
            <a:ext cx="8100000" cy="108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outline01.jpg"/>
          <p:cNvPicPr>
            <a:picLocks noChangeAspect="1"/>
          </p:cNvPicPr>
          <p:nvPr/>
        </p:nvPicPr>
        <p:blipFill>
          <a:blip r:embed="rId2"/>
          <a:srcRect l="26969" r="26969"/>
          <a:stretch>
            <a:fillRect/>
          </a:stretch>
        </p:blipFill>
        <p:spPr>
          <a:xfrm>
            <a:off x="5526000" y="0"/>
            <a:ext cx="9144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992000" y="0"/>
            <a:ext cx="4212000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理念と使命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公式サイト掲載の理念・使命を、支援現場で伝わる言葉に再編集。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000" y="1835999"/>
            <a:ext cx="3528000" cy="180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8000" y="1835999"/>
            <a:ext cx="43200" cy="1800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0000" y="1961999"/>
            <a:ext cx="324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理念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239200"/>
            <a:ext cx="3240000" cy="1314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・人としての尊厳を大切にする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・安心して自分を表現できる共同の場をつくる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・誠実な関わりと対話で、生き直す力を育てる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0" y="1835999"/>
            <a:ext cx="3528000" cy="180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0000" y="1835999"/>
            <a:ext cx="43200" cy="1800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2000" y="1961999"/>
            <a:ext cx="324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使命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2000" y="2239200"/>
            <a:ext cx="3240000" cy="1314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・依存症からの回復支援を通じて社会に貢献する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・恐れや圧力ではなく、安心できる環境を整える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・地域・社会の中に共同の場をつくり続ける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6000" y="4338000"/>
            <a:ext cx="6768000" cy="503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91C32"/>
                </a:solidFill>
                <a:latin typeface="Noto Sans JP"/>
              </a:rPr>
              <a:t>依存症は困難な病気です。
それでも、私たちは回復をあきらめません。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依存症を取り巻く課題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本人だけでなく、家族・職場・地域にも影響が広がるため、孤立させない支援が必要です。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000" y="1800000"/>
            <a:ext cx="496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000" y="1800000"/>
            <a:ext cx="43200" cy="1170000"/>
          </a:xfrm>
          <a:prstGeom prst="rect">
            <a:avLst/>
          </a:prstGeom>
          <a:solidFill>
            <a:srgbClr val="C44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000" y="1925999"/>
            <a:ext cx="468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コントロール困難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2203200"/>
            <a:ext cx="468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飲酒・薬物・ギャンブル等をやめようとしても繰り返してしまう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02000" y="1800000"/>
            <a:ext cx="496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02000" y="1800000"/>
            <a:ext cx="43200" cy="1170000"/>
          </a:xfrm>
          <a:prstGeom prst="rect">
            <a:avLst/>
          </a:prstGeom>
          <a:solidFill>
            <a:srgbClr val="E1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999" y="1925999"/>
            <a:ext cx="468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生活バランスの崩れ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999" y="2203200"/>
            <a:ext cx="468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仕事・家庭・健康よりも依存対象が優先され、孤立が進む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000" y="3330000"/>
            <a:ext cx="496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000" y="3330000"/>
            <a:ext cx="43200" cy="1170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000" y="3456000"/>
            <a:ext cx="468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家族・周囲への影響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000" y="3733200"/>
            <a:ext cx="468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会話の減少、口論、経済問題、関係悪化が重なっていく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02000" y="3330000"/>
            <a:ext cx="496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02000" y="3330000"/>
            <a:ext cx="43200" cy="1170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999" y="3456000"/>
            <a:ext cx="468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再発リスク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999" y="3733200"/>
            <a:ext cx="468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離脱症状や強い欲求により、ひとりでは継続が難しい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816000" y="5166000"/>
            <a:ext cx="4536000" cy="270000"/>
          </a:xfrm>
          <a:prstGeom prst="round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必要なのは、正しい理解と専門的な治療・支援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相模原ダルクの回復支援モデル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安全な環境、仲間との関わり、専門機関連携を組み合わせて、回復の継続を支えます。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8000" y="1872000"/>
            <a:ext cx="450000" cy="450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8000" y="2448000"/>
            <a:ext cx="234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相談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000" y="2718000"/>
            <a:ext cx="2340000" cy="503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本人・家族・周囲の方から状況を丁寧に聴く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72000" y="1998000"/>
            <a:ext cx="432000" cy="198000"/>
          </a:xfrm>
          <a:prstGeom prst="rightArrow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56000" y="1872000"/>
            <a:ext cx="450000" cy="450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000" y="2448000"/>
            <a:ext cx="234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安心できる場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000" y="2718000"/>
            <a:ext cx="2340000" cy="503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共同生活・日中活動を通じて孤立をほどく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80000" y="1998000"/>
            <a:ext cx="432000" cy="198000"/>
          </a:xfrm>
          <a:prstGeom prst="rightArrow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999" y="1872000"/>
            <a:ext cx="450000" cy="450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999" y="2448000"/>
            <a:ext cx="234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プログラム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999" y="2718000"/>
            <a:ext cx="2340000" cy="503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回復段階に応じて生活訓練・就労支援を行う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87999" y="1998000"/>
            <a:ext cx="432000" cy="198000"/>
          </a:xfrm>
          <a:prstGeom prst="rightArrow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72000" y="1872000"/>
            <a:ext cx="450000" cy="450000"/>
          </a:xfrm>
          <a:prstGeom prst="round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72000" y="2448000"/>
            <a:ext cx="234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社会参加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2000" y="2718000"/>
            <a:ext cx="2340000" cy="503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医療・福祉・司法・地域とつながり直す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4410000"/>
            <a:ext cx="10260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091C32"/>
                </a:solidFill>
                <a:latin typeface="Noto Sans JP"/>
              </a:rPr>
              <a:t>「一人でやめ続ける」から、「仲間と支援につながり続ける」へ。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事業内容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障害福祉サービス、入寮、相談、連携、予防啓発を一体的に展開。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8000" y="1818000"/>
            <a:ext cx="3366000" cy="124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8000" y="1818000"/>
            <a:ext cx="43200" cy="1242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1943999"/>
            <a:ext cx="3077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91C32"/>
                </a:solidFill>
                <a:latin typeface="Noto Sans JP"/>
              </a:rPr>
              <a:t>01  障害福祉サービス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2221200"/>
            <a:ext cx="3077999" cy="75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自立訓練（生活訓練）／就労継続支援B型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0" y="1818000"/>
            <a:ext cx="3366000" cy="124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0000" y="1818000"/>
            <a:ext cx="43200" cy="1242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2000" y="1943999"/>
            <a:ext cx="3077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91C32"/>
                </a:solidFill>
                <a:latin typeface="Noto Sans JP"/>
              </a:rPr>
              <a:t>02  入寮事業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2000" y="2221200"/>
            <a:ext cx="3077999" cy="75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依存症治療専用ナイトケアハウスを運営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00" y="1818000"/>
            <a:ext cx="3366000" cy="124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00" y="1818000"/>
            <a:ext cx="43200" cy="1242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3999" y="1943999"/>
            <a:ext cx="3077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91C32"/>
                </a:solidFill>
                <a:latin typeface="Noto Sans JP"/>
              </a:rPr>
              <a:t>03  相談事業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3999" y="2221200"/>
            <a:ext cx="3077999" cy="75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本人・家族・周囲の方など、どなたでも相談可能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30000" y="3420000"/>
            <a:ext cx="5130000" cy="124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30000" y="3420000"/>
            <a:ext cx="43200" cy="1242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92000" y="3546000"/>
            <a:ext cx="484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91C32"/>
                </a:solidFill>
                <a:latin typeface="Noto Sans JP"/>
              </a:rPr>
              <a:t>04  連携・協力事業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2000" y="3823200"/>
            <a:ext cx="4842000" cy="75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医療機関・行政機関・地域団体とネットワーク形成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66000" y="3420000"/>
            <a:ext cx="5130000" cy="124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66000" y="3420000"/>
            <a:ext cx="43200" cy="1242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28000" y="3546000"/>
            <a:ext cx="484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91C32"/>
                </a:solidFill>
                <a:latin typeface="Noto Sans JP"/>
              </a:rPr>
              <a:t>05  予防・啓発事業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28000" y="3823200"/>
            <a:ext cx="4842000" cy="75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講演活動や地域イベントを通じた啓発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9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対応できる依存症・関連課題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公式サイト掲載の主要領域を、相談時に見渡せる一覧に。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000" y="1800000"/>
            <a:ext cx="3311999" cy="259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0000" y="1800000"/>
            <a:ext cx="43200" cy="2592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1925999"/>
            <a:ext cx="3023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主要領域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2203200"/>
            <a:ext cx="3023999" cy="2106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・アルコール依存症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・薬物依存症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・ギャンブル依存症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6000" y="1800000"/>
            <a:ext cx="3311999" cy="259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6000" y="1800000"/>
            <a:ext cx="43200" cy="2592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18000" y="1925999"/>
            <a:ext cx="3023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広がる相談領域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8000" y="2203200"/>
            <a:ext cx="3023999" cy="2106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・ゲーム・ネット・スマホ依存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・処方薬・市販薬依存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・大麻・危険ドラッグ依存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2000" y="1800000"/>
            <a:ext cx="3311999" cy="2592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2000" y="1800000"/>
            <a:ext cx="43200" cy="2592000"/>
          </a:xfrm>
          <a:prstGeom prst="rect">
            <a:avLst/>
          </a:prstGeom>
          <a:solidFill>
            <a:srgbClr val="E1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3999" y="1925999"/>
            <a:ext cx="3023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関連課題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3999" y="2203200"/>
            <a:ext cx="3023999" cy="2106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・窃盗依存（クレプトマニア）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・性依存・性嗜好障害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・共依存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4860000"/>
            <a:ext cx="10404000" cy="43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初期段階の相談から、入所・生活再建・家族支援・司法/債務課題まで、状況に応じてつなげます。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usiness02.jpg"/>
          <p:cNvPicPr>
            <a:picLocks noChangeAspect="1"/>
          </p:cNvPicPr>
          <p:nvPr/>
        </p:nvPicPr>
        <p:blipFill>
          <a:blip r:embed="rId2"/>
          <a:srcRect l="21457" r="21457"/>
          <a:stretch>
            <a:fillRect/>
          </a:stretch>
        </p:blipFill>
        <p:spPr>
          <a:xfrm>
            <a:off x="-1961999" y="0"/>
            <a:ext cx="91440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220000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44000" y="450000"/>
            <a:ext cx="5328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RESIDENTIAL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6000" y="648000"/>
            <a:ext cx="5688000" cy="52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091C32"/>
                </a:solidFill>
                <a:latin typeface="Noto Sans JP"/>
              </a:rPr>
              <a:t>入寮事業と安心できる住環境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2000" y="1260000"/>
            <a:ext cx="5400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3606D"/>
                </a:solidFill>
                <a:latin typeface="Noto Sans JP"/>
              </a:rPr>
              <a:t>依存症治療専用ナイトケアハウス（寮）を運営。集団療法の効果を高める大型寮と、自立準備のための個室寮を用意しています。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98000" y="1925999"/>
            <a:ext cx="1800000" cy="1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3606D"/>
                </a:solidFill>
                <a:latin typeface="Noto Sans JP"/>
              </a:rPr>
              <a:t>大型寮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98000" y="2088000"/>
            <a:ext cx="2052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959E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98000" y="2437200"/>
            <a:ext cx="2124000" cy="23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3606D"/>
                </a:solidFill>
                <a:latin typeface="Noto Sans JP"/>
              </a:rPr>
              <a:t>集団療法の効果を最大化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3999" y="1925999"/>
            <a:ext cx="1800000" cy="1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3606D"/>
                </a:solidFill>
                <a:latin typeface="Noto Sans JP"/>
              </a:rPr>
              <a:t>個室寮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3999" y="2088000"/>
            <a:ext cx="2052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47A5C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3999" y="2437200"/>
            <a:ext cx="2124000" cy="23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3606D"/>
                </a:solidFill>
                <a:latin typeface="Noto Sans JP"/>
              </a:rPr>
              <a:t>自立に向けた練習環境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98000" y="2970000"/>
            <a:ext cx="1800000" cy="1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3606D"/>
                </a:solidFill>
                <a:latin typeface="Noto Sans JP"/>
              </a:rPr>
              <a:t>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8000" y="3131999"/>
            <a:ext cx="2052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1A94A"/>
                </a:solidFill>
                <a:latin typeface="Aptos"/>
              </a:rPr>
              <a:t>176,000円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8000" y="3481200"/>
            <a:ext cx="2124000" cy="23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3606D"/>
                </a:solidFill>
                <a:latin typeface="Noto Sans JP"/>
              </a:rPr>
              <a:t>月額・税込／生活保護の方は相談可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98000" y="4212000"/>
            <a:ext cx="5292000" cy="1206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98000" y="4212000"/>
            <a:ext cx="43200" cy="1206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000" y="4338000"/>
            <a:ext cx="5003999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大切にしていること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0" y="4615200"/>
            <a:ext cx="5003999" cy="720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・安全で安心して暮らせること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・回復初期から中期・後期まで段階に応じて支えること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・日々の生活そのものを回復の土台にすること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相談から支援につながるまで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本人・家族・友人知人・関係機関など、どなたでも相談可能です。秘密は守られます。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20000" y="1800000"/>
            <a:ext cx="468000" cy="468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2000" y="1810800"/>
            <a:ext cx="252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50" b="1">
                <a:solidFill>
                  <a:srgbClr val="091C32"/>
                </a:solidFill>
                <a:latin typeface="Noto Sans JP"/>
              </a:rPr>
              <a:t>問い合わせ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0" y="1810800"/>
            <a:ext cx="6768000" cy="28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53606D"/>
                </a:solidFill>
                <a:latin typeface="Noto Sans JP"/>
              </a:rPr>
              <a:t>電話・Webフォームから相談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2718000"/>
            <a:ext cx="468000" cy="468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2000" y="2728800"/>
            <a:ext cx="252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50" b="1">
                <a:solidFill>
                  <a:srgbClr val="091C32"/>
                </a:solidFill>
                <a:latin typeface="Noto Sans JP"/>
              </a:rPr>
              <a:t>状況整理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0" y="2728800"/>
            <a:ext cx="6768000" cy="28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53606D"/>
                </a:solidFill>
                <a:latin typeface="Noto Sans JP"/>
              </a:rPr>
              <a:t>依存対象、生活、家族、医療・司法課題を確認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0000" y="3636000"/>
            <a:ext cx="468000" cy="468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2000" y="3646799"/>
            <a:ext cx="252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50" b="1">
                <a:solidFill>
                  <a:srgbClr val="091C32"/>
                </a:solidFill>
                <a:latin typeface="Noto Sans JP"/>
              </a:rPr>
              <a:t>見学・面談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0" y="3646799"/>
            <a:ext cx="6768000" cy="28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53606D"/>
                </a:solidFill>
                <a:latin typeface="Noto Sans JP"/>
              </a:rPr>
              <a:t>本人の意向と安全を確認し、支援方針を検討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4553999"/>
            <a:ext cx="468000" cy="468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2000" y="4564799"/>
            <a:ext cx="252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50" b="1">
                <a:solidFill>
                  <a:srgbClr val="091C32"/>
                </a:solidFill>
                <a:latin typeface="Noto Sans JP"/>
              </a:rPr>
              <a:t>利用開始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0" y="4564799"/>
            <a:ext cx="6768000" cy="28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53606D"/>
                </a:solidFill>
                <a:latin typeface="Noto Sans JP"/>
              </a:rPr>
              <a:t>相談・通所・入寮・連携支援へ接続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0000" y="5400000"/>
            <a:ext cx="10008000" cy="558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0000" y="5400000"/>
            <a:ext cx="43200" cy="558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000" y="5526000"/>
            <a:ext cx="972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91C32"/>
                </a:solidFill>
                <a:latin typeface="Noto Sans JP"/>
              </a:rPr>
              <a:t>相談費用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000" y="5803200"/>
            <a:ext cx="9720000" cy="71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初回無料／2回目以降 3,000円（税込）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7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usiness01.jpg"/>
          <p:cNvPicPr>
            <a:picLocks noChangeAspect="1"/>
          </p:cNvPicPr>
          <p:nvPr/>
        </p:nvPicPr>
        <p:blipFill>
          <a:blip r:embed="rId2"/>
          <a:srcRect l="27706" r="27706"/>
          <a:stretch>
            <a:fillRect/>
          </a:stretch>
        </p:blipFill>
        <p:spPr>
          <a:xfrm>
            <a:off x="5608137" y="0"/>
            <a:ext cx="912372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36000" y="0"/>
            <a:ext cx="4068000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連携で回復の可能性を広げる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医療・福祉・行政・司法・地域団体とつながり、本人と家族を孤立させない。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94000" y="1800000"/>
            <a:ext cx="334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000" y="1800000"/>
            <a:ext cx="43200" cy="1170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6000" y="1925999"/>
            <a:ext cx="306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C32"/>
                </a:solidFill>
                <a:latin typeface="Noto Sans JP"/>
              </a:rPr>
              <a:t>医療機関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6000" y="2203200"/>
            <a:ext cx="306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解毒入院、薬物療法、精神科・身体面の治療と連携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2000" y="1800000"/>
            <a:ext cx="334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2000" y="1800000"/>
            <a:ext cx="43200" cy="1170000"/>
          </a:xfrm>
          <a:prstGeom prst="rect">
            <a:avLst/>
          </a:prstGeom>
          <a:solidFill>
            <a:srgbClr val="14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4000" y="1925999"/>
            <a:ext cx="306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C32"/>
                </a:solidFill>
                <a:latin typeface="Noto Sans JP"/>
              </a:rPr>
              <a:t>行政・福祉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4000" y="2203200"/>
            <a:ext cx="306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障害福祉サービス、生活保護、地域生活支援につなぐ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000" y="3294000"/>
            <a:ext cx="334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000" y="3294000"/>
            <a:ext cx="43200" cy="1170000"/>
          </a:xfrm>
          <a:prstGeom prst="rect">
            <a:avLst/>
          </a:prstGeom>
          <a:solidFill>
            <a:srgbClr val="E1A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6000" y="3420000"/>
            <a:ext cx="306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C32"/>
                </a:solidFill>
                <a:latin typeface="Noto Sans JP"/>
              </a:rPr>
              <a:t>司法・専門職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000" y="3697200"/>
            <a:ext cx="306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刑事裁判支援、債務整理支援などを弁護士・司法書士と連携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2000" y="3294000"/>
            <a:ext cx="3348000" cy="1170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02000" y="3294000"/>
            <a:ext cx="43200" cy="1170000"/>
          </a:xfrm>
          <a:prstGeom prst="rect">
            <a:avLst/>
          </a:prstGeom>
          <a:solidFill>
            <a:srgbClr val="20B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4000" y="3420000"/>
            <a:ext cx="306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1C32"/>
                </a:solidFill>
                <a:latin typeface="Noto Sans JP"/>
              </a:rPr>
              <a:t>地域・教育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4000" y="3697200"/>
            <a:ext cx="3060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53606D"/>
                </a:solidFill>
                <a:latin typeface="Noto Sans JP"/>
              </a:rPr>
              <a:t>予防啓発、講演、イベント参加を通じて理解を広げる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A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000" y="360000"/>
            <a:ext cx="5832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959E"/>
                </a:solidFill>
                <a:latin typeface="Aptos"/>
              </a:rPr>
              <a:t>SAGAMIHARA DARC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558000"/>
            <a:ext cx="7488000" cy="55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91C32"/>
                </a:solidFill>
                <a:latin typeface="Noto Sans JP"/>
              </a:rPr>
              <a:t>施設概要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000" y="1123200"/>
            <a:ext cx="7488000" cy="32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3606D"/>
                </a:solidFill>
                <a:latin typeface="Noto Sans JP"/>
              </a:rPr>
              <a:t>相談先として必要な基本情報を1枚に集約。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58000" y="1519200"/>
            <a:ext cx="1800000" cy="216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800000"/>
            <a:ext cx="180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0959E"/>
                </a:solidFill>
                <a:latin typeface="Noto Sans JP"/>
              </a:rPr>
              <a:t>事業者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2000" y="1800000"/>
            <a:ext cx="7380000" cy="21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91C32"/>
                </a:solidFill>
                <a:latin typeface="Noto Sans JP"/>
              </a:rPr>
              <a:t>一般社団法人 相模原ダルク</a:t>
            </a:r>
          </a:p>
        </p:txBody>
      </p:sp>
      <p:sp>
        <p:nvSpPr>
          <p:cNvPr id="9" name="Rectangle 8"/>
          <p:cNvSpPr/>
          <p:nvPr/>
        </p:nvSpPr>
        <p:spPr>
          <a:xfrm>
            <a:off x="720000" y="2080800"/>
            <a:ext cx="9540000" cy="90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2358000"/>
            <a:ext cx="180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0959E"/>
                </a:solidFill>
                <a:latin typeface="Noto Sans JP"/>
              </a:rPr>
              <a:t>代表理事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92000" y="2358000"/>
            <a:ext cx="7380000" cy="21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91C32"/>
                </a:solidFill>
                <a:latin typeface="Noto Sans JP"/>
              </a:rPr>
              <a:t>田中 秀泰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2638800"/>
            <a:ext cx="9540000" cy="90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2916000"/>
            <a:ext cx="180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0959E"/>
                </a:solidFill>
                <a:latin typeface="Noto Sans JP"/>
              </a:rPr>
              <a:t>設立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2000" y="2916000"/>
            <a:ext cx="7380000" cy="21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91C32"/>
                </a:solidFill>
                <a:latin typeface="Noto Sans JP"/>
              </a:rPr>
              <a:t>2014年3月3日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0000" y="3196799"/>
            <a:ext cx="9540000" cy="90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000" y="3474000"/>
            <a:ext cx="180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0959E"/>
                </a:solidFill>
                <a:latin typeface="Noto Sans JP"/>
              </a:rPr>
              <a:t>所在地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2000" y="3474000"/>
            <a:ext cx="7380000" cy="21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91C32"/>
                </a:solidFill>
                <a:latin typeface="Noto Sans JP"/>
              </a:rPr>
              <a:t>〒252-0237 神奈川県相模原市中央区千代田3-3-20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000" y="3754800"/>
            <a:ext cx="9540000" cy="90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000" y="4032000"/>
            <a:ext cx="180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0959E"/>
                </a:solidFill>
                <a:latin typeface="Noto Sans JP"/>
              </a:rPr>
              <a:t>TEL / FAX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92000" y="4032000"/>
            <a:ext cx="7380000" cy="21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91C32"/>
                </a:solidFill>
                <a:latin typeface="Noto Sans JP"/>
              </a:rPr>
              <a:t>TEL 042-707-0391 / FAX 042-707-0392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0000" y="4312800"/>
            <a:ext cx="9540000" cy="90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000" y="4590000"/>
            <a:ext cx="1800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220" b="1">
                <a:solidFill>
                  <a:srgbClr val="00959E"/>
                </a:solidFill>
                <a:latin typeface="Noto Sans JP"/>
              </a:rPr>
              <a:t>営業時間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92000" y="4590000"/>
            <a:ext cx="7380000" cy="216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091C32"/>
                </a:solidFill>
                <a:latin typeface="Noto Sans JP"/>
              </a:rPr>
              <a:t>平日 9:00-17:00／土・祝 9:00-14:00（日曜定休）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0000" y="4870800"/>
            <a:ext cx="9540000" cy="9000"/>
          </a:xfrm>
          <a:prstGeom prst="rect">
            <a:avLst/>
          </a:prstGeom>
          <a:solidFill>
            <a:srgbClr val="CDDB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0000" y="5508000"/>
            <a:ext cx="9540000" cy="251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3606D"/>
                </a:solidFill>
                <a:latin typeface="Noto Sans JP"/>
              </a:rPr>
              <a:t>※ 事前予約によりデイケア横の駐車スペースが利用可能。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ctivity.jpg"/>
          <p:cNvPicPr>
            <a:picLocks noChangeAspect="1"/>
          </p:cNvPicPr>
          <p:nvPr/>
        </p:nvPicPr>
        <p:blipFill>
          <a:blip r:embed="rId2"/>
          <a:srcRect l="20052" r="20052"/>
          <a:stretch>
            <a:fillRect/>
          </a:stretch>
        </p:blipFill>
        <p:spPr>
          <a:xfrm>
            <a:off x="4900038" y="0"/>
            <a:ext cx="913592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732000" y="0"/>
            <a:ext cx="5472000" cy="6858000"/>
          </a:xfrm>
          <a:prstGeom prst="rect">
            <a:avLst/>
          </a:prstGeom>
          <a:solidFill>
            <a:srgbClr val="09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58000" y="720000"/>
            <a:ext cx="1728000" cy="234000"/>
          </a:xfrm>
          <a:prstGeom prst="round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0000" rIns="90000"/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CONTACT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000" y="1152000"/>
            <a:ext cx="5724000" cy="684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FFFFF"/>
                </a:solidFill>
                <a:latin typeface="Noto Sans JP"/>
              </a:rPr>
              <a:t>まず一歩、
ご相談ください。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000" y="2250000"/>
            <a:ext cx="5040000" cy="36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450" b="0">
                <a:solidFill>
                  <a:srgbClr val="E8F1EF"/>
                </a:solidFill>
                <a:latin typeface="Noto Sans JP"/>
              </a:rPr>
              <a:t>同じ悩みを抱える方々から、多数ご相談をいただいています。本人・ご家族・関係者、どなたでもご相談ください。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000" y="3240000"/>
            <a:ext cx="4968000" cy="17280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CD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000" y="3240000"/>
            <a:ext cx="43200" cy="1728000"/>
          </a:xfrm>
          <a:prstGeom prst="rect">
            <a:avLst/>
          </a:prstGeom>
          <a:solidFill>
            <a:srgbClr val="0095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6000" y="3366000"/>
            <a:ext cx="468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91C32"/>
                </a:solidFill>
                <a:latin typeface="Noto Sans JP"/>
              </a:rPr>
              <a:t>お問い合わせ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6000" y="3643200"/>
            <a:ext cx="4680000" cy="1242000"/>
          </a:xfrm>
          <a:prstGeom prst="rect">
            <a:avLst/>
          </a:prstGeom>
          <a:noFill/>
        </p:spPr>
        <p:txBody>
          <a:bodyPr wrap="square" lIns="18000" rIns="18000" tIns="10800" bIns="10800">
            <a:spAutoFit/>
          </a:bodyPr>
          <a:lstStyle/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・TEL：042-707-0391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・Web：https://s-darc.com/contact/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・営業時間：平日 9:00-17:00／土・祝 9:00-14:00</a:t>
            </a:r>
          </a:p>
          <a:p>
            <a:pPr>
              <a:lnSpc>
                <a:spcPct val="113000"/>
              </a:lnSpc>
              <a:spcAft>
                <a:spcPts val="300"/>
              </a:spcAft>
              <a:defRPr sz="1220" b="0">
                <a:solidFill>
                  <a:srgbClr val="53606D"/>
                </a:solidFill>
                <a:latin typeface="Noto Sans JP"/>
              </a:defRPr>
            </a:pPr>
            <a:r>
              <a:rPr>
                <a:latin typeface="Noto Sans JP"/>
              </a:rPr>
              <a:t>・定休日：日曜日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000" y="5652000"/>
            <a:ext cx="4608000" cy="180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0B5B8"/>
                </a:solidFill>
                <a:latin typeface="Aptos"/>
              </a:rPr>
              <a:t>CHANGE YOUR LIFE!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000" y="5886000"/>
            <a:ext cx="5400000" cy="198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FFFFFF"/>
                </a:solidFill>
                <a:latin typeface="Noto Sans JP"/>
              </a:rPr>
              <a:t>変われる。変われた仲間がいる。共に変わろう。共に進もう。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000" y="6498000"/>
            <a:ext cx="216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Noto Sans JP"/>
              </a:rPr>
              <a:t>相模原ダルク｜回復支援施設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0000" y="6498000"/>
            <a:ext cx="540000" cy="12599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53606D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