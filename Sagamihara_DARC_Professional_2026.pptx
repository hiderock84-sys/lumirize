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211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071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120000" y="0"/>
            <a:ext cx="6072120" cy="6858000"/>
          </a:xfrm>
          <a:prstGeom prst="rect">
            <a:avLst/>
          </a:prstGeom>
          <a:solidFill>
            <a:srgbClr val="1083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acility_main.jpg"/>
          <p:cNvPicPr>
            <a:picLocks noChangeAspect="1"/>
          </p:cNvPicPr>
          <p:nvPr/>
        </p:nvPicPr>
        <p:blipFill>
          <a:blip r:embed="rId2"/>
          <a:srcRect l="30822" r="30822"/>
          <a:stretch>
            <a:fillRect/>
          </a:stretch>
        </p:blipFill>
        <p:spPr>
          <a:xfrm>
            <a:off x="3308624" y="0"/>
            <a:ext cx="12858750" cy="6858000"/>
          </a:xfrm>
          <a:prstGeom prst="rect">
            <a:avLst/>
          </a:prstGeom>
        </p:spPr>
      </p:pic>
      <p:sp>
        <p:nvSpPr>
          <p:cNvPr id="5" name="Rectangle 4"/>
          <p:cNvSpPr/>
          <p:nvPr/>
        </p:nvSpPr>
        <p:spPr>
          <a:xfrm>
            <a:off x="7272000" y="0"/>
            <a:ext cx="4932000" cy="6858000"/>
          </a:xfrm>
          <a:prstGeom prst="rect">
            <a:avLst/>
          </a:prstGeom>
          <a:solidFill>
            <a:srgbClr val="071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03.png"/>
          <p:cNvPicPr>
            <a:picLocks noChangeAspect="1"/>
          </p:cNvPicPr>
          <p:nvPr/>
        </p:nvPicPr>
        <p:blipFill>
          <a:blip r:embed="rId3"/>
          <a:stretch>
            <a:fillRect/>
          </a:stretch>
        </p:blipFill>
        <p:spPr>
          <a:xfrm>
            <a:off x="450000" y="324000"/>
            <a:ext cx="239828" cy="223200"/>
          </a:xfrm>
          <a:prstGeom prst="rect">
            <a:avLst/>
          </a:prstGeom>
        </p:spPr>
      </p:pic>
      <p:sp>
        <p:nvSpPr>
          <p:cNvPr id="7" name="Rounded Rectangle 6"/>
          <p:cNvSpPr/>
          <p:nvPr/>
        </p:nvSpPr>
        <p:spPr>
          <a:xfrm>
            <a:off x="7523999" y="259200"/>
            <a:ext cx="3636000" cy="259200"/>
          </a:xfrm>
          <a:prstGeom prst="roundRect">
            <a:avLst/>
          </a:prstGeom>
          <a:solidFill>
            <a:srgbClr val="153A5E"/>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919" b="1">
                <a:solidFill>
                  <a:srgbClr val="FFFFFF"/>
                </a:solidFill>
                <a:latin typeface="Noto Sans JP"/>
              </a:rPr>
              <a:t>2026年4月25日  横浜ひまわり家族会採用</a:t>
            </a:r>
          </a:p>
        </p:txBody>
      </p:sp>
      <p:sp>
        <p:nvSpPr>
          <p:cNvPr id="8" name="TextBox 7"/>
          <p:cNvSpPr txBox="1"/>
          <p:nvPr/>
        </p:nvSpPr>
        <p:spPr>
          <a:xfrm>
            <a:off x="1332000" y="1152000"/>
            <a:ext cx="4500000" cy="360000"/>
          </a:xfrm>
          <a:prstGeom prst="rect">
            <a:avLst/>
          </a:prstGeom>
          <a:noFill/>
        </p:spPr>
        <p:txBody>
          <a:bodyPr wrap="square" lIns="18000" rIns="18000" tIns="7200" bIns="7200">
            <a:noAutofit/>
          </a:bodyPr>
          <a:lstStyle/>
          <a:p>
            <a:pPr algn="l">
              <a:lnSpc>
                <a:spcPct val="108000"/>
              </a:lnSpc>
            </a:pPr>
            <a:r>
              <a:rPr sz="2800" b="1">
                <a:solidFill>
                  <a:srgbClr val="FFFFFF"/>
                </a:solidFill>
                <a:latin typeface="Aptos Display"/>
              </a:rPr>
              <a:t>CHANGE</a:t>
            </a:r>
          </a:p>
        </p:txBody>
      </p:sp>
      <p:sp>
        <p:nvSpPr>
          <p:cNvPr id="9" name="TextBox 8"/>
          <p:cNvSpPr txBox="1"/>
          <p:nvPr/>
        </p:nvSpPr>
        <p:spPr>
          <a:xfrm>
            <a:off x="1332000" y="1548000"/>
            <a:ext cx="4500000" cy="360000"/>
          </a:xfrm>
          <a:prstGeom prst="rect">
            <a:avLst/>
          </a:prstGeom>
          <a:noFill/>
        </p:spPr>
        <p:txBody>
          <a:bodyPr wrap="square" lIns="18000" rIns="18000" tIns="7200" bIns="7200">
            <a:noAutofit/>
          </a:bodyPr>
          <a:lstStyle/>
          <a:p>
            <a:pPr algn="l">
              <a:lnSpc>
                <a:spcPct val="108000"/>
              </a:lnSpc>
            </a:pPr>
            <a:r>
              <a:rPr sz="2800" b="1">
                <a:solidFill>
                  <a:srgbClr val="17BC8B"/>
                </a:solidFill>
                <a:latin typeface="Aptos Display"/>
              </a:rPr>
              <a:t>YOUR LIFE!</a:t>
            </a:r>
          </a:p>
        </p:txBody>
      </p:sp>
      <p:sp>
        <p:nvSpPr>
          <p:cNvPr id="10" name="TextBox 9"/>
          <p:cNvSpPr txBox="1"/>
          <p:nvPr/>
        </p:nvSpPr>
        <p:spPr>
          <a:xfrm>
            <a:off x="5760000" y="1098000"/>
            <a:ext cx="6480000" cy="1080000"/>
          </a:xfrm>
          <a:prstGeom prst="rect">
            <a:avLst/>
          </a:prstGeom>
          <a:noFill/>
        </p:spPr>
        <p:txBody>
          <a:bodyPr wrap="square" lIns="18000" rIns="18000" tIns="7200" bIns="7200">
            <a:noAutofit/>
          </a:bodyPr>
          <a:lstStyle/>
          <a:p>
            <a:pPr algn="l">
              <a:lnSpc>
                <a:spcPct val="108000"/>
              </a:lnSpc>
            </a:pPr>
            <a:r>
              <a:rPr sz="8800" b="1">
                <a:solidFill>
                  <a:srgbClr val="DCF2F0"/>
                </a:solidFill>
                <a:latin typeface="Aptos Display"/>
              </a:rPr>
              <a:t>DARC</a:t>
            </a:r>
          </a:p>
        </p:txBody>
      </p:sp>
      <p:sp>
        <p:nvSpPr>
          <p:cNvPr id="11" name="TextBox 10"/>
          <p:cNvSpPr txBox="1"/>
          <p:nvPr/>
        </p:nvSpPr>
        <p:spPr>
          <a:xfrm>
            <a:off x="1332000" y="2376000"/>
            <a:ext cx="4752000" cy="288000"/>
          </a:xfrm>
          <a:prstGeom prst="rect">
            <a:avLst/>
          </a:prstGeom>
          <a:noFill/>
        </p:spPr>
        <p:txBody>
          <a:bodyPr wrap="square" lIns="18000" rIns="18000" tIns="7200" bIns="7200">
            <a:noAutofit/>
          </a:bodyPr>
          <a:lstStyle/>
          <a:p>
            <a:pPr algn="l">
              <a:lnSpc>
                <a:spcPct val="108000"/>
              </a:lnSpc>
            </a:pPr>
            <a:r>
              <a:rPr sz="1450" b="1">
                <a:solidFill>
                  <a:srgbClr val="FFFFFF"/>
                </a:solidFill>
                <a:latin typeface="Noto Sans JP"/>
              </a:rPr>
              <a:t>依存症からの回復支援施設・施設紹介 2026</a:t>
            </a:r>
          </a:p>
        </p:txBody>
      </p:sp>
      <p:sp>
        <p:nvSpPr>
          <p:cNvPr id="12" name="TextBox 11"/>
          <p:cNvSpPr txBox="1"/>
          <p:nvPr/>
        </p:nvSpPr>
        <p:spPr>
          <a:xfrm>
            <a:off x="1332000" y="2880000"/>
            <a:ext cx="5112000" cy="432000"/>
          </a:xfrm>
          <a:prstGeom prst="rect">
            <a:avLst/>
          </a:prstGeom>
          <a:noFill/>
        </p:spPr>
        <p:txBody>
          <a:bodyPr wrap="square" lIns="18000" rIns="18000" tIns="7200" bIns="7200">
            <a:noAutofit/>
          </a:bodyPr>
          <a:lstStyle/>
          <a:p>
            <a:pPr algn="l">
              <a:lnSpc>
                <a:spcPct val="108000"/>
              </a:lnSpc>
            </a:pPr>
            <a:r>
              <a:rPr sz="1050" b="0">
                <a:solidFill>
                  <a:srgbClr val="D6E5EE"/>
                </a:solidFill>
                <a:latin typeface="Noto Sans JP"/>
              </a:rPr>
              <a:t>変われる。変わった仲間がいる。
安心できる共同の場と誠実な対話を通じて、当事者の生き直す力を呼び起こします。</a:t>
            </a:r>
          </a:p>
        </p:txBody>
      </p:sp>
      <p:sp>
        <p:nvSpPr>
          <p:cNvPr id="13" name="Rounded Rectangle 12"/>
          <p:cNvSpPr/>
          <p:nvPr/>
        </p:nvSpPr>
        <p:spPr>
          <a:xfrm>
            <a:off x="522000" y="5112000"/>
            <a:ext cx="2556000" cy="846000"/>
          </a:xfrm>
          <a:prstGeom prst="roundRect">
            <a:avLst/>
          </a:prstGeom>
          <a:solidFill>
            <a:srgbClr val="122F4B"/>
          </a:solidFill>
          <a:ln w="8890">
            <a:solidFill>
              <a:srgbClr val="2350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22000" y="5112000"/>
            <a:ext cx="2556000" cy="36000"/>
          </a:xfrm>
          <a:prstGeom prst="rect">
            <a:avLst/>
          </a:prstGeom>
          <a:solidFill>
            <a:srgbClr val="2D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999" y="5238000"/>
            <a:ext cx="2304000" cy="125999"/>
          </a:xfrm>
          <a:prstGeom prst="rect">
            <a:avLst/>
          </a:prstGeom>
          <a:noFill/>
        </p:spPr>
        <p:txBody>
          <a:bodyPr wrap="square" lIns="18000" rIns="18000" tIns="7200" bIns="7200">
            <a:noAutofit/>
          </a:bodyPr>
          <a:lstStyle/>
          <a:p>
            <a:pPr algn="l">
              <a:lnSpc>
                <a:spcPct val="108000"/>
              </a:lnSpc>
            </a:pPr>
            <a:r>
              <a:rPr sz="760" b="1">
                <a:solidFill>
                  <a:srgbClr val="B8D2E2"/>
                </a:solidFill>
                <a:latin typeface="Noto Sans JP"/>
              </a:rPr>
              <a:t>回復支援実績</a:t>
            </a:r>
          </a:p>
        </p:txBody>
      </p:sp>
      <p:sp>
        <p:nvSpPr>
          <p:cNvPr id="16" name="TextBox 15"/>
          <p:cNvSpPr txBox="1"/>
          <p:nvPr/>
        </p:nvSpPr>
        <p:spPr>
          <a:xfrm>
            <a:off x="647999" y="5421600"/>
            <a:ext cx="2304000" cy="259200"/>
          </a:xfrm>
          <a:prstGeom prst="rect">
            <a:avLst/>
          </a:prstGeom>
          <a:noFill/>
        </p:spPr>
        <p:txBody>
          <a:bodyPr wrap="square" lIns="18000" rIns="18000" tIns="7200" bIns="7200">
            <a:noAutofit/>
          </a:bodyPr>
          <a:lstStyle/>
          <a:p>
            <a:pPr algn="l">
              <a:lnSpc>
                <a:spcPct val="108000"/>
              </a:lnSpc>
            </a:pPr>
            <a:r>
              <a:rPr sz="1900" b="1">
                <a:solidFill>
                  <a:srgbClr val="FFFFFF"/>
                </a:solidFill>
                <a:latin typeface="Aptos Display"/>
              </a:rPr>
              <a:t>400+</a:t>
            </a:r>
          </a:p>
        </p:txBody>
      </p:sp>
      <p:sp>
        <p:nvSpPr>
          <p:cNvPr id="17" name="TextBox 16"/>
          <p:cNvSpPr txBox="1"/>
          <p:nvPr/>
        </p:nvSpPr>
        <p:spPr>
          <a:xfrm>
            <a:off x="647999" y="5680800"/>
            <a:ext cx="2304000" cy="115200"/>
          </a:xfrm>
          <a:prstGeom prst="rect">
            <a:avLst/>
          </a:prstGeom>
          <a:noFill/>
        </p:spPr>
        <p:txBody>
          <a:bodyPr wrap="square" lIns="18000" rIns="18000" tIns="7200" bIns="7200">
            <a:noAutofit/>
          </a:bodyPr>
          <a:lstStyle/>
          <a:p>
            <a:pPr algn="l">
              <a:lnSpc>
                <a:spcPct val="108000"/>
              </a:lnSpc>
            </a:pPr>
            <a:r>
              <a:rPr sz="680" b="0">
                <a:solidFill>
                  <a:srgbClr val="B8D2E2"/>
                </a:solidFill>
                <a:latin typeface="Noto Sans JP"/>
              </a:rPr>
              <a:t>名以上</a:t>
            </a:r>
          </a:p>
        </p:txBody>
      </p:sp>
      <p:sp>
        <p:nvSpPr>
          <p:cNvPr id="18" name="Rounded Rectangle 17"/>
          <p:cNvSpPr/>
          <p:nvPr/>
        </p:nvSpPr>
        <p:spPr>
          <a:xfrm>
            <a:off x="3311999" y="5112000"/>
            <a:ext cx="2556000" cy="846000"/>
          </a:xfrm>
          <a:prstGeom prst="roundRect">
            <a:avLst/>
          </a:prstGeom>
          <a:solidFill>
            <a:srgbClr val="122F4B"/>
          </a:solidFill>
          <a:ln w="8890">
            <a:solidFill>
              <a:srgbClr val="2350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311999" y="5112000"/>
            <a:ext cx="2556000" cy="36000"/>
          </a:xfrm>
          <a:prstGeom prst="rect">
            <a:avLst/>
          </a:prstGeom>
          <a:solidFill>
            <a:srgbClr val="17BC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37999" y="5238000"/>
            <a:ext cx="2304000" cy="125999"/>
          </a:xfrm>
          <a:prstGeom prst="rect">
            <a:avLst/>
          </a:prstGeom>
          <a:noFill/>
        </p:spPr>
        <p:txBody>
          <a:bodyPr wrap="square" lIns="18000" rIns="18000" tIns="7200" bIns="7200">
            <a:noAutofit/>
          </a:bodyPr>
          <a:lstStyle/>
          <a:p>
            <a:pPr algn="l">
              <a:lnSpc>
                <a:spcPct val="108000"/>
              </a:lnSpc>
            </a:pPr>
            <a:r>
              <a:rPr sz="760" b="1">
                <a:solidFill>
                  <a:srgbClr val="B8D2E2"/>
                </a:solidFill>
                <a:latin typeface="Noto Sans JP"/>
              </a:rPr>
              <a:t>卒業継続率</a:t>
            </a:r>
          </a:p>
        </p:txBody>
      </p:sp>
      <p:sp>
        <p:nvSpPr>
          <p:cNvPr id="21" name="TextBox 20"/>
          <p:cNvSpPr txBox="1"/>
          <p:nvPr/>
        </p:nvSpPr>
        <p:spPr>
          <a:xfrm>
            <a:off x="3437999" y="5421600"/>
            <a:ext cx="2304000" cy="259200"/>
          </a:xfrm>
          <a:prstGeom prst="rect">
            <a:avLst/>
          </a:prstGeom>
          <a:noFill/>
        </p:spPr>
        <p:txBody>
          <a:bodyPr wrap="square" lIns="18000" rIns="18000" tIns="7200" bIns="7200">
            <a:noAutofit/>
          </a:bodyPr>
          <a:lstStyle/>
          <a:p>
            <a:pPr algn="l">
              <a:lnSpc>
                <a:spcPct val="108000"/>
              </a:lnSpc>
            </a:pPr>
            <a:r>
              <a:rPr sz="1900" b="1">
                <a:solidFill>
                  <a:srgbClr val="FFFFFF"/>
                </a:solidFill>
                <a:latin typeface="Aptos Display"/>
              </a:rPr>
              <a:t>90+</a:t>
            </a:r>
          </a:p>
        </p:txBody>
      </p:sp>
      <p:sp>
        <p:nvSpPr>
          <p:cNvPr id="22" name="TextBox 21"/>
          <p:cNvSpPr txBox="1"/>
          <p:nvPr/>
        </p:nvSpPr>
        <p:spPr>
          <a:xfrm>
            <a:off x="3437999" y="5680800"/>
            <a:ext cx="2304000" cy="115200"/>
          </a:xfrm>
          <a:prstGeom prst="rect">
            <a:avLst/>
          </a:prstGeom>
          <a:noFill/>
        </p:spPr>
        <p:txBody>
          <a:bodyPr wrap="square" lIns="18000" rIns="18000" tIns="7200" bIns="7200">
            <a:noAutofit/>
          </a:bodyPr>
          <a:lstStyle/>
          <a:p>
            <a:pPr algn="l">
              <a:lnSpc>
                <a:spcPct val="108000"/>
              </a:lnSpc>
            </a:pPr>
            <a:r>
              <a:rPr sz="680" b="0">
                <a:solidFill>
                  <a:srgbClr val="B8D2E2"/>
                </a:solidFill>
                <a:latin typeface="Noto Sans JP"/>
              </a:rPr>
              <a:t>%以上</a:t>
            </a:r>
          </a:p>
        </p:txBody>
      </p:sp>
      <p:sp>
        <p:nvSpPr>
          <p:cNvPr id="23" name="Rounded Rectangle 22"/>
          <p:cNvSpPr/>
          <p:nvPr/>
        </p:nvSpPr>
        <p:spPr>
          <a:xfrm>
            <a:off x="6102000" y="5112000"/>
            <a:ext cx="2556000" cy="846000"/>
          </a:xfrm>
          <a:prstGeom prst="roundRect">
            <a:avLst/>
          </a:prstGeom>
          <a:solidFill>
            <a:srgbClr val="122F4B"/>
          </a:solidFill>
          <a:ln w="8890">
            <a:solidFill>
              <a:srgbClr val="2350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02000" y="5112000"/>
            <a:ext cx="2556000" cy="36000"/>
          </a:xfrm>
          <a:prstGeom prst="rect">
            <a:avLst/>
          </a:prstGeom>
          <a:solidFill>
            <a:srgbClr val="F5A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28000" y="5238000"/>
            <a:ext cx="2304000" cy="125999"/>
          </a:xfrm>
          <a:prstGeom prst="rect">
            <a:avLst/>
          </a:prstGeom>
          <a:noFill/>
        </p:spPr>
        <p:txBody>
          <a:bodyPr wrap="square" lIns="18000" rIns="18000" tIns="7200" bIns="7200">
            <a:noAutofit/>
          </a:bodyPr>
          <a:lstStyle/>
          <a:p>
            <a:pPr algn="l">
              <a:lnSpc>
                <a:spcPct val="108000"/>
              </a:lnSpc>
            </a:pPr>
            <a:r>
              <a:rPr sz="760" b="1">
                <a:solidFill>
                  <a:srgbClr val="B8D2E2"/>
                </a:solidFill>
                <a:latin typeface="Noto Sans JP"/>
              </a:rPr>
              <a:t>安心の見守り</a:t>
            </a:r>
          </a:p>
        </p:txBody>
      </p:sp>
      <p:sp>
        <p:nvSpPr>
          <p:cNvPr id="26" name="TextBox 25"/>
          <p:cNvSpPr txBox="1"/>
          <p:nvPr/>
        </p:nvSpPr>
        <p:spPr>
          <a:xfrm>
            <a:off x="6228000" y="5421600"/>
            <a:ext cx="2304000" cy="259200"/>
          </a:xfrm>
          <a:prstGeom prst="rect">
            <a:avLst/>
          </a:prstGeom>
          <a:noFill/>
        </p:spPr>
        <p:txBody>
          <a:bodyPr wrap="square" lIns="18000" rIns="18000" tIns="7200" bIns="7200">
            <a:noAutofit/>
          </a:bodyPr>
          <a:lstStyle/>
          <a:p>
            <a:pPr algn="l">
              <a:lnSpc>
                <a:spcPct val="108000"/>
              </a:lnSpc>
            </a:pPr>
            <a:r>
              <a:rPr sz="1900" b="1">
                <a:solidFill>
                  <a:srgbClr val="FFFFFF"/>
                </a:solidFill>
                <a:latin typeface="Aptos Display"/>
              </a:rPr>
              <a:t>24h</a:t>
            </a:r>
          </a:p>
        </p:txBody>
      </p:sp>
      <p:sp>
        <p:nvSpPr>
          <p:cNvPr id="27" name="TextBox 26"/>
          <p:cNvSpPr txBox="1"/>
          <p:nvPr/>
        </p:nvSpPr>
        <p:spPr>
          <a:xfrm>
            <a:off x="6228000" y="5680800"/>
            <a:ext cx="2304000" cy="115200"/>
          </a:xfrm>
          <a:prstGeom prst="rect">
            <a:avLst/>
          </a:prstGeom>
          <a:noFill/>
        </p:spPr>
        <p:txBody>
          <a:bodyPr wrap="square" lIns="18000" rIns="18000" tIns="7200" bIns="7200">
            <a:noAutofit/>
          </a:bodyPr>
          <a:lstStyle/>
          <a:p>
            <a:pPr algn="l">
              <a:lnSpc>
                <a:spcPct val="108000"/>
              </a:lnSpc>
            </a:pPr>
            <a:r>
              <a:rPr sz="680" b="0">
                <a:solidFill>
                  <a:srgbClr val="B8D2E2"/>
                </a:solidFill>
                <a:latin typeface="Noto Sans JP"/>
              </a:rPr>
              <a:t>体制</a:t>
            </a:r>
          </a:p>
        </p:txBody>
      </p:sp>
      <p:sp>
        <p:nvSpPr>
          <p:cNvPr id="28" name="Rounded Rectangle 27"/>
          <p:cNvSpPr/>
          <p:nvPr/>
        </p:nvSpPr>
        <p:spPr>
          <a:xfrm>
            <a:off x="8892000" y="5112000"/>
            <a:ext cx="2556000" cy="846000"/>
          </a:xfrm>
          <a:prstGeom prst="roundRect">
            <a:avLst/>
          </a:prstGeom>
          <a:solidFill>
            <a:srgbClr val="122F4B"/>
          </a:solidFill>
          <a:ln w="8890">
            <a:solidFill>
              <a:srgbClr val="2350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892000" y="5112000"/>
            <a:ext cx="2556000" cy="36000"/>
          </a:xfrm>
          <a:prstGeom prst="rect">
            <a:avLst/>
          </a:prstGeom>
          <a:solidFill>
            <a:srgbClr val="85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18000" y="5238000"/>
            <a:ext cx="2304000" cy="125999"/>
          </a:xfrm>
          <a:prstGeom prst="rect">
            <a:avLst/>
          </a:prstGeom>
          <a:noFill/>
        </p:spPr>
        <p:txBody>
          <a:bodyPr wrap="square" lIns="18000" rIns="18000" tIns="7200" bIns="7200">
            <a:noAutofit/>
          </a:bodyPr>
          <a:lstStyle/>
          <a:p>
            <a:pPr algn="l">
              <a:lnSpc>
                <a:spcPct val="108000"/>
              </a:lnSpc>
            </a:pPr>
            <a:r>
              <a:rPr sz="760" b="1">
                <a:solidFill>
                  <a:srgbClr val="B8D2E2"/>
                </a:solidFill>
                <a:latin typeface="Noto Sans JP"/>
              </a:rPr>
              <a:t>連携ネットワーク</a:t>
            </a:r>
          </a:p>
        </p:txBody>
      </p:sp>
      <p:sp>
        <p:nvSpPr>
          <p:cNvPr id="31" name="TextBox 30"/>
          <p:cNvSpPr txBox="1"/>
          <p:nvPr/>
        </p:nvSpPr>
        <p:spPr>
          <a:xfrm>
            <a:off x="9018000" y="5421600"/>
            <a:ext cx="2304000" cy="259200"/>
          </a:xfrm>
          <a:prstGeom prst="rect">
            <a:avLst/>
          </a:prstGeom>
          <a:noFill/>
        </p:spPr>
        <p:txBody>
          <a:bodyPr wrap="square" lIns="18000" rIns="18000" tIns="7200" bIns="7200">
            <a:noAutofit/>
          </a:bodyPr>
          <a:lstStyle/>
          <a:p>
            <a:pPr algn="l">
              <a:lnSpc>
                <a:spcPct val="108000"/>
              </a:lnSpc>
            </a:pPr>
            <a:r>
              <a:rPr sz="1900" b="1">
                <a:solidFill>
                  <a:srgbClr val="FFFFFF"/>
                </a:solidFill>
                <a:latin typeface="Aptos Display"/>
              </a:rPr>
              <a:t>7</a:t>
            </a:r>
          </a:p>
        </p:txBody>
      </p:sp>
      <p:sp>
        <p:nvSpPr>
          <p:cNvPr id="32" name="TextBox 31"/>
          <p:cNvSpPr txBox="1"/>
          <p:nvPr/>
        </p:nvSpPr>
        <p:spPr>
          <a:xfrm>
            <a:off x="9018000" y="5680800"/>
            <a:ext cx="2304000" cy="115200"/>
          </a:xfrm>
          <a:prstGeom prst="rect">
            <a:avLst/>
          </a:prstGeom>
          <a:noFill/>
        </p:spPr>
        <p:txBody>
          <a:bodyPr wrap="square" lIns="18000" rIns="18000" tIns="7200" bIns="7200">
            <a:noAutofit/>
          </a:bodyPr>
          <a:lstStyle/>
          <a:p>
            <a:pPr algn="l">
              <a:lnSpc>
                <a:spcPct val="108000"/>
              </a:lnSpc>
            </a:pPr>
            <a:r>
              <a:rPr sz="680" b="0">
                <a:solidFill>
                  <a:srgbClr val="B8D2E2"/>
                </a:solidFill>
                <a:latin typeface="Noto Sans JP"/>
              </a:rPr>
              <a:t>拠点</a:t>
            </a:r>
          </a:p>
        </p:txBody>
      </p:sp>
      <p:sp>
        <p:nvSpPr>
          <p:cNvPr id="33" name="TextBox 32"/>
          <p:cNvSpPr txBox="1"/>
          <p:nvPr/>
        </p:nvSpPr>
        <p:spPr>
          <a:xfrm>
            <a:off x="522000" y="6336000"/>
            <a:ext cx="4320000" cy="125999"/>
          </a:xfrm>
          <a:prstGeom prst="rect">
            <a:avLst/>
          </a:prstGeom>
          <a:noFill/>
        </p:spPr>
        <p:txBody>
          <a:bodyPr wrap="square" lIns="18000" rIns="18000" tIns="7200" bIns="7200">
            <a:noAutofit/>
          </a:bodyPr>
          <a:lstStyle/>
          <a:p>
            <a:pPr algn="l">
              <a:lnSpc>
                <a:spcPct val="108000"/>
              </a:lnSpc>
            </a:pPr>
            <a:r>
              <a:rPr sz="680" b="0">
                <a:solidFill>
                  <a:srgbClr val="A2BBCA"/>
                </a:solidFill>
                <a:latin typeface="Noto Sans JP"/>
              </a:rPr>
              <a:t>〒252-0237 神奈川県相模原市中央区千代田3-3-20</a:t>
            </a:r>
          </a:p>
        </p:txBody>
      </p:sp>
      <p:sp>
        <p:nvSpPr>
          <p:cNvPr id="34" name="TextBox 33"/>
          <p:cNvSpPr txBox="1"/>
          <p:nvPr/>
        </p:nvSpPr>
        <p:spPr>
          <a:xfrm>
            <a:off x="10188000" y="6336000"/>
            <a:ext cx="1260000" cy="125999"/>
          </a:xfrm>
          <a:prstGeom prst="rect">
            <a:avLst/>
          </a:prstGeom>
          <a:noFill/>
        </p:spPr>
        <p:txBody>
          <a:bodyPr wrap="square" lIns="18000" rIns="18000" tIns="7200" bIns="7200">
            <a:noAutofit/>
          </a:bodyPr>
          <a:lstStyle/>
          <a:p>
            <a:pPr algn="r">
              <a:lnSpc>
                <a:spcPct val="108000"/>
              </a:lnSpc>
            </a:pPr>
            <a:r>
              <a:rPr sz="680" b="0">
                <a:solidFill>
                  <a:srgbClr val="A2BBCA"/>
                </a:solidFill>
                <a:latin typeface="Noto Sans JP"/>
              </a:rPr>
              <a:t>042-707-0391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119" cy="730799"/>
          </a:xfrm>
          <a:prstGeom prst="rect">
            <a:avLst/>
          </a:prstGeom>
          <a:solidFill>
            <a:srgbClr val="0D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70000" y="162000"/>
            <a:ext cx="259200" cy="259200"/>
          </a:xfrm>
          <a:prstGeom prst="roundRect">
            <a:avLst/>
          </a:prstGeom>
          <a:solidFill>
            <a:srgbClr val="153A5E"/>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1000" b="1">
                <a:solidFill>
                  <a:srgbClr val="FFFFFF"/>
                </a:solidFill>
                <a:latin typeface="Noto Sans JP"/>
              </a:rPr>
              <a:t>▣</a:t>
            </a:r>
          </a:p>
        </p:txBody>
      </p:sp>
      <p:sp>
        <p:nvSpPr>
          <p:cNvPr id="5" name="TextBox 4"/>
          <p:cNvSpPr txBox="1"/>
          <p:nvPr/>
        </p:nvSpPr>
        <p:spPr>
          <a:xfrm>
            <a:off x="619200" y="125999"/>
            <a:ext cx="7380000" cy="223200"/>
          </a:xfrm>
          <a:prstGeom prst="rect">
            <a:avLst/>
          </a:prstGeom>
          <a:noFill/>
        </p:spPr>
        <p:txBody>
          <a:bodyPr wrap="square" lIns="18000" rIns="18000" tIns="7200" bIns="7200">
            <a:noAutofit/>
          </a:bodyPr>
          <a:lstStyle/>
          <a:p>
            <a:pPr algn="l">
              <a:lnSpc>
                <a:spcPct val="108000"/>
              </a:lnSpc>
            </a:pPr>
            <a:r>
              <a:rPr sz="2000" b="1">
                <a:solidFill>
                  <a:srgbClr val="FFFFFF"/>
                </a:solidFill>
                <a:latin typeface="Noto Sans JP"/>
              </a:rPr>
              <a:t>本日のご説明内容｜本日のテーマ</a:t>
            </a:r>
          </a:p>
        </p:txBody>
      </p:sp>
      <p:sp>
        <p:nvSpPr>
          <p:cNvPr id="6" name="TextBox 5"/>
          <p:cNvSpPr txBox="1"/>
          <p:nvPr/>
        </p:nvSpPr>
        <p:spPr>
          <a:xfrm>
            <a:off x="630000" y="396000"/>
            <a:ext cx="7920000" cy="151200"/>
          </a:xfrm>
          <a:prstGeom prst="rect">
            <a:avLst/>
          </a:prstGeom>
          <a:noFill/>
        </p:spPr>
        <p:txBody>
          <a:bodyPr wrap="square" lIns="18000" rIns="18000" tIns="7200" bIns="7200">
            <a:noAutofit/>
          </a:bodyPr>
          <a:lstStyle/>
          <a:p>
            <a:pPr algn="l">
              <a:lnSpc>
                <a:spcPct val="108000"/>
              </a:lnSpc>
            </a:pPr>
            <a:r>
              <a:rPr sz="880" b="0">
                <a:solidFill>
                  <a:srgbClr val="BED3E2"/>
                </a:solidFill>
                <a:latin typeface="Noto Sans JP"/>
              </a:rPr>
              <a:t>依存症からの回復支援体制、5ステージ制プログラム、実績、連携ネットワークについて</a:t>
            </a:r>
          </a:p>
        </p:txBody>
      </p:sp>
      <p:sp>
        <p:nvSpPr>
          <p:cNvPr id="7" name="Rounded Rectangle 6"/>
          <p:cNvSpPr/>
          <p:nvPr/>
        </p:nvSpPr>
        <p:spPr>
          <a:xfrm>
            <a:off x="9504000" y="198000"/>
            <a:ext cx="2124000" cy="208800"/>
          </a:xfrm>
          <a:prstGeom prst="roundRect">
            <a:avLst/>
          </a:prstGeom>
          <a:solidFill>
            <a:srgbClr val="EDF3F8"/>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850" b="1">
                <a:solidFill>
                  <a:srgbClr val="0D223A"/>
                </a:solidFill>
                <a:latin typeface="Noto Sans JP"/>
              </a:rPr>
              <a:t>予定時間：約60分</a:t>
            </a:r>
          </a:p>
        </p:txBody>
      </p:sp>
      <p:sp>
        <p:nvSpPr>
          <p:cNvPr id="8" name="Rounded Rectangle 7"/>
          <p:cNvSpPr/>
          <p:nvPr/>
        </p:nvSpPr>
        <p:spPr>
          <a:xfrm>
            <a:off x="540000" y="1170000"/>
            <a:ext cx="5220000" cy="702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6000" y="1324800"/>
            <a:ext cx="460800" cy="378000"/>
          </a:xfrm>
          <a:prstGeom prst="roundRect">
            <a:avLst/>
          </a:prstGeom>
          <a:solidFill>
            <a:srgbClr val="2D7AFF"/>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1100" b="1">
                <a:solidFill>
                  <a:srgbClr val="FFFFFF"/>
                </a:solidFill>
                <a:latin typeface="Noto Sans JP"/>
              </a:rPr>
              <a:t>01</a:t>
            </a:r>
          </a:p>
        </p:txBody>
      </p:sp>
      <p:sp>
        <p:nvSpPr>
          <p:cNvPr id="10" name="TextBox 9"/>
          <p:cNvSpPr txBox="1"/>
          <p:nvPr/>
        </p:nvSpPr>
        <p:spPr>
          <a:xfrm>
            <a:off x="1242000" y="1306800"/>
            <a:ext cx="4176000" cy="151200"/>
          </a:xfrm>
          <a:prstGeom prst="rect">
            <a:avLst/>
          </a:prstGeom>
          <a:noFill/>
        </p:spPr>
        <p:txBody>
          <a:bodyPr wrap="square" lIns="18000" rIns="18000" tIns="7200" bIns="7200">
            <a:noAutofit/>
          </a:bodyPr>
          <a:lstStyle/>
          <a:p>
            <a:pPr algn="l">
              <a:lnSpc>
                <a:spcPct val="108000"/>
              </a:lnSpc>
            </a:pPr>
            <a:r>
              <a:rPr sz="1160" b="1">
                <a:solidFill>
                  <a:srgbClr val="0D223A"/>
                </a:solidFill>
                <a:latin typeface="Noto Sans JP"/>
              </a:rPr>
              <a:t>日本の依存症情勢（2024-2025）</a:t>
            </a:r>
          </a:p>
        </p:txBody>
      </p:sp>
      <p:sp>
        <p:nvSpPr>
          <p:cNvPr id="11" name="TextBox 10"/>
          <p:cNvSpPr txBox="1"/>
          <p:nvPr/>
        </p:nvSpPr>
        <p:spPr>
          <a:xfrm>
            <a:off x="1242000" y="1512000"/>
            <a:ext cx="4176000" cy="144000"/>
          </a:xfrm>
          <a:prstGeom prst="rect">
            <a:avLst/>
          </a:prstGeom>
          <a:noFill/>
        </p:spPr>
        <p:txBody>
          <a:bodyPr wrap="square" lIns="18000" rIns="18000" tIns="7200" bIns="7200">
            <a:noAutofit/>
          </a:bodyPr>
          <a:lstStyle/>
          <a:p>
            <a:pPr algn="l">
              <a:lnSpc>
                <a:spcPct val="108000"/>
              </a:lnSpc>
            </a:pPr>
            <a:r>
              <a:rPr sz="780" b="0">
                <a:solidFill>
                  <a:srgbClr val="5B6B7C"/>
                </a:solidFill>
                <a:latin typeface="Noto Sans JP"/>
              </a:rPr>
              <a:t>最新の薬物事犯検挙と若年層の依存症傾向分析</a:t>
            </a:r>
          </a:p>
        </p:txBody>
      </p:sp>
      <p:sp>
        <p:nvSpPr>
          <p:cNvPr id="12" name="Rounded Rectangle 11"/>
          <p:cNvSpPr/>
          <p:nvPr/>
        </p:nvSpPr>
        <p:spPr>
          <a:xfrm>
            <a:off x="540000" y="2106000"/>
            <a:ext cx="5220000" cy="702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6000" y="2260800"/>
            <a:ext cx="460800" cy="378000"/>
          </a:xfrm>
          <a:prstGeom prst="roundRect">
            <a:avLst/>
          </a:prstGeom>
          <a:solidFill>
            <a:srgbClr val="17BC8B"/>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1100" b="1">
                <a:solidFill>
                  <a:srgbClr val="FFFFFF"/>
                </a:solidFill>
                <a:latin typeface="Noto Sans JP"/>
              </a:rPr>
              <a:t>02</a:t>
            </a:r>
          </a:p>
        </p:txBody>
      </p:sp>
      <p:sp>
        <p:nvSpPr>
          <p:cNvPr id="14" name="TextBox 13"/>
          <p:cNvSpPr txBox="1"/>
          <p:nvPr/>
        </p:nvSpPr>
        <p:spPr>
          <a:xfrm>
            <a:off x="1242000" y="2242800"/>
            <a:ext cx="4176000" cy="151200"/>
          </a:xfrm>
          <a:prstGeom prst="rect">
            <a:avLst/>
          </a:prstGeom>
          <a:noFill/>
        </p:spPr>
        <p:txBody>
          <a:bodyPr wrap="square" lIns="18000" rIns="18000" tIns="7200" bIns="7200">
            <a:noAutofit/>
          </a:bodyPr>
          <a:lstStyle/>
          <a:p>
            <a:pPr algn="l">
              <a:lnSpc>
                <a:spcPct val="108000"/>
              </a:lnSpc>
            </a:pPr>
            <a:r>
              <a:rPr sz="1160" b="1">
                <a:solidFill>
                  <a:srgbClr val="0D223A"/>
                </a:solidFill>
                <a:latin typeface="Noto Sans JP"/>
              </a:rPr>
              <a:t>予防の3段階と当施設の役割</a:t>
            </a:r>
          </a:p>
        </p:txBody>
      </p:sp>
      <p:sp>
        <p:nvSpPr>
          <p:cNvPr id="15" name="TextBox 14"/>
          <p:cNvSpPr txBox="1"/>
          <p:nvPr/>
        </p:nvSpPr>
        <p:spPr>
          <a:xfrm>
            <a:off x="1242000" y="2448000"/>
            <a:ext cx="4176000" cy="144000"/>
          </a:xfrm>
          <a:prstGeom prst="rect">
            <a:avLst/>
          </a:prstGeom>
          <a:noFill/>
        </p:spPr>
        <p:txBody>
          <a:bodyPr wrap="square" lIns="18000" rIns="18000" tIns="7200" bIns="7200">
            <a:noAutofit/>
          </a:bodyPr>
          <a:lstStyle/>
          <a:p>
            <a:pPr algn="l">
              <a:lnSpc>
                <a:spcPct val="108000"/>
              </a:lnSpc>
            </a:pPr>
            <a:r>
              <a:rPr sz="780" b="0">
                <a:solidFill>
                  <a:srgbClr val="5B6B7C"/>
                </a:solidFill>
                <a:latin typeface="Noto Sans JP"/>
              </a:rPr>
              <a:t>第一次・第二次予防のフレームワークと実践</a:t>
            </a:r>
          </a:p>
        </p:txBody>
      </p:sp>
      <p:sp>
        <p:nvSpPr>
          <p:cNvPr id="16" name="Rounded Rectangle 15"/>
          <p:cNvSpPr/>
          <p:nvPr/>
        </p:nvSpPr>
        <p:spPr>
          <a:xfrm>
            <a:off x="540000" y="3041999"/>
            <a:ext cx="5220000" cy="702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66000" y="3196799"/>
            <a:ext cx="460800" cy="378000"/>
          </a:xfrm>
          <a:prstGeom prst="roundRect">
            <a:avLst/>
          </a:prstGeom>
          <a:solidFill>
            <a:srgbClr val="F5A423"/>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1100" b="1">
                <a:solidFill>
                  <a:srgbClr val="FFFFFF"/>
                </a:solidFill>
                <a:latin typeface="Noto Sans JP"/>
              </a:rPr>
              <a:t>03</a:t>
            </a:r>
          </a:p>
        </p:txBody>
      </p:sp>
      <p:sp>
        <p:nvSpPr>
          <p:cNvPr id="18" name="TextBox 17"/>
          <p:cNvSpPr txBox="1"/>
          <p:nvPr/>
        </p:nvSpPr>
        <p:spPr>
          <a:xfrm>
            <a:off x="1242000" y="3178800"/>
            <a:ext cx="4176000" cy="151200"/>
          </a:xfrm>
          <a:prstGeom prst="rect">
            <a:avLst/>
          </a:prstGeom>
          <a:noFill/>
        </p:spPr>
        <p:txBody>
          <a:bodyPr wrap="square" lIns="18000" rIns="18000" tIns="7200" bIns="7200">
            <a:noAutofit/>
          </a:bodyPr>
          <a:lstStyle/>
          <a:p>
            <a:pPr algn="l">
              <a:lnSpc>
                <a:spcPct val="108000"/>
              </a:lnSpc>
            </a:pPr>
            <a:r>
              <a:rPr sz="1160" b="1">
                <a:solidFill>
                  <a:srgbClr val="0D223A"/>
                </a:solidFill>
                <a:latin typeface="Noto Sans JP"/>
              </a:rPr>
              <a:t>組織概要・理念と実績</a:t>
            </a:r>
          </a:p>
        </p:txBody>
      </p:sp>
      <p:sp>
        <p:nvSpPr>
          <p:cNvPr id="19" name="TextBox 18"/>
          <p:cNvSpPr txBox="1"/>
          <p:nvPr/>
        </p:nvSpPr>
        <p:spPr>
          <a:xfrm>
            <a:off x="1242000" y="3383999"/>
            <a:ext cx="4176000" cy="144000"/>
          </a:xfrm>
          <a:prstGeom prst="rect">
            <a:avLst/>
          </a:prstGeom>
          <a:noFill/>
        </p:spPr>
        <p:txBody>
          <a:bodyPr wrap="square" lIns="18000" rIns="18000" tIns="7200" bIns="7200">
            <a:noAutofit/>
          </a:bodyPr>
          <a:lstStyle/>
          <a:p>
            <a:pPr algn="l">
              <a:lnSpc>
                <a:spcPct val="108000"/>
              </a:lnSpc>
            </a:pPr>
            <a:r>
              <a:rPr sz="780" b="0">
                <a:solidFill>
                  <a:srgbClr val="5B6B7C"/>
                </a:solidFill>
                <a:latin typeface="Noto Sans JP"/>
              </a:rPr>
              <a:t>2014年設立、400名以上の支援実績</a:t>
            </a:r>
          </a:p>
        </p:txBody>
      </p:sp>
      <p:sp>
        <p:nvSpPr>
          <p:cNvPr id="20" name="Rounded Rectangle 19"/>
          <p:cNvSpPr/>
          <p:nvPr/>
        </p:nvSpPr>
        <p:spPr>
          <a:xfrm>
            <a:off x="540000" y="3978000"/>
            <a:ext cx="5220000" cy="702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66000" y="4132800"/>
            <a:ext cx="460800" cy="378000"/>
          </a:xfrm>
          <a:prstGeom prst="roundRect">
            <a:avLst/>
          </a:prstGeom>
          <a:solidFill>
            <a:srgbClr val="EE575B"/>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1100" b="1">
                <a:solidFill>
                  <a:srgbClr val="FFFFFF"/>
                </a:solidFill>
                <a:latin typeface="Noto Sans JP"/>
              </a:rPr>
              <a:t>04</a:t>
            </a:r>
          </a:p>
        </p:txBody>
      </p:sp>
      <p:sp>
        <p:nvSpPr>
          <p:cNvPr id="22" name="TextBox 21"/>
          <p:cNvSpPr txBox="1"/>
          <p:nvPr/>
        </p:nvSpPr>
        <p:spPr>
          <a:xfrm>
            <a:off x="1242000" y="4114800"/>
            <a:ext cx="4176000" cy="151200"/>
          </a:xfrm>
          <a:prstGeom prst="rect">
            <a:avLst/>
          </a:prstGeom>
          <a:noFill/>
        </p:spPr>
        <p:txBody>
          <a:bodyPr wrap="square" lIns="18000" rIns="18000" tIns="7200" bIns="7200">
            <a:noAutofit/>
          </a:bodyPr>
          <a:lstStyle/>
          <a:p>
            <a:pPr algn="l">
              <a:lnSpc>
                <a:spcPct val="108000"/>
              </a:lnSpc>
            </a:pPr>
            <a:r>
              <a:rPr sz="1160" b="1">
                <a:solidFill>
                  <a:srgbClr val="0D223A"/>
                </a:solidFill>
                <a:latin typeface="Noto Sans JP"/>
              </a:rPr>
              <a:t>相模原ダルクの8つの強み</a:t>
            </a:r>
          </a:p>
        </p:txBody>
      </p:sp>
      <p:sp>
        <p:nvSpPr>
          <p:cNvPr id="23" name="TextBox 22"/>
          <p:cNvSpPr txBox="1"/>
          <p:nvPr/>
        </p:nvSpPr>
        <p:spPr>
          <a:xfrm>
            <a:off x="1242000" y="4320000"/>
            <a:ext cx="4176000" cy="144000"/>
          </a:xfrm>
          <a:prstGeom prst="rect">
            <a:avLst/>
          </a:prstGeom>
          <a:noFill/>
        </p:spPr>
        <p:txBody>
          <a:bodyPr wrap="square" lIns="18000" rIns="18000" tIns="7200" bIns="7200">
            <a:noAutofit/>
          </a:bodyPr>
          <a:lstStyle/>
          <a:p>
            <a:pPr algn="l">
              <a:lnSpc>
                <a:spcPct val="108000"/>
              </a:lnSpc>
            </a:pPr>
            <a:r>
              <a:rPr sz="780" b="0">
                <a:solidFill>
                  <a:srgbClr val="5B6B7C"/>
                </a:solidFill>
                <a:latin typeface="Noto Sans JP"/>
              </a:rPr>
              <a:t>回復支援の核心となる8つの競争優位性</a:t>
            </a:r>
          </a:p>
        </p:txBody>
      </p:sp>
      <p:sp>
        <p:nvSpPr>
          <p:cNvPr id="24" name="Rounded Rectangle 23"/>
          <p:cNvSpPr/>
          <p:nvPr/>
        </p:nvSpPr>
        <p:spPr>
          <a:xfrm>
            <a:off x="540000" y="4914000"/>
            <a:ext cx="5220000" cy="702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66000" y="5068800"/>
            <a:ext cx="460800" cy="378000"/>
          </a:xfrm>
          <a:prstGeom prst="roundRect">
            <a:avLst/>
          </a:prstGeom>
          <a:solidFill>
            <a:srgbClr val="8563FF"/>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1100" b="1">
                <a:solidFill>
                  <a:srgbClr val="FFFFFF"/>
                </a:solidFill>
                <a:latin typeface="Noto Sans JP"/>
              </a:rPr>
              <a:t>05</a:t>
            </a:r>
          </a:p>
        </p:txBody>
      </p:sp>
      <p:sp>
        <p:nvSpPr>
          <p:cNvPr id="26" name="TextBox 25"/>
          <p:cNvSpPr txBox="1"/>
          <p:nvPr/>
        </p:nvSpPr>
        <p:spPr>
          <a:xfrm>
            <a:off x="1242000" y="5050800"/>
            <a:ext cx="4176000" cy="151200"/>
          </a:xfrm>
          <a:prstGeom prst="rect">
            <a:avLst/>
          </a:prstGeom>
          <a:noFill/>
        </p:spPr>
        <p:txBody>
          <a:bodyPr wrap="square" lIns="18000" rIns="18000" tIns="7200" bIns="7200">
            <a:noAutofit/>
          </a:bodyPr>
          <a:lstStyle/>
          <a:p>
            <a:pPr algn="l">
              <a:lnSpc>
                <a:spcPct val="108000"/>
              </a:lnSpc>
            </a:pPr>
            <a:r>
              <a:rPr sz="1160" b="1">
                <a:solidFill>
                  <a:srgbClr val="0D223A"/>
                </a:solidFill>
                <a:latin typeface="Noto Sans JP"/>
              </a:rPr>
              <a:t>5ステージ制回復プログラム</a:t>
            </a:r>
          </a:p>
        </p:txBody>
      </p:sp>
      <p:sp>
        <p:nvSpPr>
          <p:cNvPr id="27" name="TextBox 26"/>
          <p:cNvSpPr txBox="1"/>
          <p:nvPr/>
        </p:nvSpPr>
        <p:spPr>
          <a:xfrm>
            <a:off x="1242000" y="5256000"/>
            <a:ext cx="4176000" cy="144000"/>
          </a:xfrm>
          <a:prstGeom prst="rect">
            <a:avLst/>
          </a:prstGeom>
          <a:noFill/>
        </p:spPr>
        <p:txBody>
          <a:bodyPr wrap="square" lIns="18000" rIns="18000" tIns="7200" bIns="7200">
            <a:noAutofit/>
          </a:bodyPr>
          <a:lstStyle/>
          <a:p>
            <a:pPr algn="l">
              <a:lnSpc>
                <a:spcPct val="108000"/>
              </a:lnSpc>
            </a:pPr>
            <a:r>
              <a:rPr sz="780" b="0">
                <a:solidFill>
                  <a:srgbClr val="5B6B7C"/>
                </a:solidFill>
                <a:latin typeface="Noto Sans JP"/>
              </a:rPr>
              <a:t>段階的な目標設定と役割付与による自立支援</a:t>
            </a:r>
          </a:p>
        </p:txBody>
      </p:sp>
      <p:sp>
        <p:nvSpPr>
          <p:cNvPr id="28" name="Rounded Rectangle 27"/>
          <p:cNvSpPr/>
          <p:nvPr/>
        </p:nvSpPr>
        <p:spPr>
          <a:xfrm>
            <a:off x="6228000" y="1170000"/>
            <a:ext cx="5220000" cy="702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354000" y="1324800"/>
            <a:ext cx="460800" cy="378000"/>
          </a:xfrm>
          <a:prstGeom prst="roundRect">
            <a:avLst/>
          </a:prstGeom>
          <a:solidFill>
            <a:srgbClr val="2D7AFF"/>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1100" b="1">
                <a:solidFill>
                  <a:srgbClr val="FFFFFF"/>
                </a:solidFill>
                <a:latin typeface="Noto Sans JP"/>
              </a:rPr>
              <a:t>06</a:t>
            </a:r>
          </a:p>
        </p:txBody>
      </p:sp>
      <p:sp>
        <p:nvSpPr>
          <p:cNvPr id="30" name="TextBox 29"/>
          <p:cNvSpPr txBox="1"/>
          <p:nvPr/>
        </p:nvSpPr>
        <p:spPr>
          <a:xfrm>
            <a:off x="6930000" y="1306800"/>
            <a:ext cx="4176000" cy="151200"/>
          </a:xfrm>
          <a:prstGeom prst="rect">
            <a:avLst/>
          </a:prstGeom>
          <a:noFill/>
        </p:spPr>
        <p:txBody>
          <a:bodyPr wrap="square" lIns="18000" rIns="18000" tIns="7200" bIns="7200">
            <a:noAutofit/>
          </a:bodyPr>
          <a:lstStyle/>
          <a:p>
            <a:pPr algn="l">
              <a:lnSpc>
                <a:spcPct val="108000"/>
              </a:lnSpc>
            </a:pPr>
            <a:r>
              <a:rPr sz="1160" b="1">
                <a:solidFill>
                  <a:srgbClr val="0D223A"/>
                </a:solidFill>
                <a:latin typeface="Noto Sans JP"/>
              </a:rPr>
              <a:t>施設・サービスの全体像</a:t>
            </a:r>
          </a:p>
        </p:txBody>
      </p:sp>
      <p:sp>
        <p:nvSpPr>
          <p:cNvPr id="31" name="TextBox 30"/>
          <p:cNvSpPr txBox="1"/>
          <p:nvPr/>
        </p:nvSpPr>
        <p:spPr>
          <a:xfrm>
            <a:off x="6930000" y="1512000"/>
            <a:ext cx="4176000" cy="144000"/>
          </a:xfrm>
          <a:prstGeom prst="rect">
            <a:avLst/>
          </a:prstGeom>
          <a:noFill/>
        </p:spPr>
        <p:txBody>
          <a:bodyPr wrap="square" lIns="18000" rIns="18000" tIns="7200" bIns="7200">
            <a:noAutofit/>
          </a:bodyPr>
          <a:lstStyle/>
          <a:p>
            <a:pPr algn="l">
              <a:lnSpc>
                <a:spcPct val="108000"/>
              </a:lnSpc>
            </a:pPr>
            <a:r>
              <a:rPr sz="780" b="0">
                <a:solidFill>
                  <a:srgbClr val="5B6B7C"/>
                </a:solidFill>
                <a:latin typeface="Noto Sans JP"/>
              </a:rPr>
              <a:t>5つの拠点と支援機能のネットワーク</a:t>
            </a:r>
          </a:p>
        </p:txBody>
      </p:sp>
      <p:sp>
        <p:nvSpPr>
          <p:cNvPr id="32" name="Rounded Rectangle 31"/>
          <p:cNvSpPr/>
          <p:nvPr/>
        </p:nvSpPr>
        <p:spPr>
          <a:xfrm>
            <a:off x="6228000" y="2106000"/>
            <a:ext cx="5220000" cy="702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354000" y="2260800"/>
            <a:ext cx="460800" cy="378000"/>
          </a:xfrm>
          <a:prstGeom prst="roundRect">
            <a:avLst/>
          </a:prstGeom>
          <a:solidFill>
            <a:srgbClr val="17BC8B"/>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1100" b="1">
                <a:solidFill>
                  <a:srgbClr val="FFFFFF"/>
                </a:solidFill>
                <a:latin typeface="Noto Sans JP"/>
              </a:rPr>
              <a:t>07</a:t>
            </a:r>
          </a:p>
        </p:txBody>
      </p:sp>
      <p:sp>
        <p:nvSpPr>
          <p:cNvPr id="34" name="TextBox 33"/>
          <p:cNvSpPr txBox="1"/>
          <p:nvPr/>
        </p:nvSpPr>
        <p:spPr>
          <a:xfrm>
            <a:off x="6930000" y="2242800"/>
            <a:ext cx="4176000" cy="151200"/>
          </a:xfrm>
          <a:prstGeom prst="rect">
            <a:avLst/>
          </a:prstGeom>
          <a:noFill/>
        </p:spPr>
        <p:txBody>
          <a:bodyPr wrap="square" lIns="18000" rIns="18000" tIns="7200" bIns="7200">
            <a:noAutofit/>
          </a:bodyPr>
          <a:lstStyle/>
          <a:p>
            <a:pPr algn="l">
              <a:lnSpc>
                <a:spcPct val="108000"/>
              </a:lnSpc>
            </a:pPr>
            <a:r>
              <a:rPr sz="1160" b="1">
                <a:solidFill>
                  <a:srgbClr val="0D223A"/>
                </a:solidFill>
                <a:latin typeface="Noto Sans JP"/>
              </a:rPr>
              <a:t>回復プログラム詳細</a:t>
            </a:r>
          </a:p>
        </p:txBody>
      </p:sp>
      <p:sp>
        <p:nvSpPr>
          <p:cNvPr id="35" name="TextBox 34"/>
          <p:cNvSpPr txBox="1"/>
          <p:nvPr/>
        </p:nvSpPr>
        <p:spPr>
          <a:xfrm>
            <a:off x="6930000" y="2448000"/>
            <a:ext cx="4176000" cy="144000"/>
          </a:xfrm>
          <a:prstGeom prst="rect">
            <a:avLst/>
          </a:prstGeom>
          <a:noFill/>
        </p:spPr>
        <p:txBody>
          <a:bodyPr wrap="square" lIns="18000" rIns="18000" tIns="7200" bIns="7200">
            <a:noAutofit/>
          </a:bodyPr>
          <a:lstStyle/>
          <a:p>
            <a:pPr algn="l">
              <a:lnSpc>
                <a:spcPct val="108000"/>
              </a:lnSpc>
            </a:pPr>
            <a:r>
              <a:rPr sz="780" b="0">
                <a:solidFill>
                  <a:srgbClr val="5B6B7C"/>
                </a:solidFill>
                <a:latin typeface="Noto Sans JP"/>
              </a:rPr>
              <a:t>デイ・ナイト・個別の包括的アプローチ</a:t>
            </a:r>
          </a:p>
        </p:txBody>
      </p:sp>
      <p:sp>
        <p:nvSpPr>
          <p:cNvPr id="36" name="Rounded Rectangle 35"/>
          <p:cNvSpPr/>
          <p:nvPr/>
        </p:nvSpPr>
        <p:spPr>
          <a:xfrm>
            <a:off x="6228000" y="3041999"/>
            <a:ext cx="5220000" cy="702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54000" y="3196799"/>
            <a:ext cx="460800" cy="378000"/>
          </a:xfrm>
          <a:prstGeom prst="roundRect">
            <a:avLst/>
          </a:prstGeom>
          <a:solidFill>
            <a:srgbClr val="F5A423"/>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1100" b="1">
                <a:solidFill>
                  <a:srgbClr val="FFFFFF"/>
                </a:solidFill>
                <a:latin typeface="Noto Sans JP"/>
              </a:rPr>
              <a:t>08</a:t>
            </a:r>
          </a:p>
        </p:txBody>
      </p:sp>
      <p:sp>
        <p:nvSpPr>
          <p:cNvPr id="38" name="TextBox 37"/>
          <p:cNvSpPr txBox="1"/>
          <p:nvPr/>
        </p:nvSpPr>
        <p:spPr>
          <a:xfrm>
            <a:off x="6930000" y="3178800"/>
            <a:ext cx="4176000" cy="151200"/>
          </a:xfrm>
          <a:prstGeom prst="rect">
            <a:avLst/>
          </a:prstGeom>
          <a:noFill/>
        </p:spPr>
        <p:txBody>
          <a:bodyPr wrap="square" lIns="18000" rIns="18000" tIns="7200" bIns="7200">
            <a:noAutofit/>
          </a:bodyPr>
          <a:lstStyle/>
          <a:p>
            <a:pPr algn="l">
              <a:lnSpc>
                <a:spcPct val="108000"/>
              </a:lnSpc>
            </a:pPr>
            <a:r>
              <a:rPr sz="1160" b="1">
                <a:solidFill>
                  <a:srgbClr val="0D223A"/>
                </a:solidFill>
                <a:latin typeface="Noto Sans JP"/>
              </a:rPr>
              <a:t>依存症の理解（7つの特徴）</a:t>
            </a:r>
          </a:p>
        </p:txBody>
      </p:sp>
      <p:sp>
        <p:nvSpPr>
          <p:cNvPr id="39" name="TextBox 38"/>
          <p:cNvSpPr txBox="1"/>
          <p:nvPr/>
        </p:nvSpPr>
        <p:spPr>
          <a:xfrm>
            <a:off x="6930000" y="3383999"/>
            <a:ext cx="4176000" cy="144000"/>
          </a:xfrm>
          <a:prstGeom prst="rect">
            <a:avLst/>
          </a:prstGeom>
          <a:noFill/>
        </p:spPr>
        <p:txBody>
          <a:bodyPr wrap="square" lIns="18000" rIns="18000" tIns="7200" bIns="7200">
            <a:noAutofit/>
          </a:bodyPr>
          <a:lstStyle/>
          <a:p>
            <a:pPr algn="l">
              <a:lnSpc>
                <a:spcPct val="108000"/>
              </a:lnSpc>
            </a:pPr>
            <a:r>
              <a:rPr sz="780" b="0">
                <a:solidFill>
                  <a:srgbClr val="5B6B7C"/>
                </a:solidFill>
                <a:latin typeface="Noto Sans JP"/>
              </a:rPr>
              <a:t>科学的理解に基づく回復支援の前提条件</a:t>
            </a:r>
          </a:p>
        </p:txBody>
      </p:sp>
      <p:sp>
        <p:nvSpPr>
          <p:cNvPr id="40" name="Rounded Rectangle 39"/>
          <p:cNvSpPr/>
          <p:nvPr/>
        </p:nvSpPr>
        <p:spPr>
          <a:xfrm>
            <a:off x="6228000" y="3978000"/>
            <a:ext cx="5220000" cy="702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6354000" y="4132800"/>
            <a:ext cx="460800" cy="378000"/>
          </a:xfrm>
          <a:prstGeom prst="roundRect">
            <a:avLst/>
          </a:prstGeom>
          <a:solidFill>
            <a:srgbClr val="EE575B"/>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1100" b="1">
                <a:solidFill>
                  <a:srgbClr val="FFFFFF"/>
                </a:solidFill>
                <a:latin typeface="Noto Sans JP"/>
              </a:rPr>
              <a:t>09</a:t>
            </a:r>
          </a:p>
        </p:txBody>
      </p:sp>
      <p:sp>
        <p:nvSpPr>
          <p:cNvPr id="42" name="TextBox 41"/>
          <p:cNvSpPr txBox="1"/>
          <p:nvPr/>
        </p:nvSpPr>
        <p:spPr>
          <a:xfrm>
            <a:off x="6930000" y="4114800"/>
            <a:ext cx="4176000" cy="151200"/>
          </a:xfrm>
          <a:prstGeom prst="rect">
            <a:avLst/>
          </a:prstGeom>
          <a:noFill/>
        </p:spPr>
        <p:txBody>
          <a:bodyPr wrap="square" lIns="18000" rIns="18000" tIns="7200" bIns="7200">
            <a:noAutofit/>
          </a:bodyPr>
          <a:lstStyle/>
          <a:p>
            <a:pPr algn="l">
              <a:lnSpc>
                <a:spcPct val="108000"/>
              </a:lnSpc>
            </a:pPr>
            <a:r>
              <a:rPr sz="1160" b="1">
                <a:solidFill>
                  <a:srgbClr val="0D223A"/>
                </a:solidFill>
                <a:latin typeface="Noto Sans JP"/>
              </a:rPr>
              <a:t>家族支援・連携ネットワーク</a:t>
            </a:r>
          </a:p>
        </p:txBody>
      </p:sp>
      <p:sp>
        <p:nvSpPr>
          <p:cNvPr id="43" name="TextBox 42"/>
          <p:cNvSpPr txBox="1"/>
          <p:nvPr/>
        </p:nvSpPr>
        <p:spPr>
          <a:xfrm>
            <a:off x="6930000" y="4320000"/>
            <a:ext cx="4176000" cy="144000"/>
          </a:xfrm>
          <a:prstGeom prst="rect">
            <a:avLst/>
          </a:prstGeom>
          <a:noFill/>
        </p:spPr>
        <p:txBody>
          <a:bodyPr wrap="square" lIns="18000" rIns="18000" tIns="7200" bIns="7200">
            <a:noAutofit/>
          </a:bodyPr>
          <a:lstStyle/>
          <a:p>
            <a:pPr algn="l">
              <a:lnSpc>
                <a:spcPct val="108000"/>
              </a:lnSpc>
            </a:pPr>
            <a:r>
              <a:rPr sz="780" b="0">
                <a:solidFill>
                  <a:srgbClr val="5B6B7C"/>
                </a:solidFill>
                <a:latin typeface="Noto Sans JP"/>
              </a:rPr>
              <a:t>CRAFTプログラムと地域連携体制</a:t>
            </a:r>
          </a:p>
        </p:txBody>
      </p:sp>
      <p:sp>
        <p:nvSpPr>
          <p:cNvPr id="44" name="Rounded Rectangle 43"/>
          <p:cNvSpPr/>
          <p:nvPr/>
        </p:nvSpPr>
        <p:spPr>
          <a:xfrm>
            <a:off x="6228000" y="4914000"/>
            <a:ext cx="5220000" cy="702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6354000" y="5068800"/>
            <a:ext cx="460800" cy="378000"/>
          </a:xfrm>
          <a:prstGeom prst="roundRect">
            <a:avLst/>
          </a:prstGeom>
          <a:solidFill>
            <a:srgbClr val="8563FF"/>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1100" b="1">
                <a:solidFill>
                  <a:srgbClr val="FFFFFF"/>
                </a:solidFill>
                <a:latin typeface="Noto Sans JP"/>
              </a:rPr>
              <a:t>10</a:t>
            </a:r>
          </a:p>
        </p:txBody>
      </p:sp>
      <p:sp>
        <p:nvSpPr>
          <p:cNvPr id="46" name="TextBox 45"/>
          <p:cNvSpPr txBox="1"/>
          <p:nvPr/>
        </p:nvSpPr>
        <p:spPr>
          <a:xfrm>
            <a:off x="6930000" y="5050800"/>
            <a:ext cx="4176000" cy="151200"/>
          </a:xfrm>
          <a:prstGeom prst="rect">
            <a:avLst/>
          </a:prstGeom>
          <a:noFill/>
        </p:spPr>
        <p:txBody>
          <a:bodyPr wrap="square" lIns="18000" rIns="18000" tIns="7200" bIns="7200">
            <a:noAutofit/>
          </a:bodyPr>
          <a:lstStyle/>
          <a:p>
            <a:pPr algn="l">
              <a:lnSpc>
                <a:spcPct val="108000"/>
              </a:lnSpc>
            </a:pPr>
            <a:r>
              <a:rPr sz="1160" b="1">
                <a:solidFill>
                  <a:srgbClr val="0D223A"/>
                </a:solidFill>
                <a:latin typeface="Noto Sans JP"/>
              </a:rPr>
              <a:t>お問い合わせ</a:t>
            </a:r>
          </a:p>
        </p:txBody>
      </p:sp>
      <p:sp>
        <p:nvSpPr>
          <p:cNvPr id="47" name="TextBox 46"/>
          <p:cNvSpPr txBox="1"/>
          <p:nvPr/>
        </p:nvSpPr>
        <p:spPr>
          <a:xfrm>
            <a:off x="6930000" y="5256000"/>
            <a:ext cx="4176000" cy="144000"/>
          </a:xfrm>
          <a:prstGeom prst="rect">
            <a:avLst/>
          </a:prstGeom>
          <a:noFill/>
        </p:spPr>
        <p:txBody>
          <a:bodyPr wrap="square" lIns="18000" rIns="18000" tIns="7200" bIns="7200">
            <a:noAutofit/>
          </a:bodyPr>
          <a:lstStyle/>
          <a:p>
            <a:pPr algn="l">
              <a:lnSpc>
                <a:spcPct val="108000"/>
              </a:lnSpc>
            </a:pPr>
            <a:r>
              <a:rPr sz="780" b="0">
                <a:solidFill>
                  <a:srgbClr val="5B6B7C"/>
                </a:solidFill>
                <a:latin typeface="Noto Sans JP"/>
              </a:rPr>
              <a:t>初回相談無料・秘密厳守</a:t>
            </a:r>
          </a:p>
        </p:txBody>
      </p:sp>
      <p:sp>
        <p:nvSpPr>
          <p:cNvPr id="48" name="TextBox 47"/>
          <p:cNvSpPr txBox="1"/>
          <p:nvPr/>
        </p:nvSpPr>
        <p:spPr>
          <a:xfrm>
            <a:off x="270000" y="6588000"/>
            <a:ext cx="5760000" cy="125999"/>
          </a:xfrm>
          <a:prstGeom prst="rect">
            <a:avLst/>
          </a:prstGeom>
          <a:noFill/>
        </p:spPr>
        <p:txBody>
          <a:bodyPr wrap="square" lIns="18000" rIns="18000" tIns="7200" bIns="7200">
            <a:noAutofit/>
          </a:bodyPr>
          <a:lstStyle/>
          <a:p>
            <a:pPr algn="l">
              <a:lnSpc>
                <a:spcPct val="108000"/>
              </a:lnSpc>
            </a:pPr>
            <a:r>
              <a:rPr sz="720" b="0">
                <a:solidFill>
                  <a:srgbClr val="5B6B7C"/>
                </a:solidFill>
                <a:latin typeface="Noto Sans JP"/>
              </a:rPr>
              <a:t>相模原ダルク｜依存症からの回復を全力で支えます</a:t>
            </a:r>
          </a:p>
        </p:txBody>
      </p:sp>
      <p:sp>
        <p:nvSpPr>
          <p:cNvPr id="49" name="TextBox 48"/>
          <p:cNvSpPr txBox="1"/>
          <p:nvPr/>
        </p:nvSpPr>
        <p:spPr>
          <a:xfrm>
            <a:off x="10062000" y="6566399"/>
            <a:ext cx="540000" cy="125999"/>
          </a:xfrm>
          <a:prstGeom prst="rect">
            <a:avLst/>
          </a:prstGeom>
          <a:noFill/>
        </p:spPr>
        <p:txBody>
          <a:bodyPr wrap="square" lIns="18000" rIns="18000" tIns="7200" bIns="7200">
            <a:noAutofit/>
          </a:bodyPr>
          <a:lstStyle/>
          <a:p>
            <a:pPr algn="r">
              <a:lnSpc>
                <a:spcPct val="108000"/>
              </a:lnSpc>
            </a:pPr>
            <a:r>
              <a:rPr sz="780" b="1">
                <a:solidFill>
                  <a:srgbClr val="0D223A"/>
                </a:solidFill>
                <a:latin typeface="Aptos Display"/>
              </a:rPr>
              <a:t>2/18</a:t>
            </a:r>
          </a:p>
        </p:txBody>
      </p:sp>
      <p:sp>
        <p:nvSpPr>
          <p:cNvPr id="50" name="Rounded Rectangle 49"/>
          <p:cNvSpPr/>
          <p:nvPr/>
        </p:nvSpPr>
        <p:spPr>
          <a:xfrm>
            <a:off x="10674000" y="6609600"/>
            <a:ext cx="1080000" cy="28800"/>
          </a:xfrm>
          <a:prstGeom prst="roundRect">
            <a:avLst/>
          </a:prstGeom>
          <a:solidFill>
            <a:srgbClr val="D7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10674000" y="6609600"/>
            <a:ext cx="120000" cy="28800"/>
          </a:xfrm>
          <a:prstGeom prst="roundRect">
            <a:avLst/>
          </a:prstGeom>
          <a:solidFill>
            <a:srgbClr val="16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119" cy="730799"/>
          </a:xfrm>
          <a:prstGeom prst="rect">
            <a:avLst/>
          </a:prstGeom>
          <a:solidFill>
            <a:srgbClr val="0D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70000" y="162000"/>
            <a:ext cx="259200" cy="259200"/>
          </a:xfrm>
          <a:prstGeom prst="roundRect">
            <a:avLst/>
          </a:prstGeom>
          <a:solidFill>
            <a:srgbClr val="153A5E"/>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1000" b="1">
                <a:solidFill>
                  <a:srgbClr val="FFFFFF"/>
                </a:solidFill>
                <a:latin typeface="Noto Sans JP"/>
              </a:rPr>
              <a:t>▤</a:t>
            </a:r>
          </a:p>
        </p:txBody>
      </p:sp>
      <p:sp>
        <p:nvSpPr>
          <p:cNvPr id="5" name="TextBox 4"/>
          <p:cNvSpPr txBox="1"/>
          <p:nvPr/>
        </p:nvSpPr>
        <p:spPr>
          <a:xfrm>
            <a:off x="619200" y="125999"/>
            <a:ext cx="7380000" cy="223200"/>
          </a:xfrm>
          <a:prstGeom prst="rect">
            <a:avLst/>
          </a:prstGeom>
          <a:noFill/>
        </p:spPr>
        <p:txBody>
          <a:bodyPr wrap="square" lIns="18000" rIns="18000" tIns="7200" bIns="7200">
            <a:noAutofit/>
          </a:bodyPr>
          <a:lstStyle/>
          <a:p>
            <a:pPr algn="l">
              <a:lnSpc>
                <a:spcPct val="108000"/>
              </a:lnSpc>
            </a:pPr>
            <a:r>
              <a:rPr sz="2000" b="1">
                <a:solidFill>
                  <a:srgbClr val="FFFFFF"/>
                </a:solidFill>
                <a:latin typeface="Noto Sans JP"/>
              </a:rPr>
              <a:t>日本の依存症情勢 2024-2025最新</a:t>
            </a:r>
          </a:p>
        </p:txBody>
      </p:sp>
      <p:sp>
        <p:nvSpPr>
          <p:cNvPr id="6" name="TextBox 5"/>
          <p:cNvSpPr txBox="1"/>
          <p:nvPr/>
        </p:nvSpPr>
        <p:spPr>
          <a:xfrm>
            <a:off x="630000" y="396000"/>
            <a:ext cx="7920000" cy="151200"/>
          </a:xfrm>
          <a:prstGeom prst="rect">
            <a:avLst/>
          </a:prstGeom>
          <a:noFill/>
        </p:spPr>
        <p:txBody>
          <a:bodyPr wrap="square" lIns="18000" rIns="18000" tIns="7200" bIns="7200">
            <a:noAutofit/>
          </a:bodyPr>
          <a:lstStyle/>
          <a:p>
            <a:pPr algn="l">
              <a:lnSpc>
                <a:spcPct val="108000"/>
              </a:lnSpc>
            </a:pPr>
            <a:r>
              <a:rPr sz="880" b="0">
                <a:solidFill>
                  <a:srgbClr val="BED3E2"/>
                </a:solidFill>
                <a:latin typeface="Noto Sans JP"/>
              </a:rPr>
              <a:t>薬物・アルコール・ギャンブル依存が複合化するなか、早期相談と地域支援が重要に</a:t>
            </a:r>
          </a:p>
        </p:txBody>
      </p:sp>
      <p:sp>
        <p:nvSpPr>
          <p:cNvPr id="7" name="Rounded Rectangle 6"/>
          <p:cNvSpPr/>
          <p:nvPr/>
        </p:nvSpPr>
        <p:spPr>
          <a:xfrm>
            <a:off x="9504000" y="198000"/>
            <a:ext cx="2124000" cy="208800"/>
          </a:xfrm>
          <a:prstGeom prst="roundRect">
            <a:avLst/>
          </a:prstGeom>
          <a:solidFill>
            <a:srgbClr val="EDF3F8"/>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850" b="1">
                <a:solidFill>
                  <a:srgbClr val="0D223A"/>
                </a:solidFill>
                <a:latin typeface="Noto Sans JP"/>
              </a:rPr>
              <a:t>2024-2025</a:t>
            </a:r>
          </a:p>
        </p:txBody>
      </p:sp>
      <p:sp>
        <p:nvSpPr>
          <p:cNvPr id="8" name="Rounded Rectangle 7"/>
          <p:cNvSpPr/>
          <p:nvPr/>
        </p:nvSpPr>
        <p:spPr>
          <a:xfrm>
            <a:off x="450000" y="1098000"/>
            <a:ext cx="5184000" cy="1512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0000" y="1098000"/>
            <a:ext cx="28800" cy="1512000"/>
          </a:xfrm>
          <a:prstGeom prst="rect">
            <a:avLst/>
          </a:prstGeom>
          <a:solidFill>
            <a:srgbClr val="2D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00" y="1198800"/>
            <a:ext cx="4932000" cy="162000"/>
          </a:xfrm>
          <a:prstGeom prst="rect">
            <a:avLst/>
          </a:prstGeom>
          <a:noFill/>
        </p:spPr>
        <p:txBody>
          <a:bodyPr wrap="square" lIns="18000" rIns="18000" tIns="7200" bIns="7200">
            <a:noAutofit/>
          </a:bodyPr>
          <a:lstStyle/>
          <a:p>
            <a:pPr algn="l">
              <a:lnSpc>
                <a:spcPct val="108000"/>
              </a:lnSpc>
            </a:pPr>
            <a:r>
              <a:rPr sz="1250" b="1">
                <a:solidFill>
                  <a:srgbClr val="0D223A"/>
                </a:solidFill>
                <a:latin typeface="Noto Sans JP"/>
              </a:rPr>
              <a:t>2024年 薬物事犯 検挙人員</a:t>
            </a:r>
          </a:p>
        </p:txBody>
      </p:sp>
      <p:sp>
        <p:nvSpPr>
          <p:cNvPr id="11" name="TextBox 10"/>
          <p:cNvSpPr txBox="1"/>
          <p:nvPr/>
        </p:nvSpPr>
        <p:spPr>
          <a:xfrm>
            <a:off x="756000" y="1519200"/>
            <a:ext cx="2520000" cy="396000"/>
          </a:xfrm>
          <a:prstGeom prst="rect">
            <a:avLst/>
          </a:prstGeom>
          <a:noFill/>
        </p:spPr>
        <p:txBody>
          <a:bodyPr wrap="square" lIns="18000" rIns="18000" tIns="7200" bIns="7200">
            <a:noAutofit/>
          </a:bodyPr>
          <a:lstStyle/>
          <a:p>
            <a:pPr algn="l">
              <a:lnSpc>
                <a:spcPct val="108000"/>
              </a:lnSpc>
            </a:pPr>
            <a:r>
              <a:rPr sz="3300" b="1">
                <a:solidFill>
                  <a:srgbClr val="0D223A"/>
                </a:solidFill>
                <a:latin typeface="Aptos Display"/>
              </a:rPr>
              <a:t>13,462</a:t>
            </a:r>
          </a:p>
        </p:txBody>
      </p:sp>
      <p:sp>
        <p:nvSpPr>
          <p:cNvPr id="12" name="TextBox 11"/>
          <p:cNvSpPr txBox="1"/>
          <p:nvPr/>
        </p:nvSpPr>
        <p:spPr>
          <a:xfrm>
            <a:off x="3420000" y="1494000"/>
            <a:ext cx="1620000" cy="162000"/>
          </a:xfrm>
          <a:prstGeom prst="rect">
            <a:avLst/>
          </a:prstGeom>
          <a:noFill/>
        </p:spPr>
        <p:txBody>
          <a:bodyPr wrap="square" lIns="18000" rIns="18000" tIns="7200" bIns="7200">
            <a:noAutofit/>
          </a:bodyPr>
          <a:lstStyle/>
          <a:p>
            <a:pPr algn="l">
              <a:lnSpc>
                <a:spcPct val="108000"/>
              </a:lnSpc>
            </a:pPr>
            <a:r>
              <a:rPr sz="850" b="1">
                <a:solidFill>
                  <a:srgbClr val="17BC8B"/>
                </a:solidFill>
                <a:latin typeface="Noto Sans JP"/>
              </a:rPr>
              <a:t>前年比 +13,462人</a:t>
            </a:r>
          </a:p>
        </p:txBody>
      </p:sp>
      <p:sp>
        <p:nvSpPr>
          <p:cNvPr id="13" name="TextBox 12"/>
          <p:cNvSpPr txBox="1"/>
          <p:nvPr/>
        </p:nvSpPr>
        <p:spPr>
          <a:xfrm>
            <a:off x="756000" y="2070000"/>
            <a:ext cx="3888000" cy="151200"/>
          </a:xfrm>
          <a:prstGeom prst="rect">
            <a:avLst/>
          </a:prstGeom>
          <a:noFill/>
        </p:spPr>
        <p:txBody>
          <a:bodyPr wrap="square" lIns="18000" rIns="18000" tIns="7200" bIns="7200">
            <a:noAutofit/>
          </a:bodyPr>
          <a:lstStyle/>
          <a:p>
            <a:pPr algn="l">
              <a:lnSpc>
                <a:spcPct val="108000"/>
              </a:lnSpc>
            </a:pPr>
            <a:r>
              <a:rPr sz="1000" b="1">
                <a:solidFill>
                  <a:srgbClr val="5B6B7C"/>
                </a:solidFill>
                <a:latin typeface="Noto Sans JP"/>
              </a:rPr>
              <a:t>覚醒剤 45.5%　　大麻 45.1%</a:t>
            </a:r>
          </a:p>
        </p:txBody>
      </p:sp>
      <p:sp>
        <p:nvSpPr>
          <p:cNvPr id="14" name="Rounded Rectangle 13"/>
          <p:cNvSpPr/>
          <p:nvPr/>
        </p:nvSpPr>
        <p:spPr>
          <a:xfrm>
            <a:off x="450000" y="2880000"/>
            <a:ext cx="5184000" cy="2664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0000" y="2880000"/>
            <a:ext cx="28800" cy="2664000"/>
          </a:xfrm>
          <a:prstGeom prst="rect">
            <a:avLst/>
          </a:prstGeom>
          <a:solidFill>
            <a:srgbClr val="0D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6000" y="2980800"/>
            <a:ext cx="4932000" cy="162000"/>
          </a:xfrm>
          <a:prstGeom prst="rect">
            <a:avLst/>
          </a:prstGeom>
          <a:noFill/>
        </p:spPr>
        <p:txBody>
          <a:bodyPr wrap="square" lIns="18000" rIns="18000" tIns="7200" bIns="7200">
            <a:noAutofit/>
          </a:bodyPr>
          <a:lstStyle/>
          <a:p>
            <a:pPr algn="l">
              <a:lnSpc>
                <a:spcPct val="108000"/>
              </a:lnSpc>
            </a:pPr>
            <a:r>
              <a:rPr sz="1250" b="1">
                <a:solidFill>
                  <a:srgbClr val="0D223A"/>
                </a:solidFill>
                <a:latin typeface="Noto Sans JP"/>
              </a:rPr>
              <a:t>薬物事犯の内訳</a:t>
            </a:r>
          </a:p>
        </p:txBody>
      </p:sp>
      <p:pic>
        <p:nvPicPr>
          <p:cNvPr id="17" name="Picture 16" descr="donut.png"/>
          <p:cNvPicPr>
            <a:picLocks noChangeAspect="1"/>
          </p:cNvPicPr>
          <p:nvPr/>
        </p:nvPicPr>
        <p:blipFill>
          <a:blip r:embed="rId2"/>
          <a:stretch>
            <a:fillRect/>
          </a:stretch>
        </p:blipFill>
        <p:spPr>
          <a:xfrm>
            <a:off x="1872000" y="3240000"/>
            <a:ext cx="1764000" cy="1764000"/>
          </a:xfrm>
          <a:prstGeom prst="rect">
            <a:avLst/>
          </a:prstGeom>
        </p:spPr>
      </p:pic>
      <p:sp>
        <p:nvSpPr>
          <p:cNvPr id="18" name="Rounded Rectangle 17"/>
          <p:cNvSpPr/>
          <p:nvPr/>
        </p:nvSpPr>
        <p:spPr>
          <a:xfrm>
            <a:off x="756000" y="4752000"/>
            <a:ext cx="251999" cy="251999"/>
          </a:xfrm>
          <a:prstGeom prst="roundRect">
            <a:avLst/>
          </a:prstGeom>
          <a:solidFill>
            <a:srgbClr val="EE575B"/>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950" b="1">
                <a:solidFill>
                  <a:srgbClr val="FFFFFF"/>
                </a:solidFill>
                <a:latin typeface="Noto Sans JP"/>
              </a:rPr>
              <a:t/>
            </a:r>
          </a:p>
        </p:txBody>
      </p:sp>
      <p:sp>
        <p:nvSpPr>
          <p:cNvPr id="19" name="TextBox 18"/>
          <p:cNvSpPr txBox="1"/>
          <p:nvPr/>
        </p:nvSpPr>
        <p:spPr>
          <a:xfrm>
            <a:off x="1098000" y="4759200"/>
            <a:ext cx="1980000" cy="129600"/>
          </a:xfrm>
          <a:prstGeom prst="rect">
            <a:avLst/>
          </a:prstGeom>
          <a:noFill/>
        </p:spPr>
        <p:txBody>
          <a:bodyPr wrap="square" lIns="18000" rIns="18000" tIns="7200" bIns="7200">
            <a:noAutofit/>
          </a:bodyPr>
          <a:lstStyle/>
          <a:p>
            <a:pPr algn="l">
              <a:lnSpc>
                <a:spcPct val="108000"/>
              </a:lnSpc>
            </a:pPr>
            <a:r>
              <a:rPr sz="980" b="1">
                <a:solidFill>
                  <a:srgbClr val="0D223A"/>
                </a:solidFill>
                <a:latin typeface="Noto Sans JP"/>
              </a:rPr>
              <a:t>覚醒剤</a:t>
            </a:r>
          </a:p>
        </p:txBody>
      </p:sp>
      <p:sp>
        <p:nvSpPr>
          <p:cNvPr id="20" name="TextBox 19"/>
          <p:cNvSpPr txBox="1"/>
          <p:nvPr/>
        </p:nvSpPr>
        <p:spPr>
          <a:xfrm>
            <a:off x="1098000" y="4921200"/>
            <a:ext cx="2088000" cy="151200"/>
          </a:xfrm>
          <a:prstGeom prst="rect">
            <a:avLst/>
          </a:prstGeom>
          <a:noFill/>
        </p:spPr>
        <p:txBody>
          <a:bodyPr wrap="square" lIns="18000" rIns="18000" tIns="7200" bIns="7200">
            <a:noAutofit/>
          </a:bodyPr>
          <a:lstStyle/>
          <a:p>
            <a:pPr algn="l">
              <a:lnSpc>
                <a:spcPct val="108000"/>
              </a:lnSpc>
            </a:pPr>
            <a:r>
              <a:rPr sz="770" b="0">
                <a:solidFill>
                  <a:srgbClr val="5B6B7C"/>
                </a:solidFill>
                <a:latin typeface="Noto Sans JP"/>
              </a:rPr>
              <a:t>45.5%</a:t>
            </a:r>
          </a:p>
        </p:txBody>
      </p:sp>
      <p:sp>
        <p:nvSpPr>
          <p:cNvPr id="21" name="Rounded Rectangle 20"/>
          <p:cNvSpPr/>
          <p:nvPr/>
        </p:nvSpPr>
        <p:spPr>
          <a:xfrm>
            <a:off x="2520000" y="4752000"/>
            <a:ext cx="251999" cy="251999"/>
          </a:xfrm>
          <a:prstGeom prst="roundRect">
            <a:avLst/>
          </a:prstGeom>
          <a:solidFill>
            <a:srgbClr val="2D7AFF"/>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950" b="1">
                <a:solidFill>
                  <a:srgbClr val="FFFFFF"/>
                </a:solidFill>
                <a:latin typeface="Noto Sans JP"/>
              </a:rPr>
              <a:t/>
            </a:r>
          </a:p>
        </p:txBody>
      </p:sp>
      <p:sp>
        <p:nvSpPr>
          <p:cNvPr id="22" name="TextBox 21"/>
          <p:cNvSpPr txBox="1"/>
          <p:nvPr/>
        </p:nvSpPr>
        <p:spPr>
          <a:xfrm>
            <a:off x="2862000" y="4759200"/>
            <a:ext cx="1980000" cy="129600"/>
          </a:xfrm>
          <a:prstGeom prst="rect">
            <a:avLst/>
          </a:prstGeom>
          <a:noFill/>
        </p:spPr>
        <p:txBody>
          <a:bodyPr wrap="square" lIns="18000" rIns="18000" tIns="7200" bIns="7200">
            <a:noAutofit/>
          </a:bodyPr>
          <a:lstStyle/>
          <a:p>
            <a:pPr algn="l">
              <a:lnSpc>
                <a:spcPct val="108000"/>
              </a:lnSpc>
            </a:pPr>
            <a:r>
              <a:rPr sz="980" b="1">
                <a:solidFill>
                  <a:srgbClr val="0D223A"/>
                </a:solidFill>
                <a:latin typeface="Noto Sans JP"/>
              </a:rPr>
              <a:t>大麻</a:t>
            </a:r>
          </a:p>
        </p:txBody>
      </p:sp>
      <p:sp>
        <p:nvSpPr>
          <p:cNvPr id="23" name="TextBox 22"/>
          <p:cNvSpPr txBox="1"/>
          <p:nvPr/>
        </p:nvSpPr>
        <p:spPr>
          <a:xfrm>
            <a:off x="2862000" y="4921200"/>
            <a:ext cx="2088000" cy="151200"/>
          </a:xfrm>
          <a:prstGeom prst="rect">
            <a:avLst/>
          </a:prstGeom>
          <a:noFill/>
        </p:spPr>
        <p:txBody>
          <a:bodyPr wrap="square" lIns="18000" rIns="18000" tIns="7200" bIns="7200">
            <a:noAutofit/>
          </a:bodyPr>
          <a:lstStyle/>
          <a:p>
            <a:pPr algn="l">
              <a:lnSpc>
                <a:spcPct val="108000"/>
              </a:lnSpc>
            </a:pPr>
            <a:r>
              <a:rPr sz="770" b="0">
                <a:solidFill>
                  <a:srgbClr val="5B6B7C"/>
                </a:solidFill>
                <a:latin typeface="Noto Sans JP"/>
              </a:rPr>
              <a:t>45.1%</a:t>
            </a:r>
          </a:p>
        </p:txBody>
      </p:sp>
      <p:sp>
        <p:nvSpPr>
          <p:cNvPr id="24" name="Rounded Rectangle 23"/>
          <p:cNvSpPr/>
          <p:nvPr/>
        </p:nvSpPr>
        <p:spPr>
          <a:xfrm>
            <a:off x="4031999" y="4752000"/>
            <a:ext cx="251999" cy="251999"/>
          </a:xfrm>
          <a:prstGeom prst="roundRect">
            <a:avLst/>
          </a:prstGeom>
          <a:solidFill>
            <a:srgbClr val="17BC8B"/>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950" b="1">
                <a:solidFill>
                  <a:srgbClr val="FFFFFF"/>
                </a:solidFill>
                <a:latin typeface="Noto Sans JP"/>
              </a:rPr>
              <a:t/>
            </a:r>
          </a:p>
        </p:txBody>
      </p:sp>
      <p:sp>
        <p:nvSpPr>
          <p:cNvPr id="25" name="TextBox 24"/>
          <p:cNvSpPr txBox="1"/>
          <p:nvPr/>
        </p:nvSpPr>
        <p:spPr>
          <a:xfrm>
            <a:off x="4373999" y="4759200"/>
            <a:ext cx="1980000" cy="129600"/>
          </a:xfrm>
          <a:prstGeom prst="rect">
            <a:avLst/>
          </a:prstGeom>
          <a:noFill/>
        </p:spPr>
        <p:txBody>
          <a:bodyPr wrap="square" lIns="18000" rIns="18000" tIns="7200" bIns="7200">
            <a:noAutofit/>
          </a:bodyPr>
          <a:lstStyle/>
          <a:p>
            <a:pPr algn="l">
              <a:lnSpc>
                <a:spcPct val="108000"/>
              </a:lnSpc>
            </a:pPr>
            <a:r>
              <a:rPr sz="980" b="1">
                <a:solidFill>
                  <a:srgbClr val="0D223A"/>
                </a:solidFill>
                <a:latin typeface="Noto Sans JP"/>
              </a:rPr>
              <a:t>その他</a:t>
            </a:r>
          </a:p>
        </p:txBody>
      </p:sp>
      <p:sp>
        <p:nvSpPr>
          <p:cNvPr id="26" name="TextBox 25"/>
          <p:cNvSpPr txBox="1"/>
          <p:nvPr/>
        </p:nvSpPr>
        <p:spPr>
          <a:xfrm>
            <a:off x="4373999" y="4921200"/>
            <a:ext cx="2088000" cy="151200"/>
          </a:xfrm>
          <a:prstGeom prst="rect">
            <a:avLst/>
          </a:prstGeom>
          <a:noFill/>
        </p:spPr>
        <p:txBody>
          <a:bodyPr wrap="square" lIns="18000" rIns="18000" tIns="7200" bIns="7200">
            <a:noAutofit/>
          </a:bodyPr>
          <a:lstStyle/>
          <a:p>
            <a:pPr algn="l">
              <a:lnSpc>
                <a:spcPct val="108000"/>
              </a:lnSpc>
            </a:pPr>
            <a:r>
              <a:rPr sz="770" b="0">
                <a:solidFill>
                  <a:srgbClr val="5B6B7C"/>
                </a:solidFill>
                <a:latin typeface="Noto Sans JP"/>
              </a:rPr>
              <a:t>9.4%</a:t>
            </a:r>
          </a:p>
        </p:txBody>
      </p:sp>
      <p:sp>
        <p:nvSpPr>
          <p:cNvPr id="27" name="Rounded Rectangle 26"/>
          <p:cNvSpPr/>
          <p:nvPr/>
        </p:nvSpPr>
        <p:spPr>
          <a:xfrm>
            <a:off x="6120000" y="1098000"/>
            <a:ext cx="5364000" cy="2664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20000" y="1098000"/>
            <a:ext cx="28800" cy="2664000"/>
          </a:xfrm>
          <a:prstGeom prst="rect">
            <a:avLst/>
          </a:prstGeom>
          <a:solidFill>
            <a:srgbClr val="0D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46000" y="1198800"/>
            <a:ext cx="5112000" cy="162000"/>
          </a:xfrm>
          <a:prstGeom prst="rect">
            <a:avLst/>
          </a:prstGeom>
          <a:noFill/>
        </p:spPr>
        <p:txBody>
          <a:bodyPr wrap="square" lIns="18000" rIns="18000" tIns="7200" bIns="7200">
            <a:noAutofit/>
          </a:bodyPr>
          <a:lstStyle/>
          <a:p>
            <a:pPr algn="l">
              <a:lnSpc>
                <a:spcPct val="108000"/>
              </a:lnSpc>
            </a:pPr>
            <a:r>
              <a:rPr sz="1250" b="1">
                <a:solidFill>
                  <a:srgbClr val="0D223A"/>
                </a:solidFill>
                <a:latin typeface="Noto Sans JP"/>
              </a:rPr>
              <a:t>注目トピック（2024-25）</a:t>
            </a:r>
          </a:p>
        </p:txBody>
      </p:sp>
      <p:sp>
        <p:nvSpPr>
          <p:cNvPr id="30" name="Rounded Rectangle 29"/>
          <p:cNvSpPr/>
          <p:nvPr/>
        </p:nvSpPr>
        <p:spPr>
          <a:xfrm>
            <a:off x="6408000" y="1800000"/>
            <a:ext cx="1332000" cy="1296000"/>
          </a:xfrm>
          <a:prstGeom prst="roundRect">
            <a:avLst/>
          </a:prstGeom>
          <a:solidFill>
            <a:srgbClr val="F9FC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930000" y="1998000"/>
            <a:ext cx="288000" cy="288000"/>
          </a:xfrm>
          <a:prstGeom prst="roundRect">
            <a:avLst/>
          </a:prstGeom>
          <a:solidFill>
            <a:srgbClr val="16B0CD"/>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950" b="1">
                <a:solidFill>
                  <a:srgbClr val="FFFFFF"/>
                </a:solidFill>
                <a:latin typeface="Noto Sans JP"/>
              </a:rPr>
              <a:t/>
            </a:r>
          </a:p>
        </p:txBody>
      </p:sp>
      <p:sp>
        <p:nvSpPr>
          <p:cNvPr id="32" name="TextBox 31"/>
          <p:cNvSpPr txBox="1"/>
          <p:nvPr/>
        </p:nvSpPr>
        <p:spPr>
          <a:xfrm>
            <a:off x="6534000" y="2394000"/>
            <a:ext cx="1080000" cy="180000"/>
          </a:xfrm>
          <a:prstGeom prst="rect">
            <a:avLst/>
          </a:prstGeom>
          <a:noFill/>
        </p:spPr>
        <p:txBody>
          <a:bodyPr wrap="square" lIns="18000" rIns="18000" tIns="7200" bIns="7200">
            <a:noAutofit/>
          </a:bodyPr>
          <a:lstStyle/>
          <a:p>
            <a:pPr algn="ctr">
              <a:lnSpc>
                <a:spcPct val="108000"/>
              </a:lnSpc>
            </a:pPr>
            <a:r>
              <a:rPr sz="930" b="1">
                <a:solidFill>
                  <a:srgbClr val="0D223A"/>
                </a:solidFill>
                <a:latin typeface="Noto Sans JP"/>
              </a:rPr>
              <a:t>大麻類似法改正</a:t>
            </a:r>
          </a:p>
        </p:txBody>
      </p:sp>
      <p:sp>
        <p:nvSpPr>
          <p:cNvPr id="33" name="TextBox 32"/>
          <p:cNvSpPr txBox="1"/>
          <p:nvPr/>
        </p:nvSpPr>
        <p:spPr>
          <a:xfrm>
            <a:off x="6534000" y="2646000"/>
            <a:ext cx="1080000" cy="162000"/>
          </a:xfrm>
          <a:prstGeom prst="rect">
            <a:avLst/>
          </a:prstGeom>
          <a:noFill/>
        </p:spPr>
        <p:txBody>
          <a:bodyPr wrap="square" lIns="18000" rIns="18000" tIns="7200" bIns="7200">
            <a:noAutofit/>
          </a:bodyPr>
          <a:lstStyle/>
          <a:p>
            <a:pPr algn="ctr">
              <a:lnSpc>
                <a:spcPct val="108000"/>
              </a:lnSpc>
            </a:pPr>
            <a:r>
              <a:rPr sz="750" b="0">
                <a:solidFill>
                  <a:srgbClr val="5B6B7C"/>
                </a:solidFill>
                <a:latin typeface="Noto Sans JP"/>
              </a:rPr>
              <a:t>2024年12月施行</a:t>
            </a:r>
          </a:p>
        </p:txBody>
      </p:sp>
      <p:sp>
        <p:nvSpPr>
          <p:cNvPr id="34" name="Rounded Rectangle 33"/>
          <p:cNvSpPr/>
          <p:nvPr/>
        </p:nvSpPr>
        <p:spPr>
          <a:xfrm>
            <a:off x="8046000" y="1800000"/>
            <a:ext cx="1332000" cy="1296000"/>
          </a:xfrm>
          <a:prstGeom prst="roundRect">
            <a:avLst/>
          </a:prstGeom>
          <a:solidFill>
            <a:srgbClr val="F9FC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8568000" y="1998000"/>
            <a:ext cx="288000" cy="288000"/>
          </a:xfrm>
          <a:prstGeom prst="roundRect">
            <a:avLst/>
          </a:prstGeom>
          <a:solidFill>
            <a:srgbClr val="2D7AFF"/>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950" b="1">
                <a:solidFill>
                  <a:srgbClr val="FFFFFF"/>
                </a:solidFill>
                <a:latin typeface="Noto Sans JP"/>
              </a:rPr>
              <a:t/>
            </a:r>
          </a:p>
        </p:txBody>
      </p:sp>
      <p:sp>
        <p:nvSpPr>
          <p:cNvPr id="36" name="TextBox 35"/>
          <p:cNvSpPr txBox="1"/>
          <p:nvPr/>
        </p:nvSpPr>
        <p:spPr>
          <a:xfrm>
            <a:off x="8172000" y="2394000"/>
            <a:ext cx="1080000" cy="180000"/>
          </a:xfrm>
          <a:prstGeom prst="rect">
            <a:avLst/>
          </a:prstGeom>
          <a:noFill/>
        </p:spPr>
        <p:txBody>
          <a:bodyPr wrap="square" lIns="18000" rIns="18000" tIns="7200" bIns="7200">
            <a:noAutofit/>
          </a:bodyPr>
          <a:lstStyle/>
          <a:p>
            <a:pPr algn="ctr">
              <a:lnSpc>
                <a:spcPct val="108000"/>
              </a:lnSpc>
            </a:pPr>
            <a:r>
              <a:rPr sz="930" b="1">
                <a:solidFill>
                  <a:srgbClr val="0D223A"/>
                </a:solidFill>
                <a:latin typeface="Noto Sans JP"/>
              </a:rPr>
              <a:t>SNS売買急増</a:t>
            </a:r>
          </a:p>
        </p:txBody>
      </p:sp>
      <p:sp>
        <p:nvSpPr>
          <p:cNvPr id="37" name="TextBox 36"/>
          <p:cNvSpPr txBox="1"/>
          <p:nvPr/>
        </p:nvSpPr>
        <p:spPr>
          <a:xfrm>
            <a:off x="8172000" y="2646000"/>
            <a:ext cx="1080000" cy="162000"/>
          </a:xfrm>
          <a:prstGeom prst="rect">
            <a:avLst/>
          </a:prstGeom>
          <a:noFill/>
        </p:spPr>
        <p:txBody>
          <a:bodyPr wrap="square" lIns="18000" rIns="18000" tIns="7200" bIns="7200">
            <a:noAutofit/>
          </a:bodyPr>
          <a:lstStyle/>
          <a:p>
            <a:pPr algn="ctr">
              <a:lnSpc>
                <a:spcPct val="108000"/>
              </a:lnSpc>
            </a:pPr>
            <a:r>
              <a:rPr sz="750" b="0">
                <a:solidFill>
                  <a:srgbClr val="5B6B7C"/>
                </a:solidFill>
                <a:latin typeface="Noto Sans JP"/>
              </a:rPr>
              <a:t>若年層で急増</a:t>
            </a:r>
          </a:p>
        </p:txBody>
      </p:sp>
      <p:sp>
        <p:nvSpPr>
          <p:cNvPr id="38" name="Rounded Rectangle 37"/>
          <p:cNvSpPr/>
          <p:nvPr/>
        </p:nvSpPr>
        <p:spPr>
          <a:xfrm>
            <a:off x="9684000" y="1800000"/>
            <a:ext cx="1332000" cy="1296000"/>
          </a:xfrm>
          <a:prstGeom prst="roundRect">
            <a:avLst/>
          </a:prstGeom>
          <a:solidFill>
            <a:srgbClr val="F9FC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10206000" y="1998000"/>
            <a:ext cx="288000" cy="288000"/>
          </a:xfrm>
          <a:prstGeom prst="roundRect">
            <a:avLst/>
          </a:prstGeom>
          <a:solidFill>
            <a:srgbClr val="17BC8B"/>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950" b="1">
                <a:solidFill>
                  <a:srgbClr val="FFFFFF"/>
                </a:solidFill>
                <a:latin typeface="Noto Sans JP"/>
              </a:rPr>
              <a:t/>
            </a:r>
          </a:p>
        </p:txBody>
      </p:sp>
      <p:sp>
        <p:nvSpPr>
          <p:cNvPr id="40" name="TextBox 39"/>
          <p:cNvSpPr txBox="1"/>
          <p:nvPr/>
        </p:nvSpPr>
        <p:spPr>
          <a:xfrm>
            <a:off x="9810000" y="2394000"/>
            <a:ext cx="1080000" cy="180000"/>
          </a:xfrm>
          <a:prstGeom prst="rect">
            <a:avLst/>
          </a:prstGeom>
          <a:noFill/>
        </p:spPr>
        <p:txBody>
          <a:bodyPr wrap="square" lIns="18000" rIns="18000" tIns="7200" bIns="7200">
            <a:noAutofit/>
          </a:bodyPr>
          <a:lstStyle/>
          <a:p>
            <a:pPr algn="ctr">
              <a:lnSpc>
                <a:spcPct val="108000"/>
              </a:lnSpc>
            </a:pPr>
            <a:r>
              <a:rPr sz="930" b="1">
                <a:solidFill>
                  <a:srgbClr val="0D223A"/>
                </a:solidFill>
                <a:latin typeface="Noto Sans JP"/>
              </a:rPr>
              <a:t>暴力団関与</a:t>
            </a:r>
          </a:p>
        </p:txBody>
      </p:sp>
      <p:sp>
        <p:nvSpPr>
          <p:cNvPr id="41" name="TextBox 40"/>
          <p:cNvSpPr txBox="1"/>
          <p:nvPr/>
        </p:nvSpPr>
        <p:spPr>
          <a:xfrm>
            <a:off x="9810000" y="2646000"/>
            <a:ext cx="1080000" cy="162000"/>
          </a:xfrm>
          <a:prstGeom prst="rect">
            <a:avLst/>
          </a:prstGeom>
          <a:noFill/>
        </p:spPr>
        <p:txBody>
          <a:bodyPr wrap="square" lIns="18000" rIns="18000" tIns="7200" bIns="7200">
            <a:noAutofit/>
          </a:bodyPr>
          <a:lstStyle/>
          <a:p>
            <a:pPr algn="ctr">
              <a:lnSpc>
                <a:spcPct val="108000"/>
              </a:lnSpc>
            </a:pPr>
            <a:r>
              <a:rPr sz="750" b="0">
                <a:solidFill>
                  <a:srgbClr val="5B6B7C"/>
                </a:solidFill>
                <a:latin typeface="Noto Sans JP"/>
              </a:rPr>
              <a:t>覚醒剤事犯約50%</a:t>
            </a:r>
          </a:p>
        </p:txBody>
      </p:sp>
      <p:sp>
        <p:nvSpPr>
          <p:cNvPr id="42" name="Rounded Rectangle 41"/>
          <p:cNvSpPr/>
          <p:nvPr/>
        </p:nvSpPr>
        <p:spPr>
          <a:xfrm>
            <a:off x="6120000" y="3978000"/>
            <a:ext cx="5364000" cy="1080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120000" y="3978000"/>
            <a:ext cx="28800" cy="1080000"/>
          </a:xfrm>
          <a:prstGeom prst="rect">
            <a:avLst/>
          </a:prstGeom>
          <a:solidFill>
            <a:srgbClr val="F5A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46000" y="4078800"/>
            <a:ext cx="5112000" cy="162000"/>
          </a:xfrm>
          <a:prstGeom prst="rect">
            <a:avLst/>
          </a:prstGeom>
          <a:noFill/>
        </p:spPr>
        <p:txBody>
          <a:bodyPr wrap="square" lIns="18000" rIns="18000" tIns="7200" bIns="7200">
            <a:noAutofit/>
          </a:bodyPr>
          <a:lstStyle/>
          <a:p>
            <a:pPr algn="l">
              <a:lnSpc>
                <a:spcPct val="108000"/>
              </a:lnSpc>
            </a:pPr>
            <a:r>
              <a:rPr sz="1250" b="1">
                <a:solidFill>
                  <a:srgbClr val="0D223A"/>
                </a:solidFill>
                <a:latin typeface="Noto Sans JP"/>
              </a:rPr>
              <a:t>重要なポイント</a:t>
            </a:r>
          </a:p>
        </p:txBody>
      </p:sp>
      <p:sp>
        <p:nvSpPr>
          <p:cNvPr id="45" name="TextBox 44"/>
          <p:cNvSpPr txBox="1"/>
          <p:nvPr/>
        </p:nvSpPr>
        <p:spPr>
          <a:xfrm>
            <a:off x="6246000" y="4309200"/>
            <a:ext cx="5112000" cy="720000"/>
          </a:xfrm>
          <a:prstGeom prst="rect">
            <a:avLst/>
          </a:prstGeom>
          <a:noFill/>
        </p:spPr>
        <p:txBody>
          <a:bodyPr wrap="square" lIns="18000" rIns="18000" tIns="7200" bIns="7200">
            <a:noAutofit/>
          </a:bodyPr>
          <a:lstStyle/>
          <a:p>
            <a:pPr algn="l">
              <a:lnSpc>
                <a:spcPct val="108000"/>
              </a:lnSpc>
            </a:pPr>
            <a:r>
              <a:rPr sz="950" b="0">
                <a:solidFill>
                  <a:srgbClr val="5B6B7C"/>
                </a:solidFill>
                <a:latin typeface="Noto Sans JP"/>
              </a:rPr>
              <a:t>2024年12月に大麻取締法が改正され、SNSを介した若年層の薬物売買が増加しています。暴力団は覚醒剤事犯に関与し続けています。</a:t>
            </a:r>
          </a:p>
        </p:txBody>
      </p:sp>
      <p:sp>
        <p:nvSpPr>
          <p:cNvPr id="46" name="TextBox 45"/>
          <p:cNvSpPr txBox="1"/>
          <p:nvPr/>
        </p:nvSpPr>
        <p:spPr>
          <a:xfrm>
            <a:off x="270000" y="6588000"/>
            <a:ext cx="5760000" cy="125999"/>
          </a:xfrm>
          <a:prstGeom prst="rect">
            <a:avLst/>
          </a:prstGeom>
          <a:noFill/>
        </p:spPr>
        <p:txBody>
          <a:bodyPr wrap="square" lIns="18000" rIns="18000" tIns="7200" bIns="7200">
            <a:noAutofit/>
          </a:bodyPr>
          <a:lstStyle/>
          <a:p>
            <a:pPr algn="l">
              <a:lnSpc>
                <a:spcPct val="108000"/>
              </a:lnSpc>
            </a:pPr>
            <a:r>
              <a:rPr sz="720" b="0">
                <a:solidFill>
                  <a:srgbClr val="5B6B7C"/>
                </a:solidFill>
                <a:latin typeface="Noto Sans JP"/>
              </a:rPr>
              <a:t>相模原ダルク｜依存症からの回復を全力で支えます</a:t>
            </a:r>
          </a:p>
        </p:txBody>
      </p:sp>
      <p:sp>
        <p:nvSpPr>
          <p:cNvPr id="47" name="TextBox 46"/>
          <p:cNvSpPr txBox="1"/>
          <p:nvPr/>
        </p:nvSpPr>
        <p:spPr>
          <a:xfrm>
            <a:off x="10062000" y="6566399"/>
            <a:ext cx="540000" cy="125999"/>
          </a:xfrm>
          <a:prstGeom prst="rect">
            <a:avLst/>
          </a:prstGeom>
          <a:noFill/>
        </p:spPr>
        <p:txBody>
          <a:bodyPr wrap="square" lIns="18000" rIns="18000" tIns="7200" bIns="7200">
            <a:noAutofit/>
          </a:bodyPr>
          <a:lstStyle/>
          <a:p>
            <a:pPr algn="r">
              <a:lnSpc>
                <a:spcPct val="108000"/>
              </a:lnSpc>
            </a:pPr>
            <a:r>
              <a:rPr sz="780" b="1">
                <a:solidFill>
                  <a:srgbClr val="0D223A"/>
                </a:solidFill>
                <a:latin typeface="Aptos Display"/>
              </a:rPr>
              <a:t>3/18</a:t>
            </a:r>
          </a:p>
        </p:txBody>
      </p:sp>
      <p:sp>
        <p:nvSpPr>
          <p:cNvPr id="48" name="Rounded Rectangle 47"/>
          <p:cNvSpPr/>
          <p:nvPr/>
        </p:nvSpPr>
        <p:spPr>
          <a:xfrm>
            <a:off x="10674000" y="6609600"/>
            <a:ext cx="1080000" cy="28800"/>
          </a:xfrm>
          <a:prstGeom prst="roundRect">
            <a:avLst/>
          </a:prstGeom>
          <a:solidFill>
            <a:srgbClr val="D7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10674000" y="6609600"/>
            <a:ext cx="180000" cy="28800"/>
          </a:xfrm>
          <a:prstGeom prst="roundRect">
            <a:avLst/>
          </a:prstGeom>
          <a:solidFill>
            <a:srgbClr val="16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119" cy="730799"/>
          </a:xfrm>
          <a:prstGeom prst="rect">
            <a:avLst/>
          </a:prstGeom>
          <a:solidFill>
            <a:srgbClr val="0D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70000" y="162000"/>
            <a:ext cx="259200" cy="259200"/>
          </a:xfrm>
          <a:prstGeom prst="roundRect">
            <a:avLst/>
          </a:prstGeom>
          <a:solidFill>
            <a:srgbClr val="153A5E"/>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1000" b="1">
                <a:solidFill>
                  <a:srgbClr val="FFFFFF"/>
                </a:solidFill>
                <a:latin typeface="Noto Sans JP"/>
              </a:rPr>
              <a:t>●</a:t>
            </a:r>
          </a:p>
        </p:txBody>
      </p:sp>
      <p:sp>
        <p:nvSpPr>
          <p:cNvPr id="5" name="TextBox 4"/>
          <p:cNvSpPr txBox="1"/>
          <p:nvPr/>
        </p:nvSpPr>
        <p:spPr>
          <a:xfrm>
            <a:off x="619200" y="125999"/>
            <a:ext cx="7380000" cy="223200"/>
          </a:xfrm>
          <a:prstGeom prst="rect">
            <a:avLst/>
          </a:prstGeom>
          <a:noFill/>
        </p:spPr>
        <p:txBody>
          <a:bodyPr wrap="square" lIns="18000" rIns="18000" tIns="7200" bIns="7200">
            <a:noAutofit/>
          </a:bodyPr>
          <a:lstStyle/>
          <a:p>
            <a:pPr algn="l">
              <a:lnSpc>
                <a:spcPct val="108000"/>
              </a:lnSpc>
            </a:pPr>
            <a:r>
              <a:rPr sz="2000" b="1">
                <a:solidFill>
                  <a:srgbClr val="FFFFFF"/>
                </a:solidFill>
                <a:latin typeface="Noto Sans JP"/>
              </a:rPr>
              <a:t>3段階予防と相模原ダルクの役割</a:t>
            </a:r>
          </a:p>
        </p:txBody>
      </p:sp>
      <p:sp>
        <p:nvSpPr>
          <p:cNvPr id="6" name="TextBox 5"/>
          <p:cNvSpPr txBox="1"/>
          <p:nvPr/>
        </p:nvSpPr>
        <p:spPr>
          <a:xfrm>
            <a:off x="630000" y="396000"/>
            <a:ext cx="7920000" cy="151200"/>
          </a:xfrm>
          <a:prstGeom prst="rect">
            <a:avLst/>
          </a:prstGeom>
          <a:noFill/>
        </p:spPr>
        <p:txBody>
          <a:bodyPr wrap="square" lIns="18000" rIns="18000" tIns="7200" bIns="7200">
            <a:noAutofit/>
          </a:bodyPr>
          <a:lstStyle/>
          <a:p>
            <a:pPr algn="l">
              <a:lnSpc>
                <a:spcPct val="108000"/>
              </a:lnSpc>
            </a:pPr>
            <a:r>
              <a:rPr sz="880" b="0">
                <a:solidFill>
                  <a:srgbClr val="BED3E2"/>
                </a:solidFill>
                <a:latin typeface="Noto Sans JP"/>
              </a:rPr>
              <a:t>第一次：啓発／第二次：早期介入／第三次：リハビリ・社会復帰</a:t>
            </a:r>
          </a:p>
        </p:txBody>
      </p:sp>
      <p:sp>
        <p:nvSpPr>
          <p:cNvPr id="7" name="Rounded Rectangle 6"/>
          <p:cNvSpPr/>
          <p:nvPr/>
        </p:nvSpPr>
        <p:spPr>
          <a:xfrm>
            <a:off x="9504000" y="198000"/>
            <a:ext cx="2124000" cy="208800"/>
          </a:xfrm>
          <a:prstGeom prst="roundRect">
            <a:avLst/>
          </a:prstGeom>
          <a:solidFill>
            <a:srgbClr val="EDF3F8"/>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850" b="1">
                <a:solidFill>
                  <a:srgbClr val="0D223A"/>
                </a:solidFill>
                <a:latin typeface="Noto Sans JP"/>
              </a:rPr>
              <a:t>予防から回復まで</a:t>
            </a:r>
          </a:p>
        </p:txBody>
      </p:sp>
      <p:sp>
        <p:nvSpPr>
          <p:cNvPr id="8" name="TextBox 7"/>
          <p:cNvSpPr txBox="1"/>
          <p:nvPr/>
        </p:nvSpPr>
        <p:spPr>
          <a:xfrm>
            <a:off x="503999" y="917999"/>
            <a:ext cx="9000000" cy="180000"/>
          </a:xfrm>
          <a:prstGeom prst="rect">
            <a:avLst/>
          </a:prstGeom>
          <a:noFill/>
        </p:spPr>
        <p:txBody>
          <a:bodyPr wrap="square" lIns="18000" rIns="18000" tIns="7200" bIns="7200">
            <a:noAutofit/>
          </a:bodyPr>
          <a:lstStyle/>
          <a:p>
            <a:pPr algn="l">
              <a:lnSpc>
                <a:spcPct val="108000"/>
              </a:lnSpc>
            </a:pPr>
            <a:r>
              <a:rPr sz="1050" b="0">
                <a:solidFill>
                  <a:srgbClr val="5B6B7C"/>
                </a:solidFill>
                <a:latin typeface="Noto Sans JP"/>
              </a:rPr>
              <a:t>相模原ダルクは、予防から社会復帰まで切れ目ない支援を提供します。第一次予防、第二次予防、第三次予防（回復・社会復帰）の3段階で、依存症の予防と回復を実現します。</a:t>
            </a:r>
          </a:p>
        </p:txBody>
      </p:sp>
      <p:sp>
        <p:nvSpPr>
          <p:cNvPr id="9" name="TextBox 8"/>
          <p:cNvSpPr txBox="1"/>
          <p:nvPr/>
        </p:nvSpPr>
        <p:spPr>
          <a:xfrm>
            <a:off x="10440000" y="917999"/>
            <a:ext cx="1080000" cy="288000"/>
          </a:xfrm>
          <a:prstGeom prst="rect">
            <a:avLst/>
          </a:prstGeom>
          <a:noFill/>
        </p:spPr>
        <p:txBody>
          <a:bodyPr wrap="square" lIns="18000" rIns="18000" tIns="7200" bIns="7200">
            <a:noAutofit/>
          </a:bodyPr>
          <a:lstStyle/>
          <a:p>
            <a:pPr algn="l">
              <a:lnSpc>
                <a:spcPct val="108000"/>
              </a:lnSpc>
            </a:pPr>
            <a:r>
              <a:rPr sz="2000" b="1">
                <a:solidFill>
                  <a:srgbClr val="0D223A"/>
                </a:solidFill>
                <a:latin typeface="Aptos Display"/>
              </a:rPr>
              <a:t>400+</a:t>
            </a:r>
          </a:p>
        </p:txBody>
      </p:sp>
      <p:sp>
        <p:nvSpPr>
          <p:cNvPr id="10" name="Rounded Rectangle 9"/>
          <p:cNvSpPr/>
          <p:nvPr/>
        </p:nvSpPr>
        <p:spPr>
          <a:xfrm>
            <a:off x="450000" y="1458000"/>
            <a:ext cx="3618000" cy="4212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0000" y="1458000"/>
            <a:ext cx="28800" cy="4212000"/>
          </a:xfrm>
          <a:prstGeom prst="rect">
            <a:avLst/>
          </a:prstGeom>
          <a:solidFill>
            <a:srgbClr val="2D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00" y="1558800"/>
            <a:ext cx="3366000" cy="162000"/>
          </a:xfrm>
          <a:prstGeom prst="rect">
            <a:avLst/>
          </a:prstGeom>
          <a:noFill/>
        </p:spPr>
        <p:txBody>
          <a:bodyPr wrap="square" lIns="18000" rIns="18000" tIns="7200" bIns="7200">
            <a:noAutofit/>
          </a:bodyPr>
          <a:lstStyle/>
          <a:p>
            <a:pPr algn="l">
              <a:lnSpc>
                <a:spcPct val="108000"/>
              </a:lnSpc>
            </a:pPr>
            <a:r>
              <a:rPr sz="1300" b="1">
                <a:solidFill>
                  <a:srgbClr val="0D223A"/>
                </a:solidFill>
                <a:latin typeface="Noto Sans JP"/>
              </a:rPr>
              <a:t>第一次予防（啓発）</a:t>
            </a:r>
          </a:p>
        </p:txBody>
      </p:sp>
      <p:sp>
        <p:nvSpPr>
          <p:cNvPr id="13" name="TextBox 12"/>
          <p:cNvSpPr txBox="1"/>
          <p:nvPr/>
        </p:nvSpPr>
        <p:spPr>
          <a:xfrm>
            <a:off x="576000" y="1789200"/>
            <a:ext cx="3366000" cy="3833999"/>
          </a:xfrm>
          <a:prstGeom prst="rect">
            <a:avLst/>
          </a:prstGeom>
          <a:noFill/>
        </p:spPr>
        <p:txBody>
          <a:bodyPr wrap="square" lIns="18000" rIns="18000" tIns="7200" bIns="7200">
            <a:spAutoFit/>
          </a:bodyPr>
          <a:lstStyle/>
          <a:p>
            <a:pPr>
              <a:lnSpc>
                <a:spcPct val="108000"/>
              </a:lnSpc>
              <a:spcAft>
                <a:spcPts val="300"/>
              </a:spcAft>
              <a:defRPr sz="880">
                <a:solidFill>
                  <a:srgbClr val="5B6B7C"/>
                </a:solidFill>
                <a:latin typeface="Noto Sans JP"/>
              </a:defRPr>
            </a:pPr>
            <a:r>
              <a:rPr>
                <a:latin typeface="Noto Sans JP"/>
              </a:rPr>
              <a:t>• 講演・研修による乱用防止啓発</a:t>
            </a:r>
          </a:p>
          <a:p>
            <a:pPr>
              <a:lnSpc>
                <a:spcPct val="108000"/>
              </a:lnSpc>
              <a:spcAft>
                <a:spcPts val="300"/>
              </a:spcAft>
              <a:defRPr sz="880">
                <a:solidFill>
                  <a:srgbClr val="5B6B7C"/>
                </a:solidFill>
                <a:latin typeface="Noto Sans JP"/>
              </a:defRPr>
            </a:pPr>
            <a:r>
              <a:rPr>
                <a:latin typeface="Noto Sans JP"/>
              </a:rPr>
              <a:t>• 学校・地域イベントでのエイサー演舞</a:t>
            </a:r>
          </a:p>
          <a:p>
            <a:pPr>
              <a:lnSpc>
                <a:spcPct val="108000"/>
              </a:lnSpc>
              <a:spcAft>
                <a:spcPts val="300"/>
              </a:spcAft>
              <a:defRPr sz="880">
                <a:solidFill>
                  <a:srgbClr val="5B6B7C"/>
                </a:solidFill>
                <a:latin typeface="Noto Sans JP"/>
              </a:defRPr>
            </a:pPr>
            <a:r>
              <a:rPr>
                <a:latin typeface="Noto Sans JP"/>
              </a:rPr>
              <a:t>• 学校への薬物乱用防止教室</a:t>
            </a:r>
          </a:p>
          <a:p>
            <a:pPr>
              <a:lnSpc>
                <a:spcPct val="108000"/>
              </a:lnSpc>
              <a:spcAft>
                <a:spcPts val="300"/>
              </a:spcAft>
              <a:defRPr sz="880">
                <a:solidFill>
                  <a:srgbClr val="5B6B7C"/>
                </a:solidFill>
                <a:latin typeface="Noto Sans JP"/>
              </a:defRPr>
            </a:pPr>
            <a:r>
              <a:rPr>
                <a:latin typeface="Noto Sans JP"/>
              </a:rPr>
              <a:t>• ニュースレター発行</a:t>
            </a:r>
          </a:p>
        </p:txBody>
      </p:sp>
      <p:sp>
        <p:nvSpPr>
          <p:cNvPr id="14" name="Rounded Rectangle 13"/>
          <p:cNvSpPr/>
          <p:nvPr/>
        </p:nvSpPr>
        <p:spPr>
          <a:xfrm>
            <a:off x="4320000" y="1458000"/>
            <a:ext cx="3618000" cy="4212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20000" y="1458000"/>
            <a:ext cx="28800" cy="4212000"/>
          </a:xfrm>
          <a:prstGeom prst="rect">
            <a:avLst/>
          </a:prstGeom>
          <a:solidFill>
            <a:srgbClr val="F5A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6000" y="1558800"/>
            <a:ext cx="3366000" cy="162000"/>
          </a:xfrm>
          <a:prstGeom prst="rect">
            <a:avLst/>
          </a:prstGeom>
          <a:noFill/>
        </p:spPr>
        <p:txBody>
          <a:bodyPr wrap="square" lIns="18000" rIns="18000" tIns="7200" bIns="7200">
            <a:noAutofit/>
          </a:bodyPr>
          <a:lstStyle/>
          <a:p>
            <a:pPr algn="l">
              <a:lnSpc>
                <a:spcPct val="108000"/>
              </a:lnSpc>
            </a:pPr>
            <a:r>
              <a:rPr sz="1300" b="1">
                <a:solidFill>
                  <a:srgbClr val="0D223A"/>
                </a:solidFill>
                <a:latin typeface="Noto Sans JP"/>
              </a:rPr>
              <a:t>第二次予防（介入）</a:t>
            </a:r>
          </a:p>
        </p:txBody>
      </p:sp>
      <p:sp>
        <p:nvSpPr>
          <p:cNvPr id="17" name="TextBox 16"/>
          <p:cNvSpPr txBox="1"/>
          <p:nvPr/>
        </p:nvSpPr>
        <p:spPr>
          <a:xfrm>
            <a:off x="4446000" y="1789200"/>
            <a:ext cx="3366000" cy="3833999"/>
          </a:xfrm>
          <a:prstGeom prst="rect">
            <a:avLst/>
          </a:prstGeom>
          <a:noFill/>
        </p:spPr>
        <p:txBody>
          <a:bodyPr wrap="square" lIns="18000" rIns="18000" tIns="7200" bIns="7200">
            <a:spAutoFit/>
          </a:bodyPr>
          <a:lstStyle/>
          <a:p>
            <a:pPr>
              <a:lnSpc>
                <a:spcPct val="108000"/>
              </a:lnSpc>
              <a:spcAft>
                <a:spcPts val="300"/>
              </a:spcAft>
              <a:defRPr sz="880">
                <a:solidFill>
                  <a:srgbClr val="5B6B7C"/>
                </a:solidFill>
                <a:latin typeface="Noto Sans JP"/>
              </a:defRPr>
            </a:pPr>
            <a:r>
              <a:rPr>
                <a:latin typeface="Noto Sans JP"/>
              </a:rPr>
              <a:t>• 医療・行政・司法と連携した早期発見</a:t>
            </a:r>
          </a:p>
          <a:p>
            <a:pPr>
              <a:lnSpc>
                <a:spcPct val="108000"/>
              </a:lnSpc>
              <a:spcAft>
                <a:spcPts val="300"/>
              </a:spcAft>
              <a:defRPr sz="880">
                <a:solidFill>
                  <a:srgbClr val="5B6B7C"/>
                </a:solidFill>
                <a:latin typeface="Noto Sans JP"/>
              </a:defRPr>
            </a:pPr>
            <a:r>
              <a:rPr>
                <a:latin typeface="Noto Sans JP"/>
              </a:rPr>
              <a:t>• 個別相談と初期カウンセリング</a:t>
            </a:r>
          </a:p>
          <a:p>
            <a:pPr>
              <a:lnSpc>
                <a:spcPct val="108000"/>
              </a:lnSpc>
              <a:spcAft>
                <a:spcPts val="300"/>
              </a:spcAft>
              <a:defRPr sz="880">
                <a:solidFill>
                  <a:srgbClr val="5B6B7C"/>
                </a:solidFill>
                <a:latin typeface="Noto Sans JP"/>
              </a:defRPr>
            </a:pPr>
            <a:r>
              <a:rPr>
                <a:latin typeface="Noto Sans JP"/>
              </a:rPr>
              <a:t>• 家族からの相談対応</a:t>
            </a:r>
          </a:p>
          <a:p>
            <a:pPr>
              <a:lnSpc>
                <a:spcPct val="108000"/>
              </a:lnSpc>
              <a:spcAft>
                <a:spcPts val="300"/>
              </a:spcAft>
              <a:defRPr sz="880">
                <a:solidFill>
                  <a:srgbClr val="5B6B7C"/>
                </a:solidFill>
                <a:latin typeface="Noto Sans JP"/>
              </a:defRPr>
            </a:pPr>
            <a:r>
              <a:rPr>
                <a:latin typeface="Noto Sans JP"/>
              </a:rPr>
              <a:t>• 弁護士・専門職との連携</a:t>
            </a:r>
          </a:p>
        </p:txBody>
      </p:sp>
      <p:sp>
        <p:nvSpPr>
          <p:cNvPr id="18" name="Rounded Rectangle 17"/>
          <p:cNvSpPr/>
          <p:nvPr/>
        </p:nvSpPr>
        <p:spPr>
          <a:xfrm>
            <a:off x="8190000" y="1458000"/>
            <a:ext cx="3618000" cy="4212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90000" y="1458000"/>
            <a:ext cx="28800" cy="4212000"/>
          </a:xfrm>
          <a:prstGeom prst="rect">
            <a:avLst/>
          </a:prstGeom>
          <a:solidFill>
            <a:srgbClr val="17BC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16000" y="1558800"/>
            <a:ext cx="3366000" cy="162000"/>
          </a:xfrm>
          <a:prstGeom prst="rect">
            <a:avLst/>
          </a:prstGeom>
          <a:noFill/>
        </p:spPr>
        <p:txBody>
          <a:bodyPr wrap="square" lIns="18000" rIns="18000" tIns="7200" bIns="7200">
            <a:noAutofit/>
          </a:bodyPr>
          <a:lstStyle/>
          <a:p>
            <a:pPr algn="l">
              <a:lnSpc>
                <a:spcPct val="108000"/>
              </a:lnSpc>
            </a:pPr>
            <a:r>
              <a:rPr sz="1300" b="1">
                <a:solidFill>
                  <a:srgbClr val="0D223A"/>
                </a:solidFill>
                <a:latin typeface="Noto Sans JP"/>
              </a:rPr>
              <a:t>第三次予防（回復）</a:t>
            </a:r>
          </a:p>
        </p:txBody>
      </p:sp>
      <p:sp>
        <p:nvSpPr>
          <p:cNvPr id="21" name="TextBox 20"/>
          <p:cNvSpPr txBox="1"/>
          <p:nvPr/>
        </p:nvSpPr>
        <p:spPr>
          <a:xfrm>
            <a:off x="8316000" y="1789200"/>
            <a:ext cx="3366000" cy="3833999"/>
          </a:xfrm>
          <a:prstGeom prst="rect">
            <a:avLst/>
          </a:prstGeom>
          <a:noFill/>
        </p:spPr>
        <p:txBody>
          <a:bodyPr wrap="square" lIns="18000" rIns="18000" tIns="7200" bIns="7200">
            <a:spAutoFit/>
          </a:bodyPr>
          <a:lstStyle/>
          <a:p>
            <a:pPr>
              <a:lnSpc>
                <a:spcPct val="108000"/>
              </a:lnSpc>
              <a:spcAft>
                <a:spcPts val="300"/>
              </a:spcAft>
              <a:defRPr sz="880">
                <a:solidFill>
                  <a:srgbClr val="5B6B7C"/>
                </a:solidFill>
                <a:latin typeface="Noto Sans JP"/>
              </a:defRPr>
            </a:pPr>
            <a:r>
              <a:rPr>
                <a:latin typeface="Noto Sans JP"/>
              </a:rPr>
              <a:t>• 入寮・通所による集中的な回復プログラム</a:t>
            </a:r>
          </a:p>
          <a:p>
            <a:pPr>
              <a:lnSpc>
                <a:spcPct val="108000"/>
              </a:lnSpc>
              <a:spcAft>
                <a:spcPts val="300"/>
              </a:spcAft>
              <a:defRPr sz="880">
                <a:solidFill>
                  <a:srgbClr val="5B6B7C"/>
                </a:solidFill>
                <a:latin typeface="Noto Sans JP"/>
              </a:defRPr>
            </a:pPr>
            <a:r>
              <a:rPr>
                <a:latin typeface="Noto Sans JP"/>
              </a:rPr>
              <a:t>• 24時間体制の見守りサポート</a:t>
            </a:r>
          </a:p>
          <a:p>
            <a:pPr>
              <a:lnSpc>
                <a:spcPct val="108000"/>
              </a:lnSpc>
              <a:spcAft>
                <a:spcPts val="300"/>
              </a:spcAft>
              <a:defRPr sz="880">
                <a:solidFill>
                  <a:srgbClr val="5B6B7C"/>
                </a:solidFill>
                <a:latin typeface="Noto Sans JP"/>
              </a:defRPr>
            </a:pPr>
            <a:r>
              <a:rPr>
                <a:latin typeface="Noto Sans JP"/>
              </a:rPr>
              <a:t>• アフターケアと地域連携の継続</a:t>
            </a:r>
          </a:p>
          <a:p>
            <a:pPr>
              <a:lnSpc>
                <a:spcPct val="108000"/>
              </a:lnSpc>
              <a:spcAft>
                <a:spcPts val="300"/>
              </a:spcAft>
              <a:defRPr sz="880">
                <a:solidFill>
                  <a:srgbClr val="5B6B7C"/>
                </a:solidFill>
                <a:latin typeface="Noto Sans JP"/>
              </a:defRPr>
            </a:pPr>
            <a:r>
              <a:rPr>
                <a:latin typeface="Noto Sans JP"/>
              </a:rPr>
              <a:t>• 社会復帰支援</a:t>
            </a:r>
          </a:p>
        </p:txBody>
      </p:sp>
      <p:sp>
        <p:nvSpPr>
          <p:cNvPr id="22" name="TextBox 21"/>
          <p:cNvSpPr txBox="1"/>
          <p:nvPr/>
        </p:nvSpPr>
        <p:spPr>
          <a:xfrm>
            <a:off x="270000" y="6588000"/>
            <a:ext cx="5760000" cy="125999"/>
          </a:xfrm>
          <a:prstGeom prst="rect">
            <a:avLst/>
          </a:prstGeom>
          <a:noFill/>
        </p:spPr>
        <p:txBody>
          <a:bodyPr wrap="square" lIns="18000" rIns="18000" tIns="7200" bIns="7200">
            <a:noAutofit/>
          </a:bodyPr>
          <a:lstStyle/>
          <a:p>
            <a:pPr algn="l">
              <a:lnSpc>
                <a:spcPct val="108000"/>
              </a:lnSpc>
            </a:pPr>
            <a:r>
              <a:rPr sz="720" b="0">
                <a:solidFill>
                  <a:srgbClr val="5B6B7C"/>
                </a:solidFill>
                <a:latin typeface="Noto Sans JP"/>
              </a:rPr>
              <a:t>相模原ダルク｜依存症からの回復を全力で支えます</a:t>
            </a:r>
          </a:p>
        </p:txBody>
      </p:sp>
      <p:sp>
        <p:nvSpPr>
          <p:cNvPr id="23" name="TextBox 22"/>
          <p:cNvSpPr txBox="1"/>
          <p:nvPr/>
        </p:nvSpPr>
        <p:spPr>
          <a:xfrm>
            <a:off x="10062000" y="6566399"/>
            <a:ext cx="540000" cy="125999"/>
          </a:xfrm>
          <a:prstGeom prst="rect">
            <a:avLst/>
          </a:prstGeom>
          <a:noFill/>
        </p:spPr>
        <p:txBody>
          <a:bodyPr wrap="square" lIns="18000" rIns="18000" tIns="7200" bIns="7200">
            <a:noAutofit/>
          </a:bodyPr>
          <a:lstStyle/>
          <a:p>
            <a:pPr algn="r">
              <a:lnSpc>
                <a:spcPct val="108000"/>
              </a:lnSpc>
            </a:pPr>
            <a:r>
              <a:rPr sz="780" b="1">
                <a:solidFill>
                  <a:srgbClr val="0D223A"/>
                </a:solidFill>
                <a:latin typeface="Aptos Display"/>
              </a:rPr>
              <a:t>4/18</a:t>
            </a:r>
          </a:p>
        </p:txBody>
      </p:sp>
      <p:sp>
        <p:nvSpPr>
          <p:cNvPr id="24" name="Rounded Rectangle 23"/>
          <p:cNvSpPr/>
          <p:nvPr/>
        </p:nvSpPr>
        <p:spPr>
          <a:xfrm>
            <a:off x="10674000" y="6609600"/>
            <a:ext cx="1080000" cy="28800"/>
          </a:xfrm>
          <a:prstGeom prst="roundRect">
            <a:avLst/>
          </a:prstGeom>
          <a:solidFill>
            <a:srgbClr val="D7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674000" y="6609600"/>
            <a:ext cx="240000" cy="28800"/>
          </a:xfrm>
          <a:prstGeom prst="roundRect">
            <a:avLst/>
          </a:prstGeom>
          <a:solidFill>
            <a:srgbClr val="16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119" cy="730799"/>
          </a:xfrm>
          <a:prstGeom prst="rect">
            <a:avLst/>
          </a:prstGeom>
          <a:solidFill>
            <a:srgbClr val="0D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70000" y="162000"/>
            <a:ext cx="259200" cy="259200"/>
          </a:xfrm>
          <a:prstGeom prst="roundRect">
            <a:avLst/>
          </a:prstGeom>
          <a:solidFill>
            <a:srgbClr val="153A5E"/>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1000" b="1">
                <a:solidFill>
                  <a:srgbClr val="FFFFFF"/>
                </a:solidFill>
                <a:latin typeface="Noto Sans JP"/>
              </a:rPr>
              <a:t>▣</a:t>
            </a:r>
          </a:p>
        </p:txBody>
      </p:sp>
      <p:sp>
        <p:nvSpPr>
          <p:cNvPr id="5" name="TextBox 4"/>
          <p:cNvSpPr txBox="1"/>
          <p:nvPr/>
        </p:nvSpPr>
        <p:spPr>
          <a:xfrm>
            <a:off x="619200" y="125999"/>
            <a:ext cx="7380000" cy="223200"/>
          </a:xfrm>
          <a:prstGeom prst="rect">
            <a:avLst/>
          </a:prstGeom>
          <a:noFill/>
        </p:spPr>
        <p:txBody>
          <a:bodyPr wrap="square" lIns="18000" rIns="18000" tIns="7200" bIns="7200">
            <a:noAutofit/>
          </a:bodyPr>
          <a:lstStyle/>
          <a:p>
            <a:pPr algn="l">
              <a:lnSpc>
                <a:spcPct val="108000"/>
              </a:lnSpc>
            </a:pPr>
            <a:r>
              <a:rPr sz="2000" b="1">
                <a:solidFill>
                  <a:srgbClr val="FFFFFF"/>
                </a:solidFill>
                <a:latin typeface="Noto Sans JP"/>
              </a:rPr>
              <a:t>組織概要・理念｜PHILOSOPHY &amp; MISSION</a:t>
            </a:r>
          </a:p>
        </p:txBody>
      </p:sp>
      <p:sp>
        <p:nvSpPr>
          <p:cNvPr id="6" name="TextBox 5"/>
          <p:cNvSpPr txBox="1"/>
          <p:nvPr/>
        </p:nvSpPr>
        <p:spPr>
          <a:xfrm>
            <a:off x="630000" y="396000"/>
            <a:ext cx="7920000" cy="151200"/>
          </a:xfrm>
          <a:prstGeom prst="rect">
            <a:avLst/>
          </a:prstGeom>
          <a:noFill/>
        </p:spPr>
        <p:txBody>
          <a:bodyPr wrap="square" lIns="18000" rIns="18000" tIns="7200" bIns="7200">
            <a:noAutofit/>
          </a:bodyPr>
          <a:lstStyle/>
          <a:p>
            <a:pPr algn="l">
              <a:lnSpc>
                <a:spcPct val="108000"/>
              </a:lnSpc>
            </a:pPr>
            <a:r>
              <a:rPr sz="880" b="0">
                <a:solidFill>
                  <a:srgbClr val="BED3E2"/>
                </a:solidFill>
                <a:latin typeface="Noto Sans JP"/>
              </a:rPr>
              <a:t>人としての尊厳を大切に、生き直す力を支える</a:t>
            </a:r>
          </a:p>
        </p:txBody>
      </p:sp>
      <p:sp>
        <p:nvSpPr>
          <p:cNvPr id="7" name="Rounded Rectangle 6"/>
          <p:cNvSpPr/>
          <p:nvPr/>
        </p:nvSpPr>
        <p:spPr>
          <a:xfrm>
            <a:off x="9504000" y="198000"/>
            <a:ext cx="2124000" cy="208800"/>
          </a:xfrm>
          <a:prstGeom prst="roundRect">
            <a:avLst/>
          </a:prstGeom>
          <a:solidFill>
            <a:srgbClr val="EDF3F8"/>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850" b="1">
                <a:solidFill>
                  <a:srgbClr val="0D223A"/>
                </a:solidFill>
                <a:latin typeface="Noto Sans JP"/>
              </a:rPr>
              <a:t>設立 2014年</a:t>
            </a:r>
          </a:p>
        </p:txBody>
      </p:sp>
      <p:sp>
        <p:nvSpPr>
          <p:cNvPr id="8" name="Rounded Rectangle 7"/>
          <p:cNvSpPr/>
          <p:nvPr/>
        </p:nvSpPr>
        <p:spPr>
          <a:xfrm>
            <a:off x="503999" y="1152000"/>
            <a:ext cx="2520000" cy="4176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3999" y="1152000"/>
            <a:ext cx="28800" cy="4176000"/>
          </a:xfrm>
          <a:prstGeom prst="rect">
            <a:avLst/>
          </a:prstGeom>
          <a:solidFill>
            <a:srgbClr val="2D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000" y="1252800"/>
            <a:ext cx="2268000" cy="162000"/>
          </a:xfrm>
          <a:prstGeom prst="rect">
            <a:avLst/>
          </a:prstGeom>
          <a:noFill/>
        </p:spPr>
        <p:txBody>
          <a:bodyPr wrap="square" lIns="18000" rIns="18000" tIns="7200" bIns="7200">
            <a:noAutofit/>
          </a:bodyPr>
          <a:lstStyle/>
          <a:p>
            <a:pPr algn="l">
              <a:lnSpc>
                <a:spcPct val="108000"/>
              </a:lnSpc>
            </a:pPr>
            <a:r>
              <a:rPr sz="1250" b="1">
                <a:solidFill>
                  <a:srgbClr val="0D223A"/>
                </a:solidFill>
                <a:latin typeface="Noto Sans JP"/>
              </a:rPr>
              <a:t>相模原ダルク</a:t>
            </a:r>
          </a:p>
        </p:txBody>
      </p:sp>
      <p:sp>
        <p:nvSpPr>
          <p:cNvPr id="11" name="TextBox 10"/>
          <p:cNvSpPr txBox="1"/>
          <p:nvPr/>
        </p:nvSpPr>
        <p:spPr>
          <a:xfrm>
            <a:off x="630000" y="1483200"/>
            <a:ext cx="2268000" cy="3797999"/>
          </a:xfrm>
          <a:prstGeom prst="rect">
            <a:avLst/>
          </a:prstGeom>
          <a:noFill/>
        </p:spPr>
        <p:txBody>
          <a:bodyPr wrap="square" lIns="18000" rIns="18000" tIns="7200" bIns="7200">
            <a:spAutoFit/>
          </a:bodyPr>
          <a:lstStyle/>
          <a:p>
            <a:pPr>
              <a:lnSpc>
                <a:spcPct val="108000"/>
              </a:lnSpc>
              <a:spcAft>
                <a:spcPts val="300"/>
              </a:spcAft>
              <a:defRPr sz="880">
                <a:solidFill>
                  <a:srgbClr val="5B6B7C"/>
                </a:solidFill>
                <a:latin typeface="Noto Sans JP"/>
              </a:defRPr>
            </a:pPr>
            <a:r>
              <a:rPr>
                <a:latin typeface="Noto Sans JP"/>
              </a:rPr>
              <a:t>• 設立：2014年3月3日</a:t>
            </a:r>
          </a:p>
          <a:p>
            <a:pPr>
              <a:lnSpc>
                <a:spcPct val="108000"/>
              </a:lnSpc>
              <a:spcAft>
                <a:spcPts val="300"/>
              </a:spcAft>
              <a:defRPr sz="880">
                <a:solidFill>
                  <a:srgbClr val="5B6B7C"/>
                </a:solidFill>
                <a:latin typeface="Noto Sans JP"/>
              </a:defRPr>
            </a:pPr>
            <a:r>
              <a:rPr>
                <a:latin typeface="Noto Sans JP"/>
              </a:rPr>
              <a:t>• 代表理事：田中 秀泰</a:t>
            </a:r>
          </a:p>
          <a:p>
            <a:pPr>
              <a:lnSpc>
                <a:spcPct val="108000"/>
              </a:lnSpc>
              <a:spcAft>
                <a:spcPts val="300"/>
              </a:spcAft>
              <a:defRPr sz="880">
                <a:solidFill>
                  <a:srgbClr val="5B6B7C"/>
                </a:solidFill>
                <a:latin typeface="Noto Sans JP"/>
              </a:defRPr>
            </a:pPr>
            <a:r>
              <a:rPr>
                <a:latin typeface="Noto Sans JP"/>
              </a:rPr>
              <a:t>• 所在地：神奈川県相模原市</a:t>
            </a:r>
          </a:p>
          <a:p>
            <a:pPr>
              <a:lnSpc>
                <a:spcPct val="108000"/>
              </a:lnSpc>
              <a:spcAft>
                <a:spcPts val="300"/>
              </a:spcAft>
              <a:defRPr sz="880">
                <a:solidFill>
                  <a:srgbClr val="5B6B7C"/>
                </a:solidFill>
                <a:latin typeface="Noto Sans JP"/>
              </a:defRPr>
            </a:pPr>
            <a:r>
              <a:rPr>
                <a:latin typeface="Noto Sans JP"/>
              </a:rPr>
              <a:t>• 支援実績：延べ400名以上</a:t>
            </a:r>
          </a:p>
        </p:txBody>
      </p:sp>
      <p:sp>
        <p:nvSpPr>
          <p:cNvPr id="12" name="Rounded Rectangle 11"/>
          <p:cNvSpPr/>
          <p:nvPr/>
        </p:nvSpPr>
        <p:spPr>
          <a:xfrm>
            <a:off x="3384000" y="1152000"/>
            <a:ext cx="7956000" cy="1655999"/>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84000" y="1152000"/>
            <a:ext cx="28800" cy="1655999"/>
          </a:xfrm>
          <a:prstGeom prst="rect">
            <a:avLst/>
          </a:prstGeom>
          <a:solidFill>
            <a:srgbClr val="2D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10000" y="1252800"/>
            <a:ext cx="7704000" cy="162000"/>
          </a:xfrm>
          <a:prstGeom prst="rect">
            <a:avLst/>
          </a:prstGeom>
          <a:noFill/>
        </p:spPr>
        <p:txBody>
          <a:bodyPr wrap="square" lIns="18000" rIns="18000" tIns="7200" bIns="7200">
            <a:noAutofit/>
          </a:bodyPr>
          <a:lstStyle/>
          <a:p>
            <a:pPr algn="l">
              <a:lnSpc>
                <a:spcPct val="108000"/>
              </a:lnSpc>
            </a:pPr>
            <a:r>
              <a:rPr sz="1250" b="1">
                <a:solidFill>
                  <a:srgbClr val="0D223A"/>
                </a:solidFill>
                <a:latin typeface="Noto Sans JP"/>
              </a:rPr>
              <a:t>PHILOSOPHY｜理念</a:t>
            </a:r>
          </a:p>
        </p:txBody>
      </p:sp>
      <p:sp>
        <p:nvSpPr>
          <p:cNvPr id="15" name="TextBox 14"/>
          <p:cNvSpPr txBox="1"/>
          <p:nvPr/>
        </p:nvSpPr>
        <p:spPr>
          <a:xfrm>
            <a:off x="3510000" y="1483200"/>
            <a:ext cx="7704000" cy="1295999"/>
          </a:xfrm>
          <a:prstGeom prst="rect">
            <a:avLst/>
          </a:prstGeom>
          <a:noFill/>
        </p:spPr>
        <p:txBody>
          <a:bodyPr wrap="square" lIns="18000" rIns="18000" tIns="7200" bIns="7200">
            <a:noAutofit/>
          </a:bodyPr>
          <a:lstStyle/>
          <a:p>
            <a:pPr algn="l">
              <a:lnSpc>
                <a:spcPct val="108000"/>
              </a:lnSpc>
            </a:pPr>
            <a:r>
              <a:rPr sz="950" b="0">
                <a:solidFill>
                  <a:srgbClr val="5B6B7C"/>
                </a:solidFill>
                <a:latin typeface="Noto Sans JP"/>
              </a:rPr>
              <a:t>「人としての尊厳を大切に、生き直す力を支える」全員が一人ひとりを尊重する関係性を大切にし、安心して自分を表現できる共同の場をつくります。</a:t>
            </a:r>
          </a:p>
        </p:txBody>
      </p:sp>
      <p:sp>
        <p:nvSpPr>
          <p:cNvPr id="16" name="Rounded Rectangle 15"/>
          <p:cNvSpPr/>
          <p:nvPr/>
        </p:nvSpPr>
        <p:spPr>
          <a:xfrm>
            <a:off x="3384000" y="3041999"/>
            <a:ext cx="7956000" cy="2088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84000" y="3041999"/>
            <a:ext cx="28800" cy="2088000"/>
          </a:xfrm>
          <a:prstGeom prst="rect">
            <a:avLst/>
          </a:prstGeom>
          <a:solidFill>
            <a:srgbClr val="17BC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10000" y="3142799"/>
            <a:ext cx="7704000" cy="162000"/>
          </a:xfrm>
          <a:prstGeom prst="rect">
            <a:avLst/>
          </a:prstGeom>
          <a:noFill/>
        </p:spPr>
        <p:txBody>
          <a:bodyPr wrap="square" lIns="18000" rIns="18000" tIns="7200" bIns="7200">
            <a:noAutofit/>
          </a:bodyPr>
          <a:lstStyle/>
          <a:p>
            <a:pPr algn="l">
              <a:lnSpc>
                <a:spcPct val="108000"/>
              </a:lnSpc>
            </a:pPr>
            <a:r>
              <a:rPr sz="1250" b="1">
                <a:solidFill>
                  <a:srgbClr val="0D223A"/>
                </a:solidFill>
                <a:latin typeface="Noto Sans JP"/>
              </a:rPr>
              <a:t>MISSION｜使命</a:t>
            </a:r>
          </a:p>
        </p:txBody>
      </p:sp>
      <p:sp>
        <p:nvSpPr>
          <p:cNvPr id="19" name="TextBox 18"/>
          <p:cNvSpPr txBox="1"/>
          <p:nvPr/>
        </p:nvSpPr>
        <p:spPr>
          <a:xfrm>
            <a:off x="3510000" y="3373199"/>
            <a:ext cx="7704000" cy="1728000"/>
          </a:xfrm>
          <a:prstGeom prst="rect">
            <a:avLst/>
          </a:prstGeom>
          <a:noFill/>
        </p:spPr>
        <p:txBody>
          <a:bodyPr wrap="square" lIns="18000" rIns="18000" tIns="7200" bIns="7200">
            <a:noAutofit/>
          </a:bodyPr>
          <a:lstStyle/>
          <a:p>
            <a:pPr algn="l">
              <a:lnSpc>
                <a:spcPct val="108000"/>
              </a:lnSpc>
            </a:pPr>
            <a:r>
              <a:rPr sz="950" b="0">
                <a:solidFill>
                  <a:srgbClr val="5B6B7C"/>
                </a:solidFill>
                <a:latin typeface="Noto Sans JP"/>
              </a:rPr>
              <a:t>「生き直す力で依存症からの回復を」依存症からの回復には、人が本来持つ生き直す力を呼び起こし、育てることが必要不可欠です。恐れや圧力ではなく、安心できる環境、誠実な人との関わりや対話によって育てます。</a:t>
            </a:r>
          </a:p>
        </p:txBody>
      </p:sp>
      <p:sp>
        <p:nvSpPr>
          <p:cNvPr id="20" name="TextBox 19"/>
          <p:cNvSpPr txBox="1"/>
          <p:nvPr/>
        </p:nvSpPr>
        <p:spPr>
          <a:xfrm>
            <a:off x="270000" y="6588000"/>
            <a:ext cx="5760000" cy="125999"/>
          </a:xfrm>
          <a:prstGeom prst="rect">
            <a:avLst/>
          </a:prstGeom>
          <a:noFill/>
        </p:spPr>
        <p:txBody>
          <a:bodyPr wrap="square" lIns="18000" rIns="18000" tIns="7200" bIns="7200">
            <a:noAutofit/>
          </a:bodyPr>
          <a:lstStyle/>
          <a:p>
            <a:pPr algn="l">
              <a:lnSpc>
                <a:spcPct val="108000"/>
              </a:lnSpc>
            </a:pPr>
            <a:r>
              <a:rPr sz="720" b="0">
                <a:solidFill>
                  <a:srgbClr val="5B6B7C"/>
                </a:solidFill>
                <a:latin typeface="Noto Sans JP"/>
              </a:rPr>
              <a:t>相模原ダルク｜依存症からの回復を全力で支えます</a:t>
            </a:r>
          </a:p>
        </p:txBody>
      </p:sp>
      <p:sp>
        <p:nvSpPr>
          <p:cNvPr id="21" name="TextBox 20"/>
          <p:cNvSpPr txBox="1"/>
          <p:nvPr/>
        </p:nvSpPr>
        <p:spPr>
          <a:xfrm>
            <a:off x="10062000" y="6566399"/>
            <a:ext cx="540000" cy="125999"/>
          </a:xfrm>
          <a:prstGeom prst="rect">
            <a:avLst/>
          </a:prstGeom>
          <a:noFill/>
        </p:spPr>
        <p:txBody>
          <a:bodyPr wrap="square" lIns="18000" rIns="18000" tIns="7200" bIns="7200">
            <a:noAutofit/>
          </a:bodyPr>
          <a:lstStyle/>
          <a:p>
            <a:pPr algn="r">
              <a:lnSpc>
                <a:spcPct val="108000"/>
              </a:lnSpc>
            </a:pPr>
            <a:r>
              <a:rPr sz="780" b="1">
                <a:solidFill>
                  <a:srgbClr val="0D223A"/>
                </a:solidFill>
                <a:latin typeface="Aptos Display"/>
              </a:rPr>
              <a:t>5/18</a:t>
            </a:r>
          </a:p>
        </p:txBody>
      </p:sp>
      <p:sp>
        <p:nvSpPr>
          <p:cNvPr id="22" name="Rounded Rectangle 21"/>
          <p:cNvSpPr/>
          <p:nvPr/>
        </p:nvSpPr>
        <p:spPr>
          <a:xfrm>
            <a:off x="10674000" y="6609600"/>
            <a:ext cx="1080000" cy="28800"/>
          </a:xfrm>
          <a:prstGeom prst="roundRect">
            <a:avLst/>
          </a:prstGeom>
          <a:solidFill>
            <a:srgbClr val="D7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674000" y="6609600"/>
            <a:ext cx="300000" cy="28800"/>
          </a:xfrm>
          <a:prstGeom prst="roundRect">
            <a:avLst/>
          </a:prstGeom>
          <a:solidFill>
            <a:srgbClr val="16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119" cy="730799"/>
          </a:xfrm>
          <a:prstGeom prst="rect">
            <a:avLst/>
          </a:prstGeom>
          <a:solidFill>
            <a:srgbClr val="0D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70000" y="162000"/>
            <a:ext cx="259200" cy="259200"/>
          </a:xfrm>
          <a:prstGeom prst="roundRect">
            <a:avLst/>
          </a:prstGeom>
          <a:solidFill>
            <a:srgbClr val="153A5E"/>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1000" b="1">
                <a:solidFill>
                  <a:srgbClr val="FFFFFF"/>
                </a:solidFill>
                <a:latin typeface="Noto Sans JP"/>
              </a:rPr>
              <a:t>▣</a:t>
            </a:r>
          </a:p>
        </p:txBody>
      </p:sp>
      <p:sp>
        <p:nvSpPr>
          <p:cNvPr id="5" name="TextBox 4"/>
          <p:cNvSpPr txBox="1"/>
          <p:nvPr/>
        </p:nvSpPr>
        <p:spPr>
          <a:xfrm>
            <a:off x="619200" y="125999"/>
            <a:ext cx="7380000" cy="223200"/>
          </a:xfrm>
          <a:prstGeom prst="rect">
            <a:avLst/>
          </a:prstGeom>
          <a:noFill/>
        </p:spPr>
        <p:txBody>
          <a:bodyPr wrap="square" lIns="18000" rIns="18000" tIns="7200" bIns="7200">
            <a:noAutofit/>
          </a:bodyPr>
          <a:lstStyle/>
          <a:p>
            <a:pPr algn="l">
              <a:lnSpc>
                <a:spcPct val="108000"/>
              </a:lnSpc>
            </a:pPr>
            <a:r>
              <a:rPr sz="2000" b="1">
                <a:solidFill>
                  <a:srgbClr val="FFFFFF"/>
                </a:solidFill>
                <a:latin typeface="Noto Sans JP"/>
              </a:rPr>
              <a:t>実績ハイライト｜データで見る相模原ダルク</a:t>
            </a:r>
          </a:p>
        </p:txBody>
      </p:sp>
      <p:sp>
        <p:nvSpPr>
          <p:cNvPr id="6" name="TextBox 5"/>
          <p:cNvSpPr txBox="1"/>
          <p:nvPr/>
        </p:nvSpPr>
        <p:spPr>
          <a:xfrm>
            <a:off x="630000" y="396000"/>
            <a:ext cx="7920000" cy="151200"/>
          </a:xfrm>
          <a:prstGeom prst="rect">
            <a:avLst/>
          </a:prstGeom>
          <a:noFill/>
        </p:spPr>
        <p:txBody>
          <a:bodyPr wrap="square" lIns="18000" rIns="18000" tIns="7200" bIns="7200">
            <a:noAutofit/>
          </a:bodyPr>
          <a:lstStyle/>
          <a:p>
            <a:pPr algn="l">
              <a:lnSpc>
                <a:spcPct val="108000"/>
              </a:lnSpc>
            </a:pPr>
            <a:r>
              <a:rPr sz="880" b="0">
                <a:solidFill>
                  <a:srgbClr val="BED3E2"/>
                </a:solidFill>
                <a:latin typeface="Noto Sans JP"/>
              </a:rPr>
              <a:t>開設以来400名以上の依存症当事者を支援し、再使用率低減と卒業後継続率を追求</a:t>
            </a:r>
          </a:p>
        </p:txBody>
      </p:sp>
      <p:sp>
        <p:nvSpPr>
          <p:cNvPr id="7" name="Rounded Rectangle 6"/>
          <p:cNvSpPr/>
          <p:nvPr/>
        </p:nvSpPr>
        <p:spPr>
          <a:xfrm>
            <a:off x="9504000" y="198000"/>
            <a:ext cx="2124000" cy="208800"/>
          </a:xfrm>
          <a:prstGeom prst="roundRect">
            <a:avLst/>
          </a:prstGeom>
          <a:solidFill>
            <a:srgbClr val="EDF3F8"/>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850" b="1">
                <a:solidFill>
                  <a:srgbClr val="0D223A"/>
                </a:solidFill>
                <a:latin typeface="Noto Sans JP"/>
              </a:rPr>
              <a:t>400名以上の支援実績</a:t>
            </a:r>
          </a:p>
        </p:txBody>
      </p:sp>
      <p:sp>
        <p:nvSpPr>
          <p:cNvPr id="8" name="TextBox 7"/>
          <p:cNvSpPr txBox="1"/>
          <p:nvPr/>
        </p:nvSpPr>
        <p:spPr>
          <a:xfrm>
            <a:off x="503999" y="954000"/>
            <a:ext cx="8460000" cy="223200"/>
          </a:xfrm>
          <a:prstGeom prst="rect">
            <a:avLst/>
          </a:prstGeom>
          <a:noFill/>
        </p:spPr>
        <p:txBody>
          <a:bodyPr wrap="square" lIns="18000" rIns="18000" tIns="7200" bIns="7200">
            <a:noAutofit/>
          </a:bodyPr>
          <a:lstStyle/>
          <a:p>
            <a:pPr algn="l">
              <a:lnSpc>
                <a:spcPct val="108000"/>
              </a:lnSpc>
            </a:pPr>
            <a:r>
              <a:rPr sz="1220" b="1">
                <a:solidFill>
                  <a:srgbClr val="0D223A"/>
                </a:solidFill>
                <a:latin typeface="Noto Sans JP"/>
              </a:rPr>
              <a:t>相模原ダルクは、創設以来400名以上の依存症当事者を支援し、5%以下の再使用率、90%以上の卒業後継続率を達成しています。</a:t>
            </a:r>
          </a:p>
        </p:txBody>
      </p:sp>
      <p:sp>
        <p:nvSpPr>
          <p:cNvPr id="9" name="Rounded Rectangle 8"/>
          <p:cNvSpPr/>
          <p:nvPr/>
        </p:nvSpPr>
        <p:spPr>
          <a:xfrm>
            <a:off x="486000" y="1800000"/>
            <a:ext cx="2610000" cy="3401999"/>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6000" y="1800000"/>
            <a:ext cx="28800" cy="3401999"/>
          </a:xfrm>
          <a:prstGeom prst="rect">
            <a:avLst/>
          </a:prstGeom>
          <a:solidFill>
            <a:srgbClr val="2D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530000" y="2052000"/>
            <a:ext cx="432000" cy="432000"/>
          </a:xfrm>
          <a:prstGeom prst="roundRect">
            <a:avLst/>
          </a:prstGeom>
          <a:solidFill>
            <a:srgbClr val="2D7AFF"/>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950" b="1">
                <a:solidFill>
                  <a:srgbClr val="FFFFFF"/>
                </a:solidFill>
                <a:latin typeface="Noto Sans JP"/>
              </a:rPr>
              <a:t/>
            </a:r>
          </a:p>
        </p:txBody>
      </p:sp>
      <p:sp>
        <p:nvSpPr>
          <p:cNvPr id="12" name="TextBox 11"/>
          <p:cNvSpPr txBox="1"/>
          <p:nvPr/>
        </p:nvSpPr>
        <p:spPr>
          <a:xfrm>
            <a:off x="666000" y="2556000"/>
            <a:ext cx="1512000" cy="450000"/>
          </a:xfrm>
          <a:prstGeom prst="rect">
            <a:avLst/>
          </a:prstGeom>
          <a:noFill/>
        </p:spPr>
        <p:txBody>
          <a:bodyPr wrap="square" lIns="18000" rIns="18000" tIns="7200" bIns="7200">
            <a:noAutofit/>
          </a:bodyPr>
          <a:lstStyle/>
          <a:p>
            <a:pPr algn="r">
              <a:lnSpc>
                <a:spcPct val="108000"/>
              </a:lnSpc>
            </a:pPr>
            <a:r>
              <a:rPr sz="3000" b="1">
                <a:solidFill>
                  <a:srgbClr val="0D223A"/>
                </a:solidFill>
                <a:latin typeface="Aptos Display"/>
              </a:rPr>
              <a:t>400</a:t>
            </a:r>
          </a:p>
        </p:txBody>
      </p:sp>
      <p:sp>
        <p:nvSpPr>
          <p:cNvPr id="13" name="TextBox 12"/>
          <p:cNvSpPr txBox="1"/>
          <p:nvPr/>
        </p:nvSpPr>
        <p:spPr>
          <a:xfrm>
            <a:off x="2231999" y="2790000"/>
            <a:ext cx="576000" cy="162000"/>
          </a:xfrm>
          <a:prstGeom prst="rect">
            <a:avLst/>
          </a:prstGeom>
          <a:noFill/>
        </p:spPr>
        <p:txBody>
          <a:bodyPr wrap="square" lIns="18000" rIns="18000" tIns="7200" bIns="7200">
            <a:noAutofit/>
          </a:bodyPr>
          <a:lstStyle/>
          <a:p>
            <a:pPr algn="l">
              <a:lnSpc>
                <a:spcPct val="108000"/>
              </a:lnSpc>
            </a:pPr>
            <a:r>
              <a:rPr sz="1200" b="1">
                <a:solidFill>
                  <a:srgbClr val="5B6B7C"/>
                </a:solidFill>
                <a:latin typeface="Noto Sans JP"/>
              </a:rPr>
              <a:t>名以上</a:t>
            </a:r>
          </a:p>
        </p:txBody>
      </p:sp>
      <p:sp>
        <p:nvSpPr>
          <p:cNvPr id="14" name="TextBox 13"/>
          <p:cNvSpPr txBox="1"/>
          <p:nvPr/>
        </p:nvSpPr>
        <p:spPr>
          <a:xfrm>
            <a:off x="702000" y="3240000"/>
            <a:ext cx="2178000" cy="198000"/>
          </a:xfrm>
          <a:prstGeom prst="rect">
            <a:avLst/>
          </a:prstGeom>
          <a:noFill/>
        </p:spPr>
        <p:txBody>
          <a:bodyPr wrap="square" lIns="18000" rIns="18000" tIns="7200" bIns="7200">
            <a:noAutofit/>
          </a:bodyPr>
          <a:lstStyle/>
          <a:p>
            <a:pPr algn="ctr">
              <a:lnSpc>
                <a:spcPct val="108000"/>
              </a:lnSpc>
            </a:pPr>
            <a:r>
              <a:rPr sz="1300" b="1">
                <a:solidFill>
                  <a:srgbClr val="0D223A"/>
                </a:solidFill>
                <a:latin typeface="Noto Sans JP"/>
              </a:rPr>
              <a:t>回復支援実績</a:t>
            </a:r>
          </a:p>
        </p:txBody>
      </p:sp>
      <p:sp>
        <p:nvSpPr>
          <p:cNvPr id="15" name="TextBox 14"/>
          <p:cNvSpPr txBox="1"/>
          <p:nvPr/>
        </p:nvSpPr>
        <p:spPr>
          <a:xfrm>
            <a:off x="737999" y="3636000"/>
            <a:ext cx="2106000" cy="450000"/>
          </a:xfrm>
          <a:prstGeom prst="rect">
            <a:avLst/>
          </a:prstGeom>
          <a:noFill/>
        </p:spPr>
        <p:txBody>
          <a:bodyPr wrap="square" lIns="18000" rIns="18000" tIns="7200" bIns="7200">
            <a:noAutofit/>
          </a:bodyPr>
          <a:lstStyle/>
          <a:p>
            <a:pPr algn="ctr">
              <a:lnSpc>
                <a:spcPct val="108000"/>
              </a:lnSpc>
            </a:pPr>
            <a:r>
              <a:rPr sz="900" b="0">
                <a:solidFill>
                  <a:srgbClr val="5B6B7C"/>
                </a:solidFill>
                <a:latin typeface="Noto Sans JP"/>
              </a:rPr>
              <a:t>多様な依存対象・背景を持つ当事者を継続的に支援</a:t>
            </a:r>
          </a:p>
        </p:txBody>
      </p:sp>
      <p:sp>
        <p:nvSpPr>
          <p:cNvPr id="16" name="Rounded Rectangle 15"/>
          <p:cNvSpPr/>
          <p:nvPr/>
        </p:nvSpPr>
        <p:spPr>
          <a:xfrm>
            <a:off x="756000" y="4698000"/>
            <a:ext cx="2052000" cy="43200"/>
          </a:xfrm>
          <a:prstGeom prst="roundRect">
            <a:avLst/>
          </a:prstGeom>
          <a:solidFill>
            <a:srgbClr val="D7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56000" y="4698000"/>
            <a:ext cx="1692000" cy="43200"/>
          </a:xfrm>
          <a:prstGeom prst="roundRect">
            <a:avLst/>
          </a:prstGeom>
          <a:solidFill>
            <a:srgbClr val="2D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384000" y="1800000"/>
            <a:ext cx="2610000" cy="3401999"/>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384000" y="1800000"/>
            <a:ext cx="28800" cy="3401999"/>
          </a:xfrm>
          <a:prstGeom prst="rect">
            <a:avLst/>
          </a:prstGeom>
          <a:solidFill>
            <a:srgbClr val="EE57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28000" y="2052000"/>
            <a:ext cx="432000" cy="432000"/>
          </a:xfrm>
          <a:prstGeom prst="roundRect">
            <a:avLst/>
          </a:prstGeom>
          <a:solidFill>
            <a:srgbClr val="EE575B"/>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950" b="1">
                <a:solidFill>
                  <a:srgbClr val="FFFFFF"/>
                </a:solidFill>
                <a:latin typeface="Noto Sans JP"/>
              </a:rPr>
              <a:t/>
            </a:r>
          </a:p>
        </p:txBody>
      </p:sp>
      <p:sp>
        <p:nvSpPr>
          <p:cNvPr id="21" name="TextBox 20"/>
          <p:cNvSpPr txBox="1"/>
          <p:nvPr/>
        </p:nvSpPr>
        <p:spPr>
          <a:xfrm>
            <a:off x="3564000" y="2556000"/>
            <a:ext cx="1512000" cy="450000"/>
          </a:xfrm>
          <a:prstGeom prst="rect">
            <a:avLst/>
          </a:prstGeom>
          <a:noFill/>
        </p:spPr>
        <p:txBody>
          <a:bodyPr wrap="square" lIns="18000" rIns="18000" tIns="7200" bIns="7200">
            <a:noAutofit/>
          </a:bodyPr>
          <a:lstStyle/>
          <a:p>
            <a:pPr algn="r">
              <a:lnSpc>
                <a:spcPct val="108000"/>
              </a:lnSpc>
            </a:pPr>
            <a:r>
              <a:rPr sz="3000" b="1">
                <a:solidFill>
                  <a:srgbClr val="0D223A"/>
                </a:solidFill>
                <a:latin typeface="Aptos Display"/>
              </a:rPr>
              <a:t>5</a:t>
            </a:r>
          </a:p>
        </p:txBody>
      </p:sp>
      <p:sp>
        <p:nvSpPr>
          <p:cNvPr id="22" name="TextBox 21"/>
          <p:cNvSpPr txBox="1"/>
          <p:nvPr/>
        </p:nvSpPr>
        <p:spPr>
          <a:xfrm>
            <a:off x="5130000" y="2790000"/>
            <a:ext cx="576000" cy="162000"/>
          </a:xfrm>
          <a:prstGeom prst="rect">
            <a:avLst/>
          </a:prstGeom>
          <a:noFill/>
        </p:spPr>
        <p:txBody>
          <a:bodyPr wrap="square" lIns="18000" rIns="18000" tIns="7200" bIns="7200">
            <a:noAutofit/>
          </a:bodyPr>
          <a:lstStyle/>
          <a:p>
            <a:pPr algn="l">
              <a:lnSpc>
                <a:spcPct val="108000"/>
              </a:lnSpc>
            </a:pPr>
            <a:r>
              <a:rPr sz="1200" b="1">
                <a:solidFill>
                  <a:srgbClr val="5B6B7C"/>
                </a:solidFill>
                <a:latin typeface="Noto Sans JP"/>
              </a:rPr>
              <a:t>%以下</a:t>
            </a:r>
          </a:p>
        </p:txBody>
      </p:sp>
      <p:sp>
        <p:nvSpPr>
          <p:cNvPr id="23" name="TextBox 22"/>
          <p:cNvSpPr txBox="1"/>
          <p:nvPr/>
        </p:nvSpPr>
        <p:spPr>
          <a:xfrm>
            <a:off x="3600000" y="3240000"/>
            <a:ext cx="2178000" cy="198000"/>
          </a:xfrm>
          <a:prstGeom prst="rect">
            <a:avLst/>
          </a:prstGeom>
          <a:noFill/>
        </p:spPr>
        <p:txBody>
          <a:bodyPr wrap="square" lIns="18000" rIns="18000" tIns="7200" bIns="7200">
            <a:noAutofit/>
          </a:bodyPr>
          <a:lstStyle/>
          <a:p>
            <a:pPr algn="ctr">
              <a:lnSpc>
                <a:spcPct val="108000"/>
              </a:lnSpc>
            </a:pPr>
            <a:r>
              <a:rPr sz="1300" b="1">
                <a:solidFill>
                  <a:srgbClr val="0D223A"/>
                </a:solidFill>
                <a:latin typeface="Noto Sans JP"/>
              </a:rPr>
              <a:t>入所中の再使用率</a:t>
            </a:r>
          </a:p>
        </p:txBody>
      </p:sp>
      <p:sp>
        <p:nvSpPr>
          <p:cNvPr id="24" name="TextBox 23"/>
          <p:cNvSpPr txBox="1"/>
          <p:nvPr/>
        </p:nvSpPr>
        <p:spPr>
          <a:xfrm>
            <a:off x="3636000" y="3636000"/>
            <a:ext cx="2106000" cy="450000"/>
          </a:xfrm>
          <a:prstGeom prst="rect">
            <a:avLst/>
          </a:prstGeom>
          <a:noFill/>
        </p:spPr>
        <p:txBody>
          <a:bodyPr wrap="square" lIns="18000" rIns="18000" tIns="7200" bIns="7200">
            <a:noAutofit/>
          </a:bodyPr>
          <a:lstStyle/>
          <a:p>
            <a:pPr algn="ctr">
              <a:lnSpc>
                <a:spcPct val="108000"/>
              </a:lnSpc>
            </a:pPr>
            <a:r>
              <a:rPr sz="900" b="0">
                <a:solidFill>
                  <a:srgbClr val="5B6B7C"/>
                </a:solidFill>
                <a:latin typeface="Noto Sans JP"/>
              </a:rPr>
              <a:t>徹底した見守りとプログラムによりリスクを低減</a:t>
            </a:r>
          </a:p>
        </p:txBody>
      </p:sp>
      <p:sp>
        <p:nvSpPr>
          <p:cNvPr id="25" name="Rounded Rectangle 24"/>
          <p:cNvSpPr/>
          <p:nvPr/>
        </p:nvSpPr>
        <p:spPr>
          <a:xfrm>
            <a:off x="3654000" y="4698000"/>
            <a:ext cx="2052000" cy="43200"/>
          </a:xfrm>
          <a:prstGeom prst="roundRect">
            <a:avLst/>
          </a:prstGeom>
          <a:solidFill>
            <a:srgbClr val="D7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654000" y="4698000"/>
            <a:ext cx="251999" cy="43200"/>
          </a:xfrm>
          <a:prstGeom prst="roundRect">
            <a:avLst/>
          </a:prstGeom>
          <a:solidFill>
            <a:srgbClr val="EE57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82000" y="1800000"/>
            <a:ext cx="2610000" cy="3401999"/>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82000" y="1800000"/>
            <a:ext cx="28800" cy="3401999"/>
          </a:xfrm>
          <a:prstGeom prst="rect">
            <a:avLst/>
          </a:prstGeom>
          <a:solidFill>
            <a:srgbClr val="17BC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326000" y="2052000"/>
            <a:ext cx="432000" cy="432000"/>
          </a:xfrm>
          <a:prstGeom prst="roundRect">
            <a:avLst/>
          </a:prstGeom>
          <a:solidFill>
            <a:srgbClr val="17BC8B"/>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950" b="1">
                <a:solidFill>
                  <a:srgbClr val="FFFFFF"/>
                </a:solidFill>
                <a:latin typeface="Noto Sans JP"/>
              </a:rPr>
              <a:t/>
            </a:r>
          </a:p>
        </p:txBody>
      </p:sp>
      <p:sp>
        <p:nvSpPr>
          <p:cNvPr id="30" name="TextBox 29"/>
          <p:cNvSpPr txBox="1"/>
          <p:nvPr/>
        </p:nvSpPr>
        <p:spPr>
          <a:xfrm>
            <a:off x="6462000" y="2556000"/>
            <a:ext cx="1512000" cy="450000"/>
          </a:xfrm>
          <a:prstGeom prst="rect">
            <a:avLst/>
          </a:prstGeom>
          <a:noFill/>
        </p:spPr>
        <p:txBody>
          <a:bodyPr wrap="square" lIns="18000" rIns="18000" tIns="7200" bIns="7200">
            <a:noAutofit/>
          </a:bodyPr>
          <a:lstStyle/>
          <a:p>
            <a:pPr algn="r">
              <a:lnSpc>
                <a:spcPct val="108000"/>
              </a:lnSpc>
            </a:pPr>
            <a:r>
              <a:rPr sz="3000" b="1">
                <a:solidFill>
                  <a:srgbClr val="0D223A"/>
                </a:solidFill>
                <a:latin typeface="Aptos Display"/>
              </a:rPr>
              <a:t>90</a:t>
            </a:r>
          </a:p>
        </p:txBody>
      </p:sp>
      <p:sp>
        <p:nvSpPr>
          <p:cNvPr id="31" name="TextBox 30"/>
          <p:cNvSpPr txBox="1"/>
          <p:nvPr/>
        </p:nvSpPr>
        <p:spPr>
          <a:xfrm>
            <a:off x="8028000" y="2790000"/>
            <a:ext cx="576000" cy="162000"/>
          </a:xfrm>
          <a:prstGeom prst="rect">
            <a:avLst/>
          </a:prstGeom>
          <a:noFill/>
        </p:spPr>
        <p:txBody>
          <a:bodyPr wrap="square" lIns="18000" rIns="18000" tIns="7200" bIns="7200">
            <a:noAutofit/>
          </a:bodyPr>
          <a:lstStyle/>
          <a:p>
            <a:pPr algn="l">
              <a:lnSpc>
                <a:spcPct val="108000"/>
              </a:lnSpc>
            </a:pPr>
            <a:r>
              <a:rPr sz="1200" b="1">
                <a:solidFill>
                  <a:srgbClr val="5B6B7C"/>
                </a:solidFill>
                <a:latin typeface="Noto Sans JP"/>
              </a:rPr>
              <a:t>%以上</a:t>
            </a:r>
          </a:p>
        </p:txBody>
      </p:sp>
      <p:sp>
        <p:nvSpPr>
          <p:cNvPr id="32" name="TextBox 31"/>
          <p:cNvSpPr txBox="1"/>
          <p:nvPr/>
        </p:nvSpPr>
        <p:spPr>
          <a:xfrm>
            <a:off x="6498000" y="3240000"/>
            <a:ext cx="2178000" cy="198000"/>
          </a:xfrm>
          <a:prstGeom prst="rect">
            <a:avLst/>
          </a:prstGeom>
          <a:noFill/>
        </p:spPr>
        <p:txBody>
          <a:bodyPr wrap="square" lIns="18000" rIns="18000" tIns="7200" bIns="7200">
            <a:noAutofit/>
          </a:bodyPr>
          <a:lstStyle/>
          <a:p>
            <a:pPr algn="ctr">
              <a:lnSpc>
                <a:spcPct val="108000"/>
              </a:lnSpc>
            </a:pPr>
            <a:r>
              <a:rPr sz="1300" b="1">
                <a:solidFill>
                  <a:srgbClr val="0D223A"/>
                </a:solidFill>
                <a:latin typeface="Noto Sans JP"/>
              </a:rPr>
              <a:t>卒業後の継続率</a:t>
            </a:r>
          </a:p>
        </p:txBody>
      </p:sp>
      <p:sp>
        <p:nvSpPr>
          <p:cNvPr id="33" name="TextBox 32"/>
          <p:cNvSpPr txBox="1"/>
          <p:nvPr/>
        </p:nvSpPr>
        <p:spPr>
          <a:xfrm>
            <a:off x="6534000" y="3636000"/>
            <a:ext cx="2106000" cy="450000"/>
          </a:xfrm>
          <a:prstGeom prst="rect">
            <a:avLst/>
          </a:prstGeom>
          <a:noFill/>
        </p:spPr>
        <p:txBody>
          <a:bodyPr wrap="square" lIns="18000" rIns="18000" tIns="7200" bIns="7200">
            <a:noAutofit/>
          </a:bodyPr>
          <a:lstStyle/>
          <a:p>
            <a:pPr algn="ctr">
              <a:lnSpc>
                <a:spcPct val="108000"/>
              </a:lnSpc>
            </a:pPr>
            <a:r>
              <a:rPr sz="900" b="0">
                <a:solidFill>
                  <a:srgbClr val="5B6B7C"/>
                </a:solidFill>
                <a:latin typeface="Noto Sans JP"/>
              </a:rPr>
              <a:t>医療・所属先・地域と接続して定着を支援</a:t>
            </a:r>
          </a:p>
        </p:txBody>
      </p:sp>
      <p:sp>
        <p:nvSpPr>
          <p:cNvPr id="34" name="Rounded Rectangle 33"/>
          <p:cNvSpPr/>
          <p:nvPr/>
        </p:nvSpPr>
        <p:spPr>
          <a:xfrm>
            <a:off x="6552000" y="4698000"/>
            <a:ext cx="2052000" cy="43200"/>
          </a:xfrm>
          <a:prstGeom prst="roundRect">
            <a:avLst/>
          </a:prstGeom>
          <a:solidFill>
            <a:srgbClr val="D7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552000" y="4698000"/>
            <a:ext cx="1692000" cy="43200"/>
          </a:xfrm>
          <a:prstGeom prst="roundRect">
            <a:avLst/>
          </a:prstGeom>
          <a:solidFill>
            <a:srgbClr val="17BC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180000" y="1800000"/>
            <a:ext cx="2610000" cy="3401999"/>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180000" y="1800000"/>
            <a:ext cx="28800" cy="3401999"/>
          </a:xfrm>
          <a:prstGeom prst="rect">
            <a:avLst/>
          </a:prstGeom>
          <a:solidFill>
            <a:srgbClr val="85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10224000" y="2052000"/>
            <a:ext cx="432000" cy="432000"/>
          </a:xfrm>
          <a:prstGeom prst="roundRect">
            <a:avLst/>
          </a:prstGeom>
          <a:solidFill>
            <a:srgbClr val="8563FF"/>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950" b="1">
                <a:solidFill>
                  <a:srgbClr val="FFFFFF"/>
                </a:solidFill>
                <a:latin typeface="Noto Sans JP"/>
              </a:rPr>
              <a:t/>
            </a:r>
          </a:p>
        </p:txBody>
      </p:sp>
      <p:sp>
        <p:nvSpPr>
          <p:cNvPr id="39" name="TextBox 38"/>
          <p:cNvSpPr txBox="1"/>
          <p:nvPr/>
        </p:nvSpPr>
        <p:spPr>
          <a:xfrm>
            <a:off x="9360000" y="2556000"/>
            <a:ext cx="1512000" cy="450000"/>
          </a:xfrm>
          <a:prstGeom prst="rect">
            <a:avLst/>
          </a:prstGeom>
          <a:noFill/>
        </p:spPr>
        <p:txBody>
          <a:bodyPr wrap="square" lIns="18000" rIns="18000" tIns="7200" bIns="7200">
            <a:noAutofit/>
          </a:bodyPr>
          <a:lstStyle/>
          <a:p>
            <a:pPr algn="r">
              <a:lnSpc>
                <a:spcPct val="108000"/>
              </a:lnSpc>
            </a:pPr>
            <a:r>
              <a:rPr sz="3000" b="1">
                <a:solidFill>
                  <a:srgbClr val="0D223A"/>
                </a:solidFill>
                <a:latin typeface="Aptos Display"/>
              </a:rPr>
              <a:t>70</a:t>
            </a:r>
          </a:p>
        </p:txBody>
      </p:sp>
      <p:sp>
        <p:nvSpPr>
          <p:cNvPr id="40" name="TextBox 39"/>
          <p:cNvSpPr txBox="1"/>
          <p:nvPr/>
        </p:nvSpPr>
        <p:spPr>
          <a:xfrm>
            <a:off x="10926000" y="2790000"/>
            <a:ext cx="576000" cy="162000"/>
          </a:xfrm>
          <a:prstGeom prst="rect">
            <a:avLst/>
          </a:prstGeom>
          <a:noFill/>
        </p:spPr>
        <p:txBody>
          <a:bodyPr wrap="square" lIns="18000" rIns="18000" tIns="7200" bIns="7200">
            <a:noAutofit/>
          </a:bodyPr>
          <a:lstStyle/>
          <a:p>
            <a:pPr algn="l">
              <a:lnSpc>
                <a:spcPct val="108000"/>
              </a:lnSpc>
            </a:pPr>
            <a:r>
              <a:rPr sz="1200" b="1">
                <a:solidFill>
                  <a:srgbClr val="5B6B7C"/>
                </a:solidFill>
                <a:latin typeface="Noto Sans JP"/>
              </a:rPr>
              <a:t>名程度</a:t>
            </a:r>
          </a:p>
        </p:txBody>
      </p:sp>
      <p:sp>
        <p:nvSpPr>
          <p:cNvPr id="41" name="TextBox 40"/>
          <p:cNvSpPr txBox="1"/>
          <p:nvPr/>
        </p:nvSpPr>
        <p:spPr>
          <a:xfrm>
            <a:off x="9396000" y="3240000"/>
            <a:ext cx="2178000" cy="198000"/>
          </a:xfrm>
          <a:prstGeom prst="rect">
            <a:avLst/>
          </a:prstGeom>
          <a:noFill/>
        </p:spPr>
        <p:txBody>
          <a:bodyPr wrap="square" lIns="18000" rIns="18000" tIns="7200" bIns="7200">
            <a:noAutofit/>
          </a:bodyPr>
          <a:lstStyle/>
          <a:p>
            <a:pPr algn="ctr">
              <a:lnSpc>
                <a:spcPct val="108000"/>
              </a:lnSpc>
            </a:pPr>
            <a:r>
              <a:rPr sz="1300" b="1">
                <a:solidFill>
                  <a:srgbClr val="0D223A"/>
                </a:solidFill>
                <a:latin typeface="Noto Sans JP"/>
              </a:rPr>
              <a:t>受け入れ体制</a:t>
            </a:r>
          </a:p>
        </p:txBody>
      </p:sp>
      <p:sp>
        <p:nvSpPr>
          <p:cNvPr id="42" name="TextBox 41"/>
          <p:cNvSpPr txBox="1"/>
          <p:nvPr/>
        </p:nvSpPr>
        <p:spPr>
          <a:xfrm>
            <a:off x="9432000" y="3636000"/>
            <a:ext cx="2106000" cy="450000"/>
          </a:xfrm>
          <a:prstGeom prst="rect">
            <a:avLst/>
          </a:prstGeom>
          <a:noFill/>
        </p:spPr>
        <p:txBody>
          <a:bodyPr wrap="square" lIns="18000" rIns="18000" tIns="7200" bIns="7200">
            <a:noAutofit/>
          </a:bodyPr>
          <a:lstStyle/>
          <a:p>
            <a:pPr algn="ctr">
              <a:lnSpc>
                <a:spcPct val="108000"/>
              </a:lnSpc>
            </a:pPr>
            <a:r>
              <a:rPr sz="900" b="0">
                <a:solidFill>
                  <a:srgbClr val="5B6B7C"/>
                </a:solidFill>
                <a:latin typeface="Noto Sans JP"/>
              </a:rPr>
              <a:t>大型寮と個室寮で段階的な自立をサポート</a:t>
            </a:r>
          </a:p>
        </p:txBody>
      </p:sp>
      <p:sp>
        <p:nvSpPr>
          <p:cNvPr id="43" name="Rounded Rectangle 42"/>
          <p:cNvSpPr/>
          <p:nvPr/>
        </p:nvSpPr>
        <p:spPr>
          <a:xfrm>
            <a:off x="9450000" y="4698000"/>
            <a:ext cx="2052000" cy="43200"/>
          </a:xfrm>
          <a:prstGeom prst="roundRect">
            <a:avLst/>
          </a:prstGeom>
          <a:solidFill>
            <a:srgbClr val="D7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9450000" y="4698000"/>
            <a:ext cx="1692000" cy="43200"/>
          </a:xfrm>
          <a:prstGeom prst="roundRect">
            <a:avLst/>
          </a:prstGeom>
          <a:solidFill>
            <a:srgbClr val="85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70000" y="6588000"/>
            <a:ext cx="5760000" cy="125999"/>
          </a:xfrm>
          <a:prstGeom prst="rect">
            <a:avLst/>
          </a:prstGeom>
          <a:noFill/>
        </p:spPr>
        <p:txBody>
          <a:bodyPr wrap="square" lIns="18000" rIns="18000" tIns="7200" bIns="7200">
            <a:noAutofit/>
          </a:bodyPr>
          <a:lstStyle/>
          <a:p>
            <a:pPr algn="l">
              <a:lnSpc>
                <a:spcPct val="108000"/>
              </a:lnSpc>
            </a:pPr>
            <a:r>
              <a:rPr sz="720" b="0">
                <a:solidFill>
                  <a:srgbClr val="5B6B7C"/>
                </a:solidFill>
                <a:latin typeface="Noto Sans JP"/>
              </a:rPr>
              <a:t>相模原ダルク｜依存症からの回復を全力で支えます</a:t>
            </a:r>
          </a:p>
        </p:txBody>
      </p:sp>
      <p:sp>
        <p:nvSpPr>
          <p:cNvPr id="46" name="TextBox 45"/>
          <p:cNvSpPr txBox="1"/>
          <p:nvPr/>
        </p:nvSpPr>
        <p:spPr>
          <a:xfrm>
            <a:off x="10062000" y="6566399"/>
            <a:ext cx="540000" cy="125999"/>
          </a:xfrm>
          <a:prstGeom prst="rect">
            <a:avLst/>
          </a:prstGeom>
          <a:noFill/>
        </p:spPr>
        <p:txBody>
          <a:bodyPr wrap="square" lIns="18000" rIns="18000" tIns="7200" bIns="7200">
            <a:noAutofit/>
          </a:bodyPr>
          <a:lstStyle/>
          <a:p>
            <a:pPr algn="r">
              <a:lnSpc>
                <a:spcPct val="108000"/>
              </a:lnSpc>
            </a:pPr>
            <a:r>
              <a:rPr sz="780" b="1">
                <a:solidFill>
                  <a:srgbClr val="0D223A"/>
                </a:solidFill>
                <a:latin typeface="Aptos Display"/>
              </a:rPr>
              <a:t>6/18</a:t>
            </a:r>
          </a:p>
        </p:txBody>
      </p:sp>
      <p:sp>
        <p:nvSpPr>
          <p:cNvPr id="47" name="Rounded Rectangle 46"/>
          <p:cNvSpPr/>
          <p:nvPr/>
        </p:nvSpPr>
        <p:spPr>
          <a:xfrm>
            <a:off x="10674000" y="6609600"/>
            <a:ext cx="1080000" cy="28800"/>
          </a:xfrm>
          <a:prstGeom prst="roundRect">
            <a:avLst/>
          </a:prstGeom>
          <a:solidFill>
            <a:srgbClr val="D7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0674000" y="6609600"/>
            <a:ext cx="360000" cy="28800"/>
          </a:xfrm>
          <a:prstGeom prst="roundRect">
            <a:avLst/>
          </a:prstGeom>
          <a:solidFill>
            <a:srgbClr val="16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119" cy="730799"/>
          </a:xfrm>
          <a:prstGeom prst="rect">
            <a:avLst/>
          </a:prstGeom>
          <a:solidFill>
            <a:srgbClr val="0D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70000" y="162000"/>
            <a:ext cx="259200" cy="259200"/>
          </a:xfrm>
          <a:prstGeom prst="roundRect">
            <a:avLst/>
          </a:prstGeom>
          <a:solidFill>
            <a:srgbClr val="153A5E"/>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1000" b="1">
                <a:solidFill>
                  <a:srgbClr val="FFFFFF"/>
                </a:solidFill>
                <a:latin typeface="Noto Sans JP"/>
              </a:rPr>
              <a:t>★</a:t>
            </a:r>
          </a:p>
        </p:txBody>
      </p:sp>
      <p:sp>
        <p:nvSpPr>
          <p:cNvPr id="5" name="TextBox 4"/>
          <p:cNvSpPr txBox="1"/>
          <p:nvPr/>
        </p:nvSpPr>
        <p:spPr>
          <a:xfrm>
            <a:off x="619200" y="125999"/>
            <a:ext cx="7380000" cy="223200"/>
          </a:xfrm>
          <a:prstGeom prst="rect">
            <a:avLst/>
          </a:prstGeom>
          <a:noFill/>
        </p:spPr>
        <p:txBody>
          <a:bodyPr wrap="square" lIns="18000" rIns="18000" tIns="7200" bIns="7200">
            <a:noAutofit/>
          </a:bodyPr>
          <a:lstStyle/>
          <a:p>
            <a:pPr algn="l">
              <a:lnSpc>
                <a:spcPct val="108000"/>
              </a:lnSpc>
            </a:pPr>
            <a:r>
              <a:rPr sz="2000" b="1">
                <a:solidFill>
                  <a:srgbClr val="FFFFFF"/>
                </a:solidFill>
                <a:latin typeface="Noto Sans JP"/>
              </a:rPr>
              <a:t>相模原ダルクの強み（1/3）</a:t>
            </a:r>
          </a:p>
        </p:txBody>
      </p:sp>
      <p:sp>
        <p:nvSpPr>
          <p:cNvPr id="6" name="TextBox 5"/>
          <p:cNvSpPr txBox="1"/>
          <p:nvPr/>
        </p:nvSpPr>
        <p:spPr>
          <a:xfrm>
            <a:off x="630000" y="396000"/>
            <a:ext cx="7920000" cy="151200"/>
          </a:xfrm>
          <a:prstGeom prst="rect">
            <a:avLst/>
          </a:prstGeom>
          <a:noFill/>
        </p:spPr>
        <p:txBody>
          <a:bodyPr wrap="square" lIns="18000" rIns="18000" tIns="7200" bIns="7200">
            <a:noAutofit/>
          </a:bodyPr>
          <a:lstStyle/>
          <a:p>
            <a:pPr algn="l">
              <a:lnSpc>
                <a:spcPct val="108000"/>
              </a:lnSpc>
            </a:pPr>
            <a:r>
              <a:rPr sz="880" b="0">
                <a:solidFill>
                  <a:srgbClr val="BED3E2"/>
                </a:solidFill>
                <a:latin typeface="Noto Sans JP"/>
              </a:rPr>
              <a:t>実質的な実績／最新プログラム／24時間見守り／5段階ステージ制</a:t>
            </a:r>
          </a:p>
        </p:txBody>
      </p:sp>
      <p:sp>
        <p:nvSpPr>
          <p:cNvPr id="7" name="Rounded Rectangle 6"/>
          <p:cNvSpPr/>
          <p:nvPr/>
        </p:nvSpPr>
        <p:spPr>
          <a:xfrm>
            <a:off x="9504000" y="198000"/>
            <a:ext cx="2124000" cy="208800"/>
          </a:xfrm>
          <a:prstGeom prst="roundRect">
            <a:avLst/>
          </a:prstGeom>
          <a:solidFill>
            <a:srgbClr val="EDF3F8"/>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850" b="1">
                <a:solidFill>
                  <a:srgbClr val="0D223A"/>
                </a:solidFill>
                <a:latin typeface="Noto Sans JP"/>
              </a:rPr>
              <a:t>400+ の中核能力</a:t>
            </a:r>
          </a:p>
        </p:txBody>
      </p:sp>
      <p:sp>
        <p:nvSpPr>
          <p:cNvPr id="8" name="TextBox 7"/>
          <p:cNvSpPr txBox="1"/>
          <p:nvPr/>
        </p:nvSpPr>
        <p:spPr>
          <a:xfrm>
            <a:off x="486000" y="954000"/>
            <a:ext cx="9000000" cy="251999"/>
          </a:xfrm>
          <a:prstGeom prst="rect">
            <a:avLst/>
          </a:prstGeom>
          <a:noFill/>
        </p:spPr>
        <p:txBody>
          <a:bodyPr wrap="square" lIns="18000" rIns="18000" tIns="7200" bIns="7200">
            <a:noAutofit/>
          </a:bodyPr>
          <a:lstStyle/>
          <a:p>
            <a:pPr algn="l">
              <a:lnSpc>
                <a:spcPct val="108000"/>
              </a:lnSpc>
            </a:pPr>
            <a:r>
              <a:rPr sz="1160" b="1">
                <a:solidFill>
                  <a:srgbClr val="0D223A"/>
                </a:solidFill>
                <a:latin typeface="Noto Sans JP"/>
              </a:rPr>
              <a:t>相模原ダルクは、依存症からの回復を全力で支えます。医療・行政・司法・地域・家族をつなぎ、包括的な回復支援を提供します。</a:t>
            </a:r>
          </a:p>
        </p:txBody>
      </p:sp>
      <p:sp>
        <p:nvSpPr>
          <p:cNvPr id="9" name="Rounded Rectangle 8"/>
          <p:cNvSpPr/>
          <p:nvPr/>
        </p:nvSpPr>
        <p:spPr>
          <a:xfrm>
            <a:off x="450000" y="1548000"/>
            <a:ext cx="5256000" cy="1584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0000" y="1548000"/>
            <a:ext cx="28800" cy="1584000"/>
          </a:xfrm>
          <a:prstGeom prst="rect">
            <a:avLst/>
          </a:prstGeom>
          <a:solidFill>
            <a:srgbClr val="2D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00" y="1648800"/>
            <a:ext cx="5004000" cy="162000"/>
          </a:xfrm>
          <a:prstGeom prst="rect">
            <a:avLst/>
          </a:prstGeom>
          <a:noFill/>
        </p:spPr>
        <p:txBody>
          <a:bodyPr wrap="square" lIns="18000" rIns="18000" tIns="7200" bIns="7200">
            <a:noAutofit/>
          </a:bodyPr>
          <a:lstStyle/>
          <a:p>
            <a:pPr algn="l">
              <a:lnSpc>
                <a:spcPct val="108000"/>
              </a:lnSpc>
            </a:pPr>
            <a:r>
              <a:rPr sz="1250" b="1">
                <a:solidFill>
                  <a:srgbClr val="0D223A"/>
                </a:solidFill>
                <a:latin typeface="Noto Sans JP"/>
              </a:rPr>
              <a:t>実質的な実績</a:t>
            </a:r>
          </a:p>
        </p:txBody>
      </p:sp>
      <p:sp>
        <p:nvSpPr>
          <p:cNvPr id="12" name="TextBox 11"/>
          <p:cNvSpPr txBox="1"/>
          <p:nvPr/>
        </p:nvSpPr>
        <p:spPr>
          <a:xfrm>
            <a:off x="576000" y="1879200"/>
            <a:ext cx="5004000" cy="1206000"/>
          </a:xfrm>
          <a:prstGeom prst="rect">
            <a:avLst/>
          </a:prstGeom>
          <a:noFill/>
        </p:spPr>
        <p:txBody>
          <a:bodyPr wrap="square" lIns="18000" rIns="18000" tIns="7200" bIns="7200">
            <a:spAutoFit/>
          </a:bodyPr>
          <a:lstStyle/>
          <a:p>
            <a:pPr>
              <a:lnSpc>
                <a:spcPct val="108000"/>
              </a:lnSpc>
              <a:spcAft>
                <a:spcPts val="300"/>
              </a:spcAft>
              <a:defRPr sz="880">
                <a:solidFill>
                  <a:srgbClr val="5B6B7C"/>
                </a:solidFill>
                <a:latin typeface="Noto Sans JP"/>
              </a:defRPr>
            </a:pPr>
            <a:r>
              <a:rPr>
                <a:latin typeface="Noto Sans JP"/>
              </a:rPr>
              <a:t>• テーマで寄り添った回復支援</a:t>
            </a:r>
          </a:p>
          <a:p>
            <a:pPr>
              <a:lnSpc>
                <a:spcPct val="108000"/>
              </a:lnSpc>
              <a:spcAft>
                <a:spcPts val="300"/>
              </a:spcAft>
              <a:defRPr sz="880">
                <a:solidFill>
                  <a:srgbClr val="5B6B7C"/>
                </a:solidFill>
                <a:latin typeface="Noto Sans JP"/>
              </a:defRPr>
            </a:pPr>
            <a:r>
              <a:rPr>
                <a:latin typeface="Noto Sans JP"/>
              </a:rPr>
              <a:t>• 支援実績400名以上</a:t>
            </a:r>
          </a:p>
          <a:p>
            <a:pPr>
              <a:lnSpc>
                <a:spcPct val="108000"/>
              </a:lnSpc>
              <a:spcAft>
                <a:spcPts val="300"/>
              </a:spcAft>
              <a:defRPr sz="880">
                <a:solidFill>
                  <a:srgbClr val="5B6B7C"/>
                </a:solidFill>
                <a:latin typeface="Noto Sans JP"/>
              </a:defRPr>
            </a:pPr>
            <a:r>
              <a:rPr>
                <a:latin typeface="Noto Sans JP"/>
              </a:rPr>
              <a:t>• 継続率90%以上</a:t>
            </a:r>
          </a:p>
        </p:txBody>
      </p:sp>
      <p:sp>
        <p:nvSpPr>
          <p:cNvPr id="13" name="Rounded Rectangle 12"/>
          <p:cNvSpPr/>
          <p:nvPr/>
        </p:nvSpPr>
        <p:spPr>
          <a:xfrm>
            <a:off x="6138000" y="1548000"/>
            <a:ext cx="5256000" cy="1584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38000" y="1548000"/>
            <a:ext cx="28800" cy="1584000"/>
          </a:xfrm>
          <a:prstGeom prst="rect">
            <a:avLst/>
          </a:prstGeom>
          <a:solidFill>
            <a:srgbClr val="F5A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4000" y="1648800"/>
            <a:ext cx="5004000" cy="162000"/>
          </a:xfrm>
          <a:prstGeom prst="rect">
            <a:avLst/>
          </a:prstGeom>
          <a:noFill/>
        </p:spPr>
        <p:txBody>
          <a:bodyPr wrap="square" lIns="18000" rIns="18000" tIns="7200" bIns="7200">
            <a:noAutofit/>
          </a:bodyPr>
          <a:lstStyle/>
          <a:p>
            <a:pPr algn="l">
              <a:lnSpc>
                <a:spcPct val="108000"/>
              </a:lnSpc>
            </a:pPr>
            <a:r>
              <a:rPr sz="1250" b="1">
                <a:solidFill>
                  <a:srgbClr val="0D223A"/>
                </a:solidFill>
                <a:latin typeface="Noto Sans JP"/>
              </a:rPr>
              <a:t>最新プログラム</a:t>
            </a:r>
          </a:p>
        </p:txBody>
      </p:sp>
      <p:sp>
        <p:nvSpPr>
          <p:cNvPr id="16" name="TextBox 15"/>
          <p:cNvSpPr txBox="1"/>
          <p:nvPr/>
        </p:nvSpPr>
        <p:spPr>
          <a:xfrm>
            <a:off x="6264000" y="1879200"/>
            <a:ext cx="5004000" cy="1206000"/>
          </a:xfrm>
          <a:prstGeom prst="rect">
            <a:avLst/>
          </a:prstGeom>
          <a:noFill/>
        </p:spPr>
        <p:txBody>
          <a:bodyPr wrap="square" lIns="18000" rIns="18000" tIns="7200" bIns="7200">
            <a:spAutoFit/>
          </a:bodyPr>
          <a:lstStyle/>
          <a:p>
            <a:pPr>
              <a:lnSpc>
                <a:spcPct val="108000"/>
              </a:lnSpc>
              <a:spcAft>
                <a:spcPts val="300"/>
              </a:spcAft>
              <a:defRPr sz="880">
                <a:solidFill>
                  <a:srgbClr val="5B6B7C"/>
                </a:solidFill>
                <a:latin typeface="Noto Sans JP"/>
              </a:defRPr>
            </a:pPr>
            <a:r>
              <a:rPr>
                <a:latin typeface="Noto Sans JP"/>
              </a:rPr>
              <a:t>• 科学的知見と実践経験を融合</a:t>
            </a:r>
          </a:p>
          <a:p>
            <a:pPr>
              <a:lnSpc>
                <a:spcPct val="108000"/>
              </a:lnSpc>
              <a:spcAft>
                <a:spcPts val="300"/>
              </a:spcAft>
              <a:defRPr sz="880">
                <a:solidFill>
                  <a:srgbClr val="5B6B7C"/>
                </a:solidFill>
                <a:latin typeface="Noto Sans JP"/>
              </a:defRPr>
            </a:pPr>
            <a:r>
              <a:rPr>
                <a:latin typeface="Noto Sans JP"/>
              </a:rPr>
              <a:t>• MATRIX/CBTベースの再発予防</a:t>
            </a:r>
          </a:p>
          <a:p>
            <a:pPr>
              <a:lnSpc>
                <a:spcPct val="108000"/>
              </a:lnSpc>
              <a:spcAft>
                <a:spcPts val="300"/>
              </a:spcAft>
              <a:defRPr sz="880">
                <a:solidFill>
                  <a:srgbClr val="5B6B7C"/>
                </a:solidFill>
                <a:latin typeface="Noto Sans JP"/>
              </a:defRPr>
            </a:pPr>
            <a:r>
              <a:rPr>
                <a:latin typeface="Noto Sans JP"/>
              </a:rPr>
              <a:t>• 12ステッププログラム</a:t>
            </a:r>
          </a:p>
        </p:txBody>
      </p:sp>
      <p:sp>
        <p:nvSpPr>
          <p:cNvPr id="17" name="Rounded Rectangle 16"/>
          <p:cNvSpPr/>
          <p:nvPr/>
        </p:nvSpPr>
        <p:spPr>
          <a:xfrm>
            <a:off x="450000" y="3456000"/>
            <a:ext cx="5256000" cy="1584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0000" y="3456000"/>
            <a:ext cx="28800" cy="1584000"/>
          </a:xfrm>
          <a:prstGeom prst="rect">
            <a:avLst/>
          </a:prstGeom>
          <a:solidFill>
            <a:srgbClr val="17BC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6000" y="3556799"/>
            <a:ext cx="5004000" cy="162000"/>
          </a:xfrm>
          <a:prstGeom prst="rect">
            <a:avLst/>
          </a:prstGeom>
          <a:noFill/>
        </p:spPr>
        <p:txBody>
          <a:bodyPr wrap="square" lIns="18000" rIns="18000" tIns="7200" bIns="7200">
            <a:noAutofit/>
          </a:bodyPr>
          <a:lstStyle/>
          <a:p>
            <a:pPr algn="l">
              <a:lnSpc>
                <a:spcPct val="108000"/>
              </a:lnSpc>
            </a:pPr>
            <a:r>
              <a:rPr sz="1250" b="1">
                <a:solidFill>
                  <a:srgbClr val="0D223A"/>
                </a:solidFill>
                <a:latin typeface="Noto Sans JP"/>
              </a:rPr>
              <a:t>24時間見守り</a:t>
            </a:r>
          </a:p>
        </p:txBody>
      </p:sp>
      <p:sp>
        <p:nvSpPr>
          <p:cNvPr id="20" name="TextBox 19"/>
          <p:cNvSpPr txBox="1"/>
          <p:nvPr/>
        </p:nvSpPr>
        <p:spPr>
          <a:xfrm>
            <a:off x="576000" y="3787200"/>
            <a:ext cx="5004000" cy="1206000"/>
          </a:xfrm>
          <a:prstGeom prst="rect">
            <a:avLst/>
          </a:prstGeom>
          <a:noFill/>
        </p:spPr>
        <p:txBody>
          <a:bodyPr wrap="square" lIns="18000" rIns="18000" tIns="7200" bIns="7200">
            <a:spAutoFit/>
          </a:bodyPr>
          <a:lstStyle/>
          <a:p>
            <a:pPr>
              <a:lnSpc>
                <a:spcPct val="108000"/>
              </a:lnSpc>
              <a:spcAft>
                <a:spcPts val="300"/>
              </a:spcAft>
              <a:defRPr sz="880">
                <a:solidFill>
                  <a:srgbClr val="5B6B7C"/>
                </a:solidFill>
                <a:latin typeface="Noto Sans JP"/>
              </a:defRPr>
            </a:pPr>
            <a:r>
              <a:rPr>
                <a:latin typeface="Noto Sans JP"/>
              </a:rPr>
              <a:t>• 初期回復の安全・安心を担保</a:t>
            </a:r>
          </a:p>
          <a:p>
            <a:pPr>
              <a:lnSpc>
                <a:spcPct val="108000"/>
              </a:lnSpc>
              <a:spcAft>
                <a:spcPts val="300"/>
              </a:spcAft>
              <a:defRPr sz="880">
                <a:solidFill>
                  <a:srgbClr val="5B6B7C"/>
                </a:solidFill>
                <a:latin typeface="Noto Sans JP"/>
              </a:defRPr>
            </a:pPr>
            <a:r>
              <a:rPr>
                <a:latin typeface="Noto Sans JP"/>
              </a:rPr>
              <a:t>• 夜間スタッフ体制</a:t>
            </a:r>
          </a:p>
          <a:p>
            <a:pPr>
              <a:lnSpc>
                <a:spcPct val="108000"/>
              </a:lnSpc>
              <a:spcAft>
                <a:spcPts val="300"/>
              </a:spcAft>
              <a:defRPr sz="880">
                <a:solidFill>
                  <a:srgbClr val="5B6B7C"/>
                </a:solidFill>
                <a:latin typeface="Noto Sans JP"/>
              </a:defRPr>
            </a:pPr>
            <a:r>
              <a:rPr>
                <a:latin typeface="Noto Sans JP"/>
              </a:rPr>
              <a:t>• 緊急リスクを軽減</a:t>
            </a:r>
          </a:p>
        </p:txBody>
      </p:sp>
      <p:sp>
        <p:nvSpPr>
          <p:cNvPr id="21" name="Rounded Rectangle 20"/>
          <p:cNvSpPr/>
          <p:nvPr/>
        </p:nvSpPr>
        <p:spPr>
          <a:xfrm>
            <a:off x="6138000" y="3456000"/>
            <a:ext cx="5256000" cy="1584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38000" y="3456000"/>
            <a:ext cx="28800" cy="1584000"/>
          </a:xfrm>
          <a:prstGeom prst="rect">
            <a:avLst/>
          </a:prstGeom>
          <a:solidFill>
            <a:srgbClr val="85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64000" y="3556799"/>
            <a:ext cx="5004000" cy="162000"/>
          </a:xfrm>
          <a:prstGeom prst="rect">
            <a:avLst/>
          </a:prstGeom>
          <a:noFill/>
        </p:spPr>
        <p:txBody>
          <a:bodyPr wrap="square" lIns="18000" rIns="18000" tIns="7200" bIns="7200">
            <a:noAutofit/>
          </a:bodyPr>
          <a:lstStyle/>
          <a:p>
            <a:pPr algn="l">
              <a:lnSpc>
                <a:spcPct val="108000"/>
              </a:lnSpc>
            </a:pPr>
            <a:r>
              <a:rPr sz="1250" b="1">
                <a:solidFill>
                  <a:srgbClr val="0D223A"/>
                </a:solidFill>
                <a:latin typeface="Noto Sans JP"/>
              </a:rPr>
              <a:t>5段階ステージ制</a:t>
            </a:r>
          </a:p>
        </p:txBody>
      </p:sp>
      <p:sp>
        <p:nvSpPr>
          <p:cNvPr id="24" name="TextBox 23"/>
          <p:cNvSpPr txBox="1"/>
          <p:nvPr/>
        </p:nvSpPr>
        <p:spPr>
          <a:xfrm>
            <a:off x="6264000" y="3787200"/>
            <a:ext cx="5004000" cy="1206000"/>
          </a:xfrm>
          <a:prstGeom prst="rect">
            <a:avLst/>
          </a:prstGeom>
          <a:noFill/>
        </p:spPr>
        <p:txBody>
          <a:bodyPr wrap="square" lIns="18000" rIns="18000" tIns="7200" bIns="7200">
            <a:spAutoFit/>
          </a:bodyPr>
          <a:lstStyle/>
          <a:p>
            <a:pPr>
              <a:lnSpc>
                <a:spcPct val="108000"/>
              </a:lnSpc>
              <a:spcAft>
                <a:spcPts val="300"/>
              </a:spcAft>
              <a:defRPr sz="880">
                <a:solidFill>
                  <a:srgbClr val="5B6B7C"/>
                </a:solidFill>
                <a:latin typeface="Noto Sans JP"/>
              </a:defRPr>
            </a:pPr>
            <a:r>
              <a:rPr>
                <a:latin typeface="Noto Sans JP"/>
              </a:rPr>
              <a:t>• 回復の見える化と段階的自立</a:t>
            </a:r>
          </a:p>
          <a:p>
            <a:pPr>
              <a:lnSpc>
                <a:spcPct val="108000"/>
              </a:lnSpc>
              <a:spcAft>
                <a:spcPts val="300"/>
              </a:spcAft>
              <a:defRPr sz="880">
                <a:solidFill>
                  <a:srgbClr val="5B6B7C"/>
                </a:solidFill>
                <a:latin typeface="Noto Sans JP"/>
              </a:defRPr>
            </a:pPr>
            <a:r>
              <a:rPr>
                <a:latin typeface="Noto Sans JP"/>
              </a:rPr>
              <a:t>• 役割・目標を明確化</a:t>
            </a:r>
          </a:p>
          <a:p>
            <a:pPr>
              <a:lnSpc>
                <a:spcPct val="108000"/>
              </a:lnSpc>
              <a:spcAft>
                <a:spcPts val="300"/>
              </a:spcAft>
              <a:defRPr sz="880">
                <a:solidFill>
                  <a:srgbClr val="5B6B7C"/>
                </a:solidFill>
                <a:latin typeface="Noto Sans JP"/>
              </a:defRPr>
            </a:pPr>
            <a:r>
              <a:rPr>
                <a:latin typeface="Noto Sans JP"/>
              </a:rPr>
              <a:t>• 本人の主体性を育てる</a:t>
            </a:r>
          </a:p>
        </p:txBody>
      </p:sp>
      <p:sp>
        <p:nvSpPr>
          <p:cNvPr id="25" name="TextBox 24"/>
          <p:cNvSpPr txBox="1"/>
          <p:nvPr/>
        </p:nvSpPr>
        <p:spPr>
          <a:xfrm>
            <a:off x="270000" y="6588000"/>
            <a:ext cx="5760000" cy="125999"/>
          </a:xfrm>
          <a:prstGeom prst="rect">
            <a:avLst/>
          </a:prstGeom>
          <a:noFill/>
        </p:spPr>
        <p:txBody>
          <a:bodyPr wrap="square" lIns="18000" rIns="18000" tIns="7200" bIns="7200">
            <a:noAutofit/>
          </a:bodyPr>
          <a:lstStyle/>
          <a:p>
            <a:pPr algn="l">
              <a:lnSpc>
                <a:spcPct val="108000"/>
              </a:lnSpc>
            </a:pPr>
            <a:r>
              <a:rPr sz="720" b="0">
                <a:solidFill>
                  <a:srgbClr val="5B6B7C"/>
                </a:solidFill>
                <a:latin typeface="Noto Sans JP"/>
              </a:rPr>
              <a:t>相模原ダルク｜依存症からの回復を全力で支えます</a:t>
            </a:r>
          </a:p>
        </p:txBody>
      </p:sp>
      <p:sp>
        <p:nvSpPr>
          <p:cNvPr id="26" name="TextBox 25"/>
          <p:cNvSpPr txBox="1"/>
          <p:nvPr/>
        </p:nvSpPr>
        <p:spPr>
          <a:xfrm>
            <a:off x="10062000" y="6566399"/>
            <a:ext cx="540000" cy="125999"/>
          </a:xfrm>
          <a:prstGeom prst="rect">
            <a:avLst/>
          </a:prstGeom>
          <a:noFill/>
        </p:spPr>
        <p:txBody>
          <a:bodyPr wrap="square" lIns="18000" rIns="18000" tIns="7200" bIns="7200">
            <a:noAutofit/>
          </a:bodyPr>
          <a:lstStyle/>
          <a:p>
            <a:pPr algn="r">
              <a:lnSpc>
                <a:spcPct val="108000"/>
              </a:lnSpc>
            </a:pPr>
            <a:r>
              <a:rPr sz="780" b="1">
                <a:solidFill>
                  <a:srgbClr val="0D223A"/>
                </a:solidFill>
                <a:latin typeface="Aptos Display"/>
              </a:rPr>
              <a:t>7/18</a:t>
            </a:r>
          </a:p>
        </p:txBody>
      </p:sp>
      <p:sp>
        <p:nvSpPr>
          <p:cNvPr id="27" name="Rounded Rectangle 26"/>
          <p:cNvSpPr/>
          <p:nvPr/>
        </p:nvSpPr>
        <p:spPr>
          <a:xfrm>
            <a:off x="10674000" y="6609600"/>
            <a:ext cx="1080000" cy="28800"/>
          </a:xfrm>
          <a:prstGeom prst="roundRect">
            <a:avLst/>
          </a:prstGeom>
          <a:solidFill>
            <a:srgbClr val="D7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0674000" y="6609600"/>
            <a:ext cx="420000" cy="28800"/>
          </a:xfrm>
          <a:prstGeom prst="roundRect">
            <a:avLst/>
          </a:prstGeom>
          <a:solidFill>
            <a:srgbClr val="16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119" cy="730799"/>
          </a:xfrm>
          <a:prstGeom prst="rect">
            <a:avLst/>
          </a:prstGeom>
          <a:solidFill>
            <a:srgbClr val="0D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70000" y="162000"/>
            <a:ext cx="259200" cy="259200"/>
          </a:xfrm>
          <a:prstGeom prst="roundRect">
            <a:avLst/>
          </a:prstGeom>
          <a:solidFill>
            <a:srgbClr val="153A5E"/>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1000" b="1">
                <a:solidFill>
                  <a:srgbClr val="FFFFFF"/>
                </a:solidFill>
                <a:latin typeface="Noto Sans JP"/>
              </a:rPr>
              <a:t>★</a:t>
            </a:r>
          </a:p>
        </p:txBody>
      </p:sp>
      <p:sp>
        <p:nvSpPr>
          <p:cNvPr id="5" name="TextBox 4"/>
          <p:cNvSpPr txBox="1"/>
          <p:nvPr/>
        </p:nvSpPr>
        <p:spPr>
          <a:xfrm>
            <a:off x="619200" y="125999"/>
            <a:ext cx="7380000" cy="223200"/>
          </a:xfrm>
          <a:prstGeom prst="rect">
            <a:avLst/>
          </a:prstGeom>
          <a:noFill/>
        </p:spPr>
        <p:txBody>
          <a:bodyPr wrap="square" lIns="18000" rIns="18000" tIns="7200" bIns="7200">
            <a:noAutofit/>
          </a:bodyPr>
          <a:lstStyle/>
          <a:p>
            <a:pPr algn="l">
              <a:lnSpc>
                <a:spcPct val="108000"/>
              </a:lnSpc>
            </a:pPr>
            <a:r>
              <a:rPr sz="2000" b="1">
                <a:solidFill>
                  <a:srgbClr val="FFFFFF"/>
                </a:solidFill>
                <a:latin typeface="Noto Sans JP"/>
              </a:rPr>
              <a:t>相模原ダルクの強み（2/3）</a:t>
            </a:r>
          </a:p>
        </p:txBody>
      </p:sp>
      <p:sp>
        <p:nvSpPr>
          <p:cNvPr id="6" name="TextBox 5"/>
          <p:cNvSpPr txBox="1"/>
          <p:nvPr/>
        </p:nvSpPr>
        <p:spPr>
          <a:xfrm>
            <a:off x="630000" y="396000"/>
            <a:ext cx="7920000" cy="151200"/>
          </a:xfrm>
          <a:prstGeom prst="rect">
            <a:avLst/>
          </a:prstGeom>
          <a:noFill/>
        </p:spPr>
        <p:txBody>
          <a:bodyPr wrap="square" lIns="18000" rIns="18000" tIns="7200" bIns="7200">
            <a:noAutofit/>
          </a:bodyPr>
          <a:lstStyle/>
          <a:p>
            <a:pPr algn="l">
              <a:lnSpc>
                <a:spcPct val="108000"/>
              </a:lnSpc>
            </a:pPr>
            <a:r>
              <a:rPr sz="880" b="0">
                <a:solidFill>
                  <a:srgbClr val="BED3E2"/>
                </a:solidFill>
                <a:latin typeface="Noto Sans JP"/>
              </a:rPr>
              <a:t>関東圏最大規模の設備／当事者スタッフ／経験豊富な理事陣／就労継続支援B型</a:t>
            </a:r>
          </a:p>
        </p:txBody>
      </p:sp>
      <p:sp>
        <p:nvSpPr>
          <p:cNvPr id="7" name="Rounded Rectangle 6"/>
          <p:cNvSpPr/>
          <p:nvPr/>
        </p:nvSpPr>
        <p:spPr>
          <a:xfrm>
            <a:off x="9504000" y="198000"/>
            <a:ext cx="2124000" cy="208800"/>
          </a:xfrm>
          <a:prstGeom prst="roundRect">
            <a:avLst/>
          </a:prstGeom>
          <a:solidFill>
            <a:srgbClr val="EDF3F8"/>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850" b="1">
                <a:solidFill>
                  <a:srgbClr val="0D223A"/>
                </a:solidFill>
                <a:latin typeface="Noto Sans JP"/>
              </a:rPr>
              <a:t>70名 の中核能力</a:t>
            </a:r>
          </a:p>
        </p:txBody>
      </p:sp>
      <p:sp>
        <p:nvSpPr>
          <p:cNvPr id="8" name="TextBox 7"/>
          <p:cNvSpPr txBox="1"/>
          <p:nvPr/>
        </p:nvSpPr>
        <p:spPr>
          <a:xfrm>
            <a:off x="486000" y="954000"/>
            <a:ext cx="9000000" cy="251999"/>
          </a:xfrm>
          <a:prstGeom prst="rect">
            <a:avLst/>
          </a:prstGeom>
          <a:noFill/>
        </p:spPr>
        <p:txBody>
          <a:bodyPr wrap="square" lIns="18000" rIns="18000" tIns="7200" bIns="7200">
            <a:noAutofit/>
          </a:bodyPr>
          <a:lstStyle/>
          <a:p>
            <a:pPr algn="l">
              <a:lnSpc>
                <a:spcPct val="108000"/>
              </a:lnSpc>
            </a:pPr>
            <a:r>
              <a:rPr sz="1160" b="1">
                <a:solidFill>
                  <a:srgbClr val="0D223A"/>
                </a:solidFill>
                <a:latin typeface="Noto Sans JP"/>
              </a:rPr>
              <a:t>相模原ダルクは、依存症からの回復を全力で支えます。医療・行政・司法・地域・家族をつなぎ、包括的な回復支援を提供します。</a:t>
            </a:r>
          </a:p>
        </p:txBody>
      </p:sp>
      <p:sp>
        <p:nvSpPr>
          <p:cNvPr id="9" name="Rounded Rectangle 8"/>
          <p:cNvSpPr/>
          <p:nvPr/>
        </p:nvSpPr>
        <p:spPr>
          <a:xfrm>
            <a:off x="450000" y="1548000"/>
            <a:ext cx="5256000" cy="1584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0000" y="1548000"/>
            <a:ext cx="28800" cy="1584000"/>
          </a:xfrm>
          <a:prstGeom prst="rect">
            <a:avLst/>
          </a:prstGeom>
          <a:solidFill>
            <a:srgbClr val="16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00" y="1648800"/>
            <a:ext cx="5004000" cy="162000"/>
          </a:xfrm>
          <a:prstGeom prst="rect">
            <a:avLst/>
          </a:prstGeom>
          <a:noFill/>
        </p:spPr>
        <p:txBody>
          <a:bodyPr wrap="square" lIns="18000" rIns="18000" tIns="7200" bIns="7200">
            <a:noAutofit/>
          </a:bodyPr>
          <a:lstStyle/>
          <a:p>
            <a:pPr algn="l">
              <a:lnSpc>
                <a:spcPct val="108000"/>
              </a:lnSpc>
            </a:pPr>
            <a:r>
              <a:rPr sz="1250" b="1">
                <a:solidFill>
                  <a:srgbClr val="0D223A"/>
                </a:solidFill>
                <a:latin typeface="Noto Sans JP"/>
              </a:rPr>
              <a:t>関東圏最大規模の設備</a:t>
            </a:r>
          </a:p>
        </p:txBody>
      </p:sp>
      <p:sp>
        <p:nvSpPr>
          <p:cNvPr id="12" name="TextBox 11"/>
          <p:cNvSpPr txBox="1"/>
          <p:nvPr/>
        </p:nvSpPr>
        <p:spPr>
          <a:xfrm>
            <a:off x="576000" y="1879200"/>
            <a:ext cx="5004000" cy="1206000"/>
          </a:xfrm>
          <a:prstGeom prst="rect">
            <a:avLst/>
          </a:prstGeom>
          <a:noFill/>
        </p:spPr>
        <p:txBody>
          <a:bodyPr wrap="square" lIns="18000" rIns="18000" tIns="7200" bIns="7200">
            <a:spAutoFit/>
          </a:bodyPr>
          <a:lstStyle/>
          <a:p>
            <a:pPr>
              <a:lnSpc>
                <a:spcPct val="108000"/>
              </a:lnSpc>
              <a:spcAft>
                <a:spcPts val="300"/>
              </a:spcAft>
              <a:defRPr sz="880">
                <a:solidFill>
                  <a:srgbClr val="5B6B7C"/>
                </a:solidFill>
                <a:latin typeface="Noto Sans JP"/>
              </a:defRPr>
            </a:pPr>
            <a:r>
              <a:rPr>
                <a:latin typeface="Noto Sans JP"/>
              </a:rPr>
              <a:t>• 大型寮で70名程度を受け入れ</a:t>
            </a:r>
          </a:p>
          <a:p>
            <a:pPr>
              <a:lnSpc>
                <a:spcPct val="108000"/>
              </a:lnSpc>
              <a:spcAft>
                <a:spcPts val="300"/>
              </a:spcAft>
              <a:defRPr sz="880">
                <a:solidFill>
                  <a:srgbClr val="5B6B7C"/>
                </a:solidFill>
                <a:latin typeface="Noto Sans JP"/>
              </a:defRPr>
            </a:pPr>
            <a:r>
              <a:rPr>
                <a:latin typeface="Noto Sans JP"/>
              </a:rPr>
              <a:t>• 大空間デイケア＋個室寮</a:t>
            </a:r>
          </a:p>
          <a:p>
            <a:pPr>
              <a:lnSpc>
                <a:spcPct val="108000"/>
              </a:lnSpc>
              <a:spcAft>
                <a:spcPts val="300"/>
              </a:spcAft>
              <a:defRPr sz="880">
                <a:solidFill>
                  <a:srgbClr val="5B6B7C"/>
                </a:solidFill>
                <a:latin typeface="Noto Sans JP"/>
              </a:defRPr>
            </a:pPr>
            <a:r>
              <a:rPr>
                <a:latin typeface="Noto Sans JP"/>
              </a:rPr>
              <a:t>• 専用車での送迎支援あり</a:t>
            </a:r>
          </a:p>
        </p:txBody>
      </p:sp>
      <p:sp>
        <p:nvSpPr>
          <p:cNvPr id="13" name="Rounded Rectangle 12"/>
          <p:cNvSpPr/>
          <p:nvPr/>
        </p:nvSpPr>
        <p:spPr>
          <a:xfrm>
            <a:off x="6138000" y="1548000"/>
            <a:ext cx="5256000" cy="1584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38000" y="1548000"/>
            <a:ext cx="28800" cy="1584000"/>
          </a:xfrm>
          <a:prstGeom prst="rect">
            <a:avLst/>
          </a:prstGeom>
          <a:solidFill>
            <a:srgbClr val="F5A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4000" y="1648800"/>
            <a:ext cx="5004000" cy="162000"/>
          </a:xfrm>
          <a:prstGeom prst="rect">
            <a:avLst/>
          </a:prstGeom>
          <a:noFill/>
        </p:spPr>
        <p:txBody>
          <a:bodyPr wrap="square" lIns="18000" rIns="18000" tIns="7200" bIns="7200">
            <a:noAutofit/>
          </a:bodyPr>
          <a:lstStyle/>
          <a:p>
            <a:pPr algn="l">
              <a:lnSpc>
                <a:spcPct val="108000"/>
              </a:lnSpc>
            </a:pPr>
            <a:r>
              <a:rPr sz="1250" b="1">
                <a:solidFill>
                  <a:srgbClr val="0D223A"/>
                </a:solidFill>
                <a:latin typeface="Noto Sans JP"/>
              </a:rPr>
              <a:t>当事者スタッフ多数在籍</a:t>
            </a:r>
          </a:p>
        </p:txBody>
      </p:sp>
      <p:sp>
        <p:nvSpPr>
          <p:cNvPr id="16" name="TextBox 15"/>
          <p:cNvSpPr txBox="1"/>
          <p:nvPr/>
        </p:nvSpPr>
        <p:spPr>
          <a:xfrm>
            <a:off x="6264000" y="1879200"/>
            <a:ext cx="5004000" cy="1206000"/>
          </a:xfrm>
          <a:prstGeom prst="rect">
            <a:avLst/>
          </a:prstGeom>
          <a:noFill/>
        </p:spPr>
        <p:txBody>
          <a:bodyPr wrap="square" lIns="18000" rIns="18000" tIns="7200" bIns="7200">
            <a:spAutoFit/>
          </a:bodyPr>
          <a:lstStyle/>
          <a:p>
            <a:pPr>
              <a:lnSpc>
                <a:spcPct val="108000"/>
              </a:lnSpc>
              <a:spcAft>
                <a:spcPts val="300"/>
              </a:spcAft>
              <a:defRPr sz="880">
                <a:solidFill>
                  <a:srgbClr val="5B6B7C"/>
                </a:solidFill>
                <a:latin typeface="Noto Sans JP"/>
              </a:defRPr>
            </a:pPr>
            <a:r>
              <a:rPr>
                <a:latin typeface="Noto Sans JP"/>
              </a:rPr>
              <a:t>• 経験者だからできる寄り添い</a:t>
            </a:r>
          </a:p>
          <a:p>
            <a:pPr>
              <a:lnSpc>
                <a:spcPct val="108000"/>
              </a:lnSpc>
              <a:spcAft>
                <a:spcPts val="300"/>
              </a:spcAft>
              <a:defRPr sz="880">
                <a:solidFill>
                  <a:srgbClr val="5B6B7C"/>
                </a:solidFill>
                <a:latin typeface="Noto Sans JP"/>
              </a:defRPr>
            </a:pPr>
            <a:r>
              <a:rPr>
                <a:latin typeface="Noto Sans JP"/>
              </a:rPr>
              <a:t>• 深い共感と実践的助言</a:t>
            </a:r>
          </a:p>
          <a:p>
            <a:pPr>
              <a:lnSpc>
                <a:spcPct val="108000"/>
              </a:lnSpc>
              <a:spcAft>
                <a:spcPts val="300"/>
              </a:spcAft>
              <a:defRPr sz="880">
                <a:solidFill>
                  <a:srgbClr val="5B6B7C"/>
                </a:solidFill>
                <a:latin typeface="Noto Sans JP"/>
              </a:defRPr>
            </a:pPr>
            <a:r>
              <a:rPr>
                <a:latin typeface="Noto Sans JP"/>
              </a:rPr>
              <a:t>• ピア支援で回復を後押し</a:t>
            </a:r>
          </a:p>
        </p:txBody>
      </p:sp>
      <p:sp>
        <p:nvSpPr>
          <p:cNvPr id="17" name="Rounded Rectangle 16"/>
          <p:cNvSpPr/>
          <p:nvPr/>
        </p:nvSpPr>
        <p:spPr>
          <a:xfrm>
            <a:off x="450000" y="3456000"/>
            <a:ext cx="5256000" cy="1584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0000" y="3456000"/>
            <a:ext cx="28800" cy="1584000"/>
          </a:xfrm>
          <a:prstGeom prst="rect">
            <a:avLst/>
          </a:prstGeom>
          <a:solidFill>
            <a:srgbClr val="17BC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6000" y="3556799"/>
            <a:ext cx="5004000" cy="162000"/>
          </a:xfrm>
          <a:prstGeom prst="rect">
            <a:avLst/>
          </a:prstGeom>
          <a:noFill/>
        </p:spPr>
        <p:txBody>
          <a:bodyPr wrap="square" lIns="18000" rIns="18000" tIns="7200" bIns="7200">
            <a:noAutofit/>
          </a:bodyPr>
          <a:lstStyle/>
          <a:p>
            <a:pPr algn="l">
              <a:lnSpc>
                <a:spcPct val="108000"/>
              </a:lnSpc>
            </a:pPr>
            <a:r>
              <a:rPr sz="1250" b="1">
                <a:solidFill>
                  <a:srgbClr val="0D223A"/>
                </a:solidFill>
                <a:latin typeface="Noto Sans JP"/>
              </a:rPr>
              <a:t>経験豊富な理事陣</a:t>
            </a:r>
          </a:p>
        </p:txBody>
      </p:sp>
      <p:sp>
        <p:nvSpPr>
          <p:cNvPr id="20" name="TextBox 19"/>
          <p:cNvSpPr txBox="1"/>
          <p:nvPr/>
        </p:nvSpPr>
        <p:spPr>
          <a:xfrm>
            <a:off x="576000" y="3787200"/>
            <a:ext cx="5004000" cy="1206000"/>
          </a:xfrm>
          <a:prstGeom prst="rect">
            <a:avLst/>
          </a:prstGeom>
          <a:noFill/>
        </p:spPr>
        <p:txBody>
          <a:bodyPr wrap="square" lIns="18000" rIns="18000" tIns="7200" bIns="7200">
            <a:spAutoFit/>
          </a:bodyPr>
          <a:lstStyle/>
          <a:p>
            <a:pPr>
              <a:lnSpc>
                <a:spcPct val="108000"/>
              </a:lnSpc>
              <a:spcAft>
                <a:spcPts val="300"/>
              </a:spcAft>
              <a:defRPr sz="880">
                <a:solidFill>
                  <a:srgbClr val="5B6B7C"/>
                </a:solidFill>
                <a:latin typeface="Noto Sans JP"/>
              </a:defRPr>
            </a:pPr>
            <a:r>
              <a:rPr>
                <a:latin typeface="Noto Sans JP"/>
              </a:rPr>
              <a:t>• 法務・福祉・司法と連携する知見</a:t>
            </a:r>
          </a:p>
          <a:p>
            <a:pPr>
              <a:lnSpc>
                <a:spcPct val="108000"/>
              </a:lnSpc>
              <a:spcAft>
                <a:spcPts val="300"/>
              </a:spcAft>
              <a:defRPr sz="880">
                <a:solidFill>
                  <a:srgbClr val="5B6B7C"/>
                </a:solidFill>
                <a:latin typeface="Noto Sans JP"/>
              </a:defRPr>
            </a:pPr>
            <a:r>
              <a:rPr>
                <a:latin typeface="Noto Sans JP"/>
              </a:rPr>
              <a:t>• 開設から10年以上の安定運営</a:t>
            </a:r>
          </a:p>
          <a:p>
            <a:pPr>
              <a:lnSpc>
                <a:spcPct val="108000"/>
              </a:lnSpc>
              <a:spcAft>
                <a:spcPts val="300"/>
              </a:spcAft>
              <a:defRPr sz="880">
                <a:solidFill>
                  <a:srgbClr val="5B6B7C"/>
                </a:solidFill>
                <a:latin typeface="Noto Sans JP"/>
              </a:defRPr>
            </a:pPr>
            <a:r>
              <a:rPr>
                <a:latin typeface="Noto Sans JP"/>
              </a:rPr>
              <a:t>• 組織全体で回復にコミット</a:t>
            </a:r>
          </a:p>
        </p:txBody>
      </p:sp>
      <p:sp>
        <p:nvSpPr>
          <p:cNvPr id="21" name="Rounded Rectangle 20"/>
          <p:cNvSpPr/>
          <p:nvPr/>
        </p:nvSpPr>
        <p:spPr>
          <a:xfrm>
            <a:off x="6138000" y="3456000"/>
            <a:ext cx="5256000" cy="1584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38000" y="3456000"/>
            <a:ext cx="28800" cy="1584000"/>
          </a:xfrm>
          <a:prstGeom prst="rect">
            <a:avLst/>
          </a:prstGeom>
          <a:solidFill>
            <a:srgbClr val="85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64000" y="3556799"/>
            <a:ext cx="5004000" cy="162000"/>
          </a:xfrm>
          <a:prstGeom prst="rect">
            <a:avLst/>
          </a:prstGeom>
          <a:noFill/>
        </p:spPr>
        <p:txBody>
          <a:bodyPr wrap="square" lIns="18000" rIns="18000" tIns="7200" bIns="7200">
            <a:noAutofit/>
          </a:bodyPr>
          <a:lstStyle/>
          <a:p>
            <a:pPr algn="l">
              <a:lnSpc>
                <a:spcPct val="108000"/>
              </a:lnSpc>
            </a:pPr>
            <a:r>
              <a:rPr sz="1250" b="1">
                <a:solidFill>
                  <a:srgbClr val="0D223A"/>
                </a:solidFill>
                <a:latin typeface="Noto Sans JP"/>
              </a:rPr>
              <a:t>就労継続支援B型</a:t>
            </a:r>
          </a:p>
        </p:txBody>
      </p:sp>
      <p:sp>
        <p:nvSpPr>
          <p:cNvPr id="24" name="TextBox 23"/>
          <p:cNvSpPr txBox="1"/>
          <p:nvPr/>
        </p:nvSpPr>
        <p:spPr>
          <a:xfrm>
            <a:off x="6264000" y="3787200"/>
            <a:ext cx="5004000" cy="1206000"/>
          </a:xfrm>
          <a:prstGeom prst="rect">
            <a:avLst/>
          </a:prstGeom>
          <a:noFill/>
        </p:spPr>
        <p:txBody>
          <a:bodyPr wrap="square" lIns="18000" rIns="18000" tIns="7200" bIns="7200">
            <a:spAutoFit/>
          </a:bodyPr>
          <a:lstStyle/>
          <a:p>
            <a:pPr>
              <a:lnSpc>
                <a:spcPct val="108000"/>
              </a:lnSpc>
              <a:spcAft>
                <a:spcPts val="300"/>
              </a:spcAft>
              <a:defRPr sz="880">
                <a:solidFill>
                  <a:srgbClr val="5B6B7C"/>
                </a:solidFill>
                <a:latin typeface="Noto Sans JP"/>
              </a:defRPr>
            </a:pPr>
            <a:r>
              <a:rPr>
                <a:latin typeface="Noto Sans JP"/>
              </a:rPr>
              <a:t>• 自立に向けた就労のステップ</a:t>
            </a:r>
          </a:p>
          <a:p>
            <a:pPr>
              <a:lnSpc>
                <a:spcPct val="108000"/>
              </a:lnSpc>
              <a:spcAft>
                <a:spcPts val="300"/>
              </a:spcAft>
              <a:defRPr sz="880">
                <a:solidFill>
                  <a:srgbClr val="5B6B7C"/>
                </a:solidFill>
                <a:latin typeface="Noto Sans JP"/>
              </a:defRPr>
            </a:pPr>
            <a:r>
              <a:rPr>
                <a:latin typeface="Noto Sans JP"/>
              </a:rPr>
              <a:t>• 短時間から開始可能</a:t>
            </a:r>
          </a:p>
          <a:p>
            <a:pPr>
              <a:lnSpc>
                <a:spcPct val="108000"/>
              </a:lnSpc>
              <a:spcAft>
                <a:spcPts val="300"/>
              </a:spcAft>
              <a:defRPr sz="880">
                <a:solidFill>
                  <a:srgbClr val="5B6B7C"/>
                </a:solidFill>
                <a:latin typeface="Noto Sans JP"/>
              </a:defRPr>
            </a:pPr>
            <a:r>
              <a:rPr>
                <a:latin typeface="Noto Sans JP"/>
              </a:rPr>
              <a:t>• 一般就労へのステップとして機能</a:t>
            </a:r>
          </a:p>
        </p:txBody>
      </p:sp>
      <p:sp>
        <p:nvSpPr>
          <p:cNvPr id="25" name="TextBox 24"/>
          <p:cNvSpPr txBox="1"/>
          <p:nvPr/>
        </p:nvSpPr>
        <p:spPr>
          <a:xfrm>
            <a:off x="270000" y="6588000"/>
            <a:ext cx="5760000" cy="125999"/>
          </a:xfrm>
          <a:prstGeom prst="rect">
            <a:avLst/>
          </a:prstGeom>
          <a:noFill/>
        </p:spPr>
        <p:txBody>
          <a:bodyPr wrap="square" lIns="18000" rIns="18000" tIns="7200" bIns="7200">
            <a:noAutofit/>
          </a:bodyPr>
          <a:lstStyle/>
          <a:p>
            <a:pPr algn="l">
              <a:lnSpc>
                <a:spcPct val="108000"/>
              </a:lnSpc>
            </a:pPr>
            <a:r>
              <a:rPr sz="720" b="0">
                <a:solidFill>
                  <a:srgbClr val="5B6B7C"/>
                </a:solidFill>
                <a:latin typeface="Noto Sans JP"/>
              </a:rPr>
              <a:t>相模原ダルク｜依存症からの回復を全力で支えます</a:t>
            </a:r>
          </a:p>
        </p:txBody>
      </p:sp>
      <p:sp>
        <p:nvSpPr>
          <p:cNvPr id="26" name="TextBox 25"/>
          <p:cNvSpPr txBox="1"/>
          <p:nvPr/>
        </p:nvSpPr>
        <p:spPr>
          <a:xfrm>
            <a:off x="10062000" y="6566399"/>
            <a:ext cx="540000" cy="125999"/>
          </a:xfrm>
          <a:prstGeom prst="rect">
            <a:avLst/>
          </a:prstGeom>
          <a:noFill/>
        </p:spPr>
        <p:txBody>
          <a:bodyPr wrap="square" lIns="18000" rIns="18000" tIns="7200" bIns="7200">
            <a:noAutofit/>
          </a:bodyPr>
          <a:lstStyle/>
          <a:p>
            <a:pPr algn="r">
              <a:lnSpc>
                <a:spcPct val="108000"/>
              </a:lnSpc>
            </a:pPr>
            <a:r>
              <a:rPr sz="780" b="1">
                <a:solidFill>
                  <a:srgbClr val="0D223A"/>
                </a:solidFill>
                <a:latin typeface="Aptos Display"/>
              </a:rPr>
              <a:t>8/18</a:t>
            </a:r>
          </a:p>
        </p:txBody>
      </p:sp>
      <p:sp>
        <p:nvSpPr>
          <p:cNvPr id="27" name="Rounded Rectangle 26"/>
          <p:cNvSpPr/>
          <p:nvPr/>
        </p:nvSpPr>
        <p:spPr>
          <a:xfrm>
            <a:off x="10674000" y="6609600"/>
            <a:ext cx="1080000" cy="28800"/>
          </a:xfrm>
          <a:prstGeom prst="roundRect">
            <a:avLst/>
          </a:prstGeom>
          <a:solidFill>
            <a:srgbClr val="D7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0674000" y="6609600"/>
            <a:ext cx="480000" cy="28800"/>
          </a:xfrm>
          <a:prstGeom prst="roundRect">
            <a:avLst/>
          </a:prstGeom>
          <a:solidFill>
            <a:srgbClr val="16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119" cy="730799"/>
          </a:xfrm>
          <a:prstGeom prst="rect">
            <a:avLst/>
          </a:prstGeom>
          <a:solidFill>
            <a:srgbClr val="0D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70000" y="162000"/>
            <a:ext cx="259200" cy="259200"/>
          </a:xfrm>
          <a:prstGeom prst="roundRect">
            <a:avLst/>
          </a:prstGeom>
          <a:solidFill>
            <a:srgbClr val="153A5E"/>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1000" b="1">
                <a:solidFill>
                  <a:srgbClr val="FFFFFF"/>
                </a:solidFill>
                <a:latin typeface="Noto Sans JP"/>
              </a:rPr>
              <a:t>★</a:t>
            </a:r>
          </a:p>
        </p:txBody>
      </p:sp>
      <p:sp>
        <p:nvSpPr>
          <p:cNvPr id="5" name="TextBox 4"/>
          <p:cNvSpPr txBox="1"/>
          <p:nvPr/>
        </p:nvSpPr>
        <p:spPr>
          <a:xfrm>
            <a:off x="619200" y="125999"/>
            <a:ext cx="7380000" cy="223200"/>
          </a:xfrm>
          <a:prstGeom prst="rect">
            <a:avLst/>
          </a:prstGeom>
          <a:noFill/>
        </p:spPr>
        <p:txBody>
          <a:bodyPr wrap="square" lIns="18000" rIns="18000" tIns="7200" bIns="7200">
            <a:noAutofit/>
          </a:bodyPr>
          <a:lstStyle/>
          <a:p>
            <a:pPr algn="l">
              <a:lnSpc>
                <a:spcPct val="108000"/>
              </a:lnSpc>
            </a:pPr>
            <a:r>
              <a:rPr sz="2000" b="1">
                <a:solidFill>
                  <a:srgbClr val="FFFFFF"/>
                </a:solidFill>
                <a:latin typeface="Noto Sans JP"/>
              </a:rPr>
              <a:t>相模原ダルクの強み（3/3）</a:t>
            </a:r>
          </a:p>
        </p:txBody>
      </p:sp>
      <p:sp>
        <p:nvSpPr>
          <p:cNvPr id="6" name="TextBox 5"/>
          <p:cNvSpPr txBox="1"/>
          <p:nvPr/>
        </p:nvSpPr>
        <p:spPr>
          <a:xfrm>
            <a:off x="630000" y="396000"/>
            <a:ext cx="7920000" cy="151200"/>
          </a:xfrm>
          <a:prstGeom prst="rect">
            <a:avLst/>
          </a:prstGeom>
          <a:noFill/>
        </p:spPr>
        <p:txBody>
          <a:bodyPr wrap="square" lIns="18000" rIns="18000" tIns="7200" bIns="7200">
            <a:noAutofit/>
          </a:bodyPr>
          <a:lstStyle/>
          <a:p>
            <a:pPr algn="l">
              <a:lnSpc>
                <a:spcPct val="108000"/>
              </a:lnSpc>
            </a:pPr>
            <a:r>
              <a:rPr sz="880" b="0">
                <a:solidFill>
                  <a:srgbClr val="BED3E2"/>
                </a:solidFill>
                <a:latin typeface="Noto Sans JP"/>
              </a:rPr>
              <a:t>医療・行政・司法連携／地域社会への参加／家族支援／相談窓口を常設</a:t>
            </a:r>
          </a:p>
        </p:txBody>
      </p:sp>
      <p:sp>
        <p:nvSpPr>
          <p:cNvPr id="7" name="Rounded Rectangle 6"/>
          <p:cNvSpPr/>
          <p:nvPr/>
        </p:nvSpPr>
        <p:spPr>
          <a:xfrm>
            <a:off x="9504000" y="198000"/>
            <a:ext cx="2124000" cy="208800"/>
          </a:xfrm>
          <a:prstGeom prst="roundRect">
            <a:avLst/>
          </a:prstGeom>
          <a:solidFill>
            <a:srgbClr val="EDF3F8"/>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850" b="1">
                <a:solidFill>
                  <a:srgbClr val="0D223A"/>
                </a:solidFill>
                <a:latin typeface="Noto Sans JP"/>
              </a:rPr>
              <a:t>24h の中核能力</a:t>
            </a:r>
          </a:p>
        </p:txBody>
      </p:sp>
      <p:sp>
        <p:nvSpPr>
          <p:cNvPr id="8" name="TextBox 7"/>
          <p:cNvSpPr txBox="1"/>
          <p:nvPr/>
        </p:nvSpPr>
        <p:spPr>
          <a:xfrm>
            <a:off x="486000" y="954000"/>
            <a:ext cx="9000000" cy="251999"/>
          </a:xfrm>
          <a:prstGeom prst="rect">
            <a:avLst/>
          </a:prstGeom>
          <a:noFill/>
        </p:spPr>
        <p:txBody>
          <a:bodyPr wrap="square" lIns="18000" rIns="18000" tIns="7200" bIns="7200">
            <a:noAutofit/>
          </a:bodyPr>
          <a:lstStyle/>
          <a:p>
            <a:pPr algn="l">
              <a:lnSpc>
                <a:spcPct val="108000"/>
              </a:lnSpc>
            </a:pPr>
            <a:r>
              <a:rPr sz="1160" b="1">
                <a:solidFill>
                  <a:srgbClr val="0D223A"/>
                </a:solidFill>
                <a:latin typeface="Noto Sans JP"/>
              </a:rPr>
              <a:t>相模原ダルクは、依存症からの回復を全力で支えます。医療・行政・司法・地域・家族をつなぎ、包括的な回復支援を提供します。</a:t>
            </a:r>
          </a:p>
        </p:txBody>
      </p:sp>
      <p:sp>
        <p:nvSpPr>
          <p:cNvPr id="9" name="Rounded Rectangle 8"/>
          <p:cNvSpPr/>
          <p:nvPr/>
        </p:nvSpPr>
        <p:spPr>
          <a:xfrm>
            <a:off x="450000" y="1548000"/>
            <a:ext cx="5256000" cy="1584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0000" y="1548000"/>
            <a:ext cx="28800" cy="1584000"/>
          </a:xfrm>
          <a:prstGeom prst="rect">
            <a:avLst/>
          </a:prstGeom>
          <a:solidFill>
            <a:srgbClr val="2D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00" y="1648800"/>
            <a:ext cx="5004000" cy="162000"/>
          </a:xfrm>
          <a:prstGeom prst="rect">
            <a:avLst/>
          </a:prstGeom>
          <a:noFill/>
        </p:spPr>
        <p:txBody>
          <a:bodyPr wrap="square" lIns="18000" rIns="18000" tIns="7200" bIns="7200">
            <a:noAutofit/>
          </a:bodyPr>
          <a:lstStyle/>
          <a:p>
            <a:pPr algn="l">
              <a:lnSpc>
                <a:spcPct val="108000"/>
              </a:lnSpc>
            </a:pPr>
            <a:r>
              <a:rPr sz="1250" b="1">
                <a:solidFill>
                  <a:srgbClr val="0D223A"/>
                </a:solidFill>
                <a:latin typeface="Noto Sans JP"/>
              </a:rPr>
              <a:t>医療・行政・司法連携</a:t>
            </a:r>
          </a:p>
        </p:txBody>
      </p:sp>
      <p:sp>
        <p:nvSpPr>
          <p:cNvPr id="12" name="TextBox 11"/>
          <p:cNvSpPr txBox="1"/>
          <p:nvPr/>
        </p:nvSpPr>
        <p:spPr>
          <a:xfrm>
            <a:off x="576000" y="1879200"/>
            <a:ext cx="5004000" cy="1206000"/>
          </a:xfrm>
          <a:prstGeom prst="rect">
            <a:avLst/>
          </a:prstGeom>
          <a:noFill/>
        </p:spPr>
        <p:txBody>
          <a:bodyPr wrap="square" lIns="18000" rIns="18000" tIns="7200" bIns="7200">
            <a:spAutoFit/>
          </a:bodyPr>
          <a:lstStyle/>
          <a:p>
            <a:pPr>
              <a:lnSpc>
                <a:spcPct val="108000"/>
              </a:lnSpc>
              <a:spcAft>
                <a:spcPts val="300"/>
              </a:spcAft>
              <a:defRPr sz="880">
                <a:solidFill>
                  <a:srgbClr val="5B6B7C"/>
                </a:solidFill>
                <a:latin typeface="Noto Sans JP"/>
              </a:defRPr>
            </a:pPr>
            <a:r>
              <a:rPr>
                <a:latin typeface="Noto Sans JP"/>
              </a:rPr>
              <a:t>• KRPP/FLOW/TANARPP等への協力</a:t>
            </a:r>
          </a:p>
          <a:p>
            <a:pPr>
              <a:lnSpc>
                <a:spcPct val="108000"/>
              </a:lnSpc>
              <a:spcAft>
                <a:spcPts val="300"/>
              </a:spcAft>
              <a:defRPr sz="880">
                <a:solidFill>
                  <a:srgbClr val="5B6B7C"/>
                </a:solidFill>
                <a:latin typeface="Noto Sans JP"/>
              </a:defRPr>
            </a:pPr>
            <a:r>
              <a:rPr>
                <a:latin typeface="Noto Sans JP"/>
              </a:rPr>
              <a:t>• 保護観察所との連携</a:t>
            </a:r>
          </a:p>
          <a:p>
            <a:pPr>
              <a:lnSpc>
                <a:spcPct val="108000"/>
              </a:lnSpc>
              <a:spcAft>
                <a:spcPts val="300"/>
              </a:spcAft>
              <a:defRPr sz="880">
                <a:solidFill>
                  <a:srgbClr val="5B6B7C"/>
                </a:solidFill>
                <a:latin typeface="Noto Sans JP"/>
              </a:defRPr>
            </a:pPr>
            <a:r>
              <a:rPr>
                <a:latin typeface="Noto Sans JP"/>
              </a:rPr>
              <a:t>• 医療機関との情報共有</a:t>
            </a:r>
          </a:p>
        </p:txBody>
      </p:sp>
      <p:sp>
        <p:nvSpPr>
          <p:cNvPr id="13" name="Rounded Rectangle 12"/>
          <p:cNvSpPr/>
          <p:nvPr/>
        </p:nvSpPr>
        <p:spPr>
          <a:xfrm>
            <a:off x="6138000" y="1548000"/>
            <a:ext cx="5256000" cy="1584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38000" y="1548000"/>
            <a:ext cx="28800" cy="1584000"/>
          </a:xfrm>
          <a:prstGeom prst="rect">
            <a:avLst/>
          </a:prstGeom>
          <a:solidFill>
            <a:srgbClr val="F5A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4000" y="1648800"/>
            <a:ext cx="5004000" cy="162000"/>
          </a:xfrm>
          <a:prstGeom prst="rect">
            <a:avLst/>
          </a:prstGeom>
          <a:noFill/>
        </p:spPr>
        <p:txBody>
          <a:bodyPr wrap="square" lIns="18000" rIns="18000" tIns="7200" bIns="7200">
            <a:noAutofit/>
          </a:bodyPr>
          <a:lstStyle/>
          <a:p>
            <a:pPr algn="l">
              <a:lnSpc>
                <a:spcPct val="108000"/>
              </a:lnSpc>
            </a:pPr>
            <a:r>
              <a:rPr sz="1250" b="1">
                <a:solidFill>
                  <a:srgbClr val="0D223A"/>
                </a:solidFill>
                <a:latin typeface="Noto Sans JP"/>
              </a:rPr>
              <a:t>地域社会への参加</a:t>
            </a:r>
          </a:p>
        </p:txBody>
      </p:sp>
      <p:sp>
        <p:nvSpPr>
          <p:cNvPr id="16" name="TextBox 15"/>
          <p:cNvSpPr txBox="1"/>
          <p:nvPr/>
        </p:nvSpPr>
        <p:spPr>
          <a:xfrm>
            <a:off x="6264000" y="1879200"/>
            <a:ext cx="5004000" cy="1206000"/>
          </a:xfrm>
          <a:prstGeom prst="rect">
            <a:avLst/>
          </a:prstGeom>
          <a:noFill/>
        </p:spPr>
        <p:txBody>
          <a:bodyPr wrap="square" lIns="18000" rIns="18000" tIns="7200" bIns="7200">
            <a:spAutoFit/>
          </a:bodyPr>
          <a:lstStyle/>
          <a:p>
            <a:pPr>
              <a:lnSpc>
                <a:spcPct val="108000"/>
              </a:lnSpc>
              <a:spcAft>
                <a:spcPts val="300"/>
              </a:spcAft>
              <a:defRPr sz="880">
                <a:solidFill>
                  <a:srgbClr val="5B6B7C"/>
                </a:solidFill>
                <a:latin typeface="Noto Sans JP"/>
              </a:defRPr>
            </a:pPr>
            <a:r>
              <a:rPr>
                <a:latin typeface="Noto Sans JP"/>
              </a:rPr>
              <a:t>• 地域イベントでの演舞参加</a:t>
            </a:r>
          </a:p>
          <a:p>
            <a:pPr>
              <a:lnSpc>
                <a:spcPct val="108000"/>
              </a:lnSpc>
              <a:spcAft>
                <a:spcPts val="300"/>
              </a:spcAft>
              <a:defRPr sz="880">
                <a:solidFill>
                  <a:srgbClr val="5B6B7C"/>
                </a:solidFill>
                <a:latin typeface="Noto Sans JP"/>
              </a:defRPr>
            </a:pPr>
            <a:r>
              <a:rPr>
                <a:latin typeface="Noto Sans JP"/>
              </a:rPr>
              <a:t>• 清掃ボランティアの実施</a:t>
            </a:r>
          </a:p>
          <a:p>
            <a:pPr>
              <a:lnSpc>
                <a:spcPct val="108000"/>
              </a:lnSpc>
              <a:spcAft>
                <a:spcPts val="300"/>
              </a:spcAft>
              <a:defRPr sz="880">
                <a:solidFill>
                  <a:srgbClr val="5B6B7C"/>
                </a:solidFill>
                <a:latin typeface="Noto Sans JP"/>
              </a:defRPr>
            </a:pPr>
            <a:r>
              <a:rPr>
                <a:latin typeface="Noto Sans JP"/>
              </a:rPr>
              <a:t>• 学校・地域での啓発活動</a:t>
            </a:r>
          </a:p>
        </p:txBody>
      </p:sp>
      <p:sp>
        <p:nvSpPr>
          <p:cNvPr id="17" name="Rounded Rectangle 16"/>
          <p:cNvSpPr/>
          <p:nvPr/>
        </p:nvSpPr>
        <p:spPr>
          <a:xfrm>
            <a:off x="450000" y="3456000"/>
            <a:ext cx="5256000" cy="1584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0000" y="3456000"/>
            <a:ext cx="28800" cy="1584000"/>
          </a:xfrm>
          <a:prstGeom prst="rect">
            <a:avLst/>
          </a:prstGeom>
          <a:solidFill>
            <a:srgbClr val="17BC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6000" y="3556799"/>
            <a:ext cx="5004000" cy="162000"/>
          </a:xfrm>
          <a:prstGeom prst="rect">
            <a:avLst/>
          </a:prstGeom>
          <a:noFill/>
        </p:spPr>
        <p:txBody>
          <a:bodyPr wrap="square" lIns="18000" rIns="18000" tIns="7200" bIns="7200">
            <a:noAutofit/>
          </a:bodyPr>
          <a:lstStyle/>
          <a:p>
            <a:pPr algn="l">
              <a:lnSpc>
                <a:spcPct val="108000"/>
              </a:lnSpc>
            </a:pPr>
            <a:r>
              <a:rPr sz="1250" b="1">
                <a:solidFill>
                  <a:srgbClr val="0D223A"/>
                </a:solidFill>
                <a:latin typeface="Noto Sans JP"/>
              </a:rPr>
              <a:t>家族支援を継続</a:t>
            </a:r>
          </a:p>
        </p:txBody>
      </p:sp>
      <p:sp>
        <p:nvSpPr>
          <p:cNvPr id="20" name="TextBox 19"/>
          <p:cNvSpPr txBox="1"/>
          <p:nvPr/>
        </p:nvSpPr>
        <p:spPr>
          <a:xfrm>
            <a:off x="576000" y="3787200"/>
            <a:ext cx="5004000" cy="1206000"/>
          </a:xfrm>
          <a:prstGeom prst="rect">
            <a:avLst/>
          </a:prstGeom>
          <a:noFill/>
        </p:spPr>
        <p:txBody>
          <a:bodyPr wrap="square" lIns="18000" rIns="18000" tIns="7200" bIns="7200">
            <a:spAutoFit/>
          </a:bodyPr>
          <a:lstStyle/>
          <a:p>
            <a:pPr>
              <a:lnSpc>
                <a:spcPct val="108000"/>
              </a:lnSpc>
              <a:spcAft>
                <a:spcPts val="300"/>
              </a:spcAft>
              <a:defRPr sz="880">
                <a:solidFill>
                  <a:srgbClr val="5B6B7C"/>
                </a:solidFill>
                <a:latin typeface="Noto Sans JP"/>
              </a:defRPr>
            </a:pPr>
            <a:r>
              <a:rPr>
                <a:latin typeface="Noto Sans JP"/>
              </a:rPr>
              <a:t>• 毎週の家族相談を実施</a:t>
            </a:r>
          </a:p>
          <a:p>
            <a:pPr>
              <a:lnSpc>
                <a:spcPct val="108000"/>
              </a:lnSpc>
              <a:spcAft>
                <a:spcPts val="300"/>
              </a:spcAft>
              <a:defRPr sz="880">
                <a:solidFill>
                  <a:srgbClr val="5B6B7C"/>
                </a:solidFill>
                <a:latin typeface="Noto Sans JP"/>
              </a:defRPr>
            </a:pPr>
            <a:r>
              <a:rPr>
                <a:latin typeface="Noto Sans JP"/>
              </a:rPr>
              <a:t>• 月1回の家族会・学習ミーティング</a:t>
            </a:r>
          </a:p>
          <a:p>
            <a:pPr>
              <a:lnSpc>
                <a:spcPct val="108000"/>
              </a:lnSpc>
              <a:spcAft>
                <a:spcPts val="300"/>
              </a:spcAft>
              <a:defRPr sz="880">
                <a:solidFill>
                  <a:srgbClr val="5B6B7C"/>
                </a:solidFill>
                <a:latin typeface="Noto Sans JP"/>
              </a:defRPr>
            </a:pPr>
            <a:r>
              <a:rPr>
                <a:latin typeface="Noto Sans JP"/>
              </a:rPr>
              <a:t>• CRAFT等を活用</a:t>
            </a:r>
          </a:p>
        </p:txBody>
      </p:sp>
      <p:sp>
        <p:nvSpPr>
          <p:cNvPr id="21" name="Rounded Rectangle 20"/>
          <p:cNvSpPr/>
          <p:nvPr/>
        </p:nvSpPr>
        <p:spPr>
          <a:xfrm>
            <a:off x="6138000" y="3456000"/>
            <a:ext cx="5256000" cy="1584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38000" y="3456000"/>
            <a:ext cx="28800" cy="1584000"/>
          </a:xfrm>
          <a:prstGeom prst="rect">
            <a:avLst/>
          </a:prstGeom>
          <a:solidFill>
            <a:srgbClr val="85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64000" y="3556799"/>
            <a:ext cx="5004000" cy="162000"/>
          </a:xfrm>
          <a:prstGeom prst="rect">
            <a:avLst/>
          </a:prstGeom>
          <a:noFill/>
        </p:spPr>
        <p:txBody>
          <a:bodyPr wrap="square" lIns="18000" rIns="18000" tIns="7200" bIns="7200">
            <a:noAutofit/>
          </a:bodyPr>
          <a:lstStyle/>
          <a:p>
            <a:pPr algn="l">
              <a:lnSpc>
                <a:spcPct val="108000"/>
              </a:lnSpc>
            </a:pPr>
            <a:r>
              <a:rPr sz="1250" b="1">
                <a:solidFill>
                  <a:srgbClr val="0D223A"/>
                </a:solidFill>
                <a:latin typeface="Noto Sans JP"/>
              </a:rPr>
              <a:t>相談窓口を常設</a:t>
            </a:r>
          </a:p>
        </p:txBody>
      </p:sp>
      <p:sp>
        <p:nvSpPr>
          <p:cNvPr id="24" name="TextBox 23"/>
          <p:cNvSpPr txBox="1"/>
          <p:nvPr/>
        </p:nvSpPr>
        <p:spPr>
          <a:xfrm>
            <a:off x="6264000" y="3787200"/>
            <a:ext cx="5004000" cy="1206000"/>
          </a:xfrm>
          <a:prstGeom prst="rect">
            <a:avLst/>
          </a:prstGeom>
          <a:noFill/>
        </p:spPr>
        <p:txBody>
          <a:bodyPr wrap="square" lIns="18000" rIns="18000" tIns="7200" bIns="7200">
            <a:spAutoFit/>
          </a:bodyPr>
          <a:lstStyle/>
          <a:p>
            <a:pPr>
              <a:lnSpc>
                <a:spcPct val="108000"/>
              </a:lnSpc>
              <a:spcAft>
                <a:spcPts val="300"/>
              </a:spcAft>
              <a:defRPr sz="880">
                <a:solidFill>
                  <a:srgbClr val="5B6B7C"/>
                </a:solidFill>
                <a:latin typeface="Noto Sans JP"/>
              </a:defRPr>
            </a:pPr>
            <a:r>
              <a:rPr>
                <a:latin typeface="Noto Sans JP"/>
              </a:rPr>
              <a:t>• 初回相談無料・秘密厳守</a:t>
            </a:r>
          </a:p>
          <a:p>
            <a:pPr>
              <a:lnSpc>
                <a:spcPct val="108000"/>
              </a:lnSpc>
              <a:spcAft>
                <a:spcPts val="300"/>
              </a:spcAft>
              <a:defRPr sz="880">
                <a:solidFill>
                  <a:srgbClr val="5B6B7C"/>
                </a:solidFill>
                <a:latin typeface="Noto Sans JP"/>
              </a:defRPr>
            </a:pPr>
            <a:r>
              <a:rPr>
                <a:latin typeface="Noto Sans JP"/>
              </a:rPr>
              <a:t>• 本人・家族・周囲の方でも対応</a:t>
            </a:r>
          </a:p>
          <a:p>
            <a:pPr>
              <a:lnSpc>
                <a:spcPct val="108000"/>
              </a:lnSpc>
              <a:spcAft>
                <a:spcPts val="300"/>
              </a:spcAft>
              <a:defRPr sz="880">
                <a:solidFill>
                  <a:srgbClr val="5B6B7C"/>
                </a:solidFill>
                <a:latin typeface="Noto Sans JP"/>
              </a:defRPr>
            </a:pPr>
            <a:r>
              <a:rPr>
                <a:latin typeface="Noto Sans JP"/>
              </a:rPr>
              <a:t>• 平日9:00-17:00／土祝9:00-14:00</a:t>
            </a:r>
          </a:p>
        </p:txBody>
      </p:sp>
      <p:sp>
        <p:nvSpPr>
          <p:cNvPr id="25" name="TextBox 24"/>
          <p:cNvSpPr txBox="1"/>
          <p:nvPr/>
        </p:nvSpPr>
        <p:spPr>
          <a:xfrm>
            <a:off x="270000" y="6588000"/>
            <a:ext cx="5760000" cy="125999"/>
          </a:xfrm>
          <a:prstGeom prst="rect">
            <a:avLst/>
          </a:prstGeom>
          <a:noFill/>
        </p:spPr>
        <p:txBody>
          <a:bodyPr wrap="square" lIns="18000" rIns="18000" tIns="7200" bIns="7200">
            <a:noAutofit/>
          </a:bodyPr>
          <a:lstStyle/>
          <a:p>
            <a:pPr algn="l">
              <a:lnSpc>
                <a:spcPct val="108000"/>
              </a:lnSpc>
            </a:pPr>
            <a:r>
              <a:rPr sz="720" b="0">
                <a:solidFill>
                  <a:srgbClr val="5B6B7C"/>
                </a:solidFill>
                <a:latin typeface="Noto Sans JP"/>
              </a:rPr>
              <a:t>相模原ダルク｜依存症からの回復を全力で支えます</a:t>
            </a:r>
          </a:p>
        </p:txBody>
      </p:sp>
      <p:sp>
        <p:nvSpPr>
          <p:cNvPr id="26" name="TextBox 25"/>
          <p:cNvSpPr txBox="1"/>
          <p:nvPr/>
        </p:nvSpPr>
        <p:spPr>
          <a:xfrm>
            <a:off x="10062000" y="6566399"/>
            <a:ext cx="540000" cy="125999"/>
          </a:xfrm>
          <a:prstGeom prst="rect">
            <a:avLst/>
          </a:prstGeom>
          <a:noFill/>
        </p:spPr>
        <p:txBody>
          <a:bodyPr wrap="square" lIns="18000" rIns="18000" tIns="7200" bIns="7200">
            <a:noAutofit/>
          </a:bodyPr>
          <a:lstStyle/>
          <a:p>
            <a:pPr algn="r">
              <a:lnSpc>
                <a:spcPct val="108000"/>
              </a:lnSpc>
            </a:pPr>
            <a:r>
              <a:rPr sz="780" b="1">
                <a:solidFill>
                  <a:srgbClr val="0D223A"/>
                </a:solidFill>
                <a:latin typeface="Aptos Display"/>
              </a:rPr>
              <a:t>9/18</a:t>
            </a:r>
          </a:p>
        </p:txBody>
      </p:sp>
      <p:sp>
        <p:nvSpPr>
          <p:cNvPr id="27" name="Rounded Rectangle 26"/>
          <p:cNvSpPr/>
          <p:nvPr/>
        </p:nvSpPr>
        <p:spPr>
          <a:xfrm>
            <a:off x="10674000" y="6609600"/>
            <a:ext cx="1080000" cy="28800"/>
          </a:xfrm>
          <a:prstGeom prst="roundRect">
            <a:avLst/>
          </a:prstGeom>
          <a:solidFill>
            <a:srgbClr val="D7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0674000" y="6609600"/>
            <a:ext cx="540000" cy="28800"/>
          </a:xfrm>
          <a:prstGeom prst="roundRect">
            <a:avLst/>
          </a:prstGeom>
          <a:solidFill>
            <a:srgbClr val="16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119" cy="730799"/>
          </a:xfrm>
          <a:prstGeom prst="rect">
            <a:avLst/>
          </a:prstGeom>
          <a:solidFill>
            <a:srgbClr val="0D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70000" y="162000"/>
            <a:ext cx="259200" cy="259200"/>
          </a:xfrm>
          <a:prstGeom prst="roundRect">
            <a:avLst/>
          </a:prstGeom>
          <a:solidFill>
            <a:srgbClr val="153A5E"/>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1000" b="1">
                <a:solidFill>
                  <a:srgbClr val="FFFFFF"/>
                </a:solidFill>
                <a:latin typeface="Noto Sans JP"/>
              </a:rPr>
              <a:t>▦</a:t>
            </a:r>
          </a:p>
        </p:txBody>
      </p:sp>
      <p:sp>
        <p:nvSpPr>
          <p:cNvPr id="5" name="TextBox 4"/>
          <p:cNvSpPr txBox="1"/>
          <p:nvPr/>
        </p:nvSpPr>
        <p:spPr>
          <a:xfrm>
            <a:off x="619200" y="125999"/>
            <a:ext cx="7380000" cy="223200"/>
          </a:xfrm>
          <a:prstGeom prst="rect">
            <a:avLst/>
          </a:prstGeom>
          <a:noFill/>
        </p:spPr>
        <p:txBody>
          <a:bodyPr wrap="square" lIns="18000" rIns="18000" tIns="7200" bIns="7200">
            <a:noAutofit/>
          </a:bodyPr>
          <a:lstStyle/>
          <a:p>
            <a:pPr algn="l">
              <a:lnSpc>
                <a:spcPct val="108000"/>
              </a:lnSpc>
            </a:pPr>
            <a:r>
              <a:rPr sz="2000" b="1">
                <a:solidFill>
                  <a:srgbClr val="FFFFFF"/>
                </a:solidFill>
                <a:latin typeface="Noto Sans JP"/>
              </a:rPr>
              <a:t>5ステージ制 回復プログラム</a:t>
            </a:r>
          </a:p>
        </p:txBody>
      </p:sp>
      <p:sp>
        <p:nvSpPr>
          <p:cNvPr id="6" name="TextBox 5"/>
          <p:cNvSpPr txBox="1"/>
          <p:nvPr/>
        </p:nvSpPr>
        <p:spPr>
          <a:xfrm>
            <a:off x="630000" y="396000"/>
            <a:ext cx="7920000" cy="151200"/>
          </a:xfrm>
          <a:prstGeom prst="rect">
            <a:avLst/>
          </a:prstGeom>
          <a:noFill/>
        </p:spPr>
        <p:txBody>
          <a:bodyPr wrap="square" lIns="18000" rIns="18000" tIns="7200" bIns="7200">
            <a:noAutofit/>
          </a:bodyPr>
          <a:lstStyle/>
          <a:p>
            <a:pPr algn="l">
              <a:lnSpc>
                <a:spcPct val="108000"/>
              </a:lnSpc>
            </a:pPr>
            <a:r>
              <a:rPr sz="880" b="0">
                <a:solidFill>
                  <a:srgbClr val="BED3E2"/>
                </a:solidFill>
                <a:latin typeface="Noto Sans JP"/>
              </a:rPr>
              <a:t>段階的な目標設定と具体的な治療プログラムによる回復ロードマップ</a:t>
            </a:r>
          </a:p>
        </p:txBody>
      </p:sp>
      <p:sp>
        <p:nvSpPr>
          <p:cNvPr id="7" name="Rounded Rectangle 6"/>
          <p:cNvSpPr/>
          <p:nvPr/>
        </p:nvSpPr>
        <p:spPr>
          <a:xfrm>
            <a:off x="9504000" y="198000"/>
            <a:ext cx="2124000" cy="208800"/>
          </a:xfrm>
          <a:prstGeom prst="roundRect">
            <a:avLst/>
          </a:prstGeom>
          <a:solidFill>
            <a:srgbClr val="EDF3F8"/>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850" b="1">
                <a:solidFill>
                  <a:srgbClr val="0D223A"/>
                </a:solidFill>
                <a:latin typeface="Noto Sans JP"/>
              </a:rPr>
              <a:t>5段階のステップ</a:t>
            </a:r>
          </a:p>
        </p:txBody>
      </p:sp>
      <p:sp>
        <p:nvSpPr>
          <p:cNvPr id="8" name="Rounded Rectangle 7"/>
          <p:cNvSpPr/>
          <p:nvPr/>
        </p:nvSpPr>
        <p:spPr>
          <a:xfrm>
            <a:off x="360000" y="1440000"/>
            <a:ext cx="2160000" cy="3816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0000" y="1440000"/>
            <a:ext cx="28800" cy="3816000"/>
          </a:xfrm>
          <a:prstGeom prst="rect">
            <a:avLst/>
          </a:prstGeom>
          <a:solidFill>
            <a:srgbClr val="2D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86000" y="1565999"/>
            <a:ext cx="1908000" cy="306000"/>
          </a:xfrm>
          <a:prstGeom prst="roundRect">
            <a:avLst/>
          </a:prstGeom>
          <a:solidFill>
            <a:srgbClr val="2D7AFF"/>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850" b="1">
                <a:solidFill>
                  <a:srgbClr val="FFFFFF"/>
                </a:solidFill>
                <a:latin typeface="Noto Sans JP"/>
              </a:rPr>
              <a:t>MEMBER
0-3ヶ月</a:t>
            </a:r>
          </a:p>
        </p:txBody>
      </p:sp>
      <p:sp>
        <p:nvSpPr>
          <p:cNvPr id="11" name="TextBox 10"/>
          <p:cNvSpPr txBox="1"/>
          <p:nvPr/>
        </p:nvSpPr>
        <p:spPr>
          <a:xfrm>
            <a:off x="522000" y="2052000"/>
            <a:ext cx="1835999" cy="1080000"/>
          </a:xfrm>
          <a:prstGeom prst="rect">
            <a:avLst/>
          </a:prstGeom>
          <a:noFill/>
        </p:spPr>
        <p:txBody>
          <a:bodyPr wrap="square" lIns="18000" rIns="18000" tIns="7200" bIns="7200">
            <a:spAutoFit/>
          </a:bodyPr>
          <a:lstStyle/>
          <a:p>
            <a:pPr>
              <a:lnSpc>
                <a:spcPct val="108000"/>
              </a:lnSpc>
              <a:spcAft>
                <a:spcPts val="300"/>
              </a:spcAft>
              <a:defRPr sz="780">
                <a:solidFill>
                  <a:srgbClr val="5B6B7C"/>
                </a:solidFill>
                <a:latin typeface="Noto Sans JP"/>
              </a:defRPr>
            </a:pPr>
            <a:r>
              <a:rPr>
                <a:latin typeface="Noto Sans JP"/>
              </a:rPr>
              <a:t>• 基礎知識の学習</a:t>
            </a:r>
          </a:p>
          <a:p>
            <a:pPr>
              <a:lnSpc>
                <a:spcPct val="108000"/>
              </a:lnSpc>
              <a:spcAft>
                <a:spcPts val="300"/>
              </a:spcAft>
              <a:defRPr sz="780">
                <a:solidFill>
                  <a:srgbClr val="5B6B7C"/>
                </a:solidFill>
                <a:latin typeface="Noto Sans JP"/>
              </a:defRPr>
            </a:pPr>
            <a:r>
              <a:rPr>
                <a:latin typeface="Noto Sans JP"/>
              </a:rPr>
              <a:t>• 共同生活への適応</a:t>
            </a:r>
          </a:p>
          <a:p>
            <a:pPr>
              <a:lnSpc>
                <a:spcPct val="108000"/>
              </a:lnSpc>
              <a:spcAft>
                <a:spcPts val="300"/>
              </a:spcAft>
              <a:defRPr sz="780">
                <a:solidFill>
                  <a:srgbClr val="5B6B7C"/>
                </a:solidFill>
                <a:latin typeface="Noto Sans JP"/>
              </a:defRPr>
            </a:pPr>
            <a:r>
              <a:rPr>
                <a:latin typeface="Noto Sans JP"/>
              </a:rPr>
              <a:t>• 生活習慣の再構築</a:t>
            </a:r>
          </a:p>
        </p:txBody>
      </p:sp>
      <p:sp>
        <p:nvSpPr>
          <p:cNvPr id="12" name="TextBox 11"/>
          <p:cNvSpPr txBox="1"/>
          <p:nvPr/>
        </p:nvSpPr>
        <p:spPr>
          <a:xfrm>
            <a:off x="522000" y="4716000"/>
            <a:ext cx="1835999" cy="288000"/>
          </a:xfrm>
          <a:prstGeom prst="rect">
            <a:avLst/>
          </a:prstGeom>
          <a:noFill/>
        </p:spPr>
        <p:txBody>
          <a:bodyPr wrap="square" lIns="18000" rIns="18000" tIns="7200" bIns="7200">
            <a:noAutofit/>
          </a:bodyPr>
          <a:lstStyle/>
          <a:p>
            <a:pPr algn="l">
              <a:lnSpc>
                <a:spcPct val="108000"/>
              </a:lnSpc>
            </a:pPr>
            <a:r>
              <a:rPr sz="750" b="1">
                <a:solidFill>
                  <a:srgbClr val="2D7AFF"/>
                </a:solidFill>
                <a:latin typeface="Noto Sans JP"/>
              </a:rPr>
              <a:t>達成基準
次段階の役割へ移行</a:t>
            </a:r>
          </a:p>
        </p:txBody>
      </p:sp>
      <p:sp>
        <p:nvSpPr>
          <p:cNvPr id="13" name="Rounded Rectangle 12"/>
          <p:cNvSpPr/>
          <p:nvPr/>
        </p:nvSpPr>
        <p:spPr>
          <a:xfrm>
            <a:off x="2718000" y="1440000"/>
            <a:ext cx="2160000" cy="3816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18000" y="1440000"/>
            <a:ext cx="28800" cy="3816000"/>
          </a:xfrm>
          <a:prstGeom prst="rect">
            <a:avLst/>
          </a:prstGeom>
          <a:solidFill>
            <a:srgbClr val="F5A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844000" y="1565999"/>
            <a:ext cx="1908000" cy="306000"/>
          </a:xfrm>
          <a:prstGeom prst="roundRect">
            <a:avLst/>
          </a:prstGeom>
          <a:solidFill>
            <a:srgbClr val="F5A423"/>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850" b="1">
                <a:solidFill>
                  <a:srgbClr val="FFFFFF"/>
                </a:solidFill>
                <a:latin typeface="Noto Sans JP"/>
              </a:rPr>
              <a:t>SUPPORT
3-6ヶ月</a:t>
            </a:r>
          </a:p>
        </p:txBody>
      </p:sp>
      <p:sp>
        <p:nvSpPr>
          <p:cNvPr id="16" name="TextBox 15"/>
          <p:cNvSpPr txBox="1"/>
          <p:nvPr/>
        </p:nvSpPr>
        <p:spPr>
          <a:xfrm>
            <a:off x="2880000" y="2052000"/>
            <a:ext cx="1835999" cy="1080000"/>
          </a:xfrm>
          <a:prstGeom prst="rect">
            <a:avLst/>
          </a:prstGeom>
          <a:noFill/>
        </p:spPr>
        <p:txBody>
          <a:bodyPr wrap="square" lIns="18000" rIns="18000" tIns="7200" bIns="7200">
            <a:spAutoFit/>
          </a:bodyPr>
          <a:lstStyle/>
          <a:p>
            <a:pPr>
              <a:lnSpc>
                <a:spcPct val="108000"/>
              </a:lnSpc>
              <a:spcAft>
                <a:spcPts val="300"/>
              </a:spcAft>
              <a:defRPr sz="780">
                <a:solidFill>
                  <a:srgbClr val="5B6B7C"/>
                </a:solidFill>
                <a:latin typeface="Noto Sans JP"/>
              </a:defRPr>
            </a:pPr>
            <a:r>
              <a:rPr>
                <a:latin typeface="Noto Sans JP"/>
              </a:rPr>
              <a:t>• 掃除・調理など役割付与</a:t>
            </a:r>
          </a:p>
          <a:p>
            <a:pPr>
              <a:lnSpc>
                <a:spcPct val="108000"/>
              </a:lnSpc>
              <a:spcAft>
                <a:spcPts val="300"/>
              </a:spcAft>
              <a:defRPr sz="780">
                <a:solidFill>
                  <a:srgbClr val="5B6B7C"/>
                </a:solidFill>
                <a:latin typeface="Noto Sans JP"/>
              </a:defRPr>
            </a:pPr>
            <a:r>
              <a:rPr>
                <a:latin typeface="Noto Sans JP"/>
              </a:rPr>
              <a:t>• プログラム参加継続</a:t>
            </a:r>
          </a:p>
          <a:p>
            <a:pPr>
              <a:lnSpc>
                <a:spcPct val="108000"/>
              </a:lnSpc>
              <a:spcAft>
                <a:spcPts val="300"/>
              </a:spcAft>
              <a:defRPr sz="780">
                <a:solidFill>
                  <a:srgbClr val="5B6B7C"/>
                </a:solidFill>
                <a:latin typeface="Noto Sans JP"/>
              </a:defRPr>
            </a:pPr>
            <a:r>
              <a:rPr>
                <a:latin typeface="Noto Sans JP"/>
              </a:rPr>
              <a:t>• 振り返りの習慣化</a:t>
            </a:r>
          </a:p>
        </p:txBody>
      </p:sp>
      <p:sp>
        <p:nvSpPr>
          <p:cNvPr id="17" name="TextBox 16"/>
          <p:cNvSpPr txBox="1"/>
          <p:nvPr/>
        </p:nvSpPr>
        <p:spPr>
          <a:xfrm>
            <a:off x="2880000" y="4716000"/>
            <a:ext cx="1835999" cy="288000"/>
          </a:xfrm>
          <a:prstGeom prst="rect">
            <a:avLst/>
          </a:prstGeom>
          <a:noFill/>
        </p:spPr>
        <p:txBody>
          <a:bodyPr wrap="square" lIns="18000" rIns="18000" tIns="7200" bIns="7200">
            <a:noAutofit/>
          </a:bodyPr>
          <a:lstStyle/>
          <a:p>
            <a:pPr algn="l">
              <a:lnSpc>
                <a:spcPct val="108000"/>
              </a:lnSpc>
            </a:pPr>
            <a:r>
              <a:rPr sz="750" b="1">
                <a:solidFill>
                  <a:srgbClr val="F5A423"/>
                </a:solidFill>
                <a:latin typeface="Noto Sans JP"/>
              </a:rPr>
              <a:t>達成基準
次段階の役割へ移行</a:t>
            </a:r>
          </a:p>
        </p:txBody>
      </p:sp>
      <p:sp>
        <p:nvSpPr>
          <p:cNvPr id="18" name="Rounded Rectangle 17"/>
          <p:cNvSpPr/>
          <p:nvPr/>
        </p:nvSpPr>
        <p:spPr>
          <a:xfrm>
            <a:off x="5076000" y="1440000"/>
            <a:ext cx="2160000" cy="3816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76000" y="1440000"/>
            <a:ext cx="28800" cy="3816000"/>
          </a:xfrm>
          <a:prstGeom prst="rect">
            <a:avLst/>
          </a:prstGeom>
          <a:solidFill>
            <a:srgbClr val="17BC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202000" y="1565999"/>
            <a:ext cx="1908000" cy="306000"/>
          </a:xfrm>
          <a:prstGeom prst="roundRect">
            <a:avLst/>
          </a:prstGeom>
          <a:solidFill>
            <a:srgbClr val="17BC8B"/>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850" b="1">
                <a:solidFill>
                  <a:srgbClr val="FFFFFF"/>
                </a:solidFill>
                <a:latin typeface="Noto Sans JP"/>
              </a:rPr>
              <a:t>TRAINEE
6-12ヶ月</a:t>
            </a:r>
          </a:p>
        </p:txBody>
      </p:sp>
      <p:sp>
        <p:nvSpPr>
          <p:cNvPr id="21" name="TextBox 20"/>
          <p:cNvSpPr txBox="1"/>
          <p:nvPr/>
        </p:nvSpPr>
        <p:spPr>
          <a:xfrm>
            <a:off x="5238000" y="2052000"/>
            <a:ext cx="1835999" cy="1080000"/>
          </a:xfrm>
          <a:prstGeom prst="rect">
            <a:avLst/>
          </a:prstGeom>
          <a:noFill/>
        </p:spPr>
        <p:txBody>
          <a:bodyPr wrap="square" lIns="18000" rIns="18000" tIns="7200" bIns="7200">
            <a:spAutoFit/>
          </a:bodyPr>
          <a:lstStyle/>
          <a:p>
            <a:pPr>
              <a:lnSpc>
                <a:spcPct val="108000"/>
              </a:lnSpc>
              <a:spcAft>
                <a:spcPts val="300"/>
              </a:spcAft>
              <a:defRPr sz="780">
                <a:solidFill>
                  <a:srgbClr val="5B6B7C"/>
                </a:solidFill>
                <a:latin typeface="Noto Sans JP"/>
              </a:defRPr>
            </a:pPr>
            <a:r>
              <a:rPr>
                <a:latin typeface="Noto Sans JP"/>
              </a:rPr>
              <a:t>• リーダーシップの練習</a:t>
            </a:r>
          </a:p>
          <a:p>
            <a:pPr>
              <a:lnSpc>
                <a:spcPct val="108000"/>
              </a:lnSpc>
              <a:spcAft>
                <a:spcPts val="300"/>
              </a:spcAft>
              <a:defRPr sz="780">
                <a:solidFill>
                  <a:srgbClr val="5B6B7C"/>
                </a:solidFill>
                <a:latin typeface="Noto Sans JP"/>
              </a:defRPr>
            </a:pPr>
            <a:r>
              <a:rPr>
                <a:latin typeface="Noto Sans JP"/>
              </a:rPr>
              <a:t>• 他者支援への参加</a:t>
            </a:r>
          </a:p>
          <a:p>
            <a:pPr>
              <a:lnSpc>
                <a:spcPct val="108000"/>
              </a:lnSpc>
              <a:spcAft>
                <a:spcPts val="300"/>
              </a:spcAft>
              <a:defRPr sz="780">
                <a:solidFill>
                  <a:srgbClr val="5B6B7C"/>
                </a:solidFill>
                <a:latin typeface="Noto Sans JP"/>
              </a:defRPr>
            </a:pPr>
            <a:r>
              <a:rPr>
                <a:latin typeface="Noto Sans JP"/>
              </a:rPr>
              <a:t>• 外部活動への接続</a:t>
            </a:r>
          </a:p>
        </p:txBody>
      </p:sp>
      <p:sp>
        <p:nvSpPr>
          <p:cNvPr id="22" name="TextBox 21"/>
          <p:cNvSpPr txBox="1"/>
          <p:nvPr/>
        </p:nvSpPr>
        <p:spPr>
          <a:xfrm>
            <a:off x="5238000" y="4716000"/>
            <a:ext cx="1835999" cy="288000"/>
          </a:xfrm>
          <a:prstGeom prst="rect">
            <a:avLst/>
          </a:prstGeom>
          <a:noFill/>
        </p:spPr>
        <p:txBody>
          <a:bodyPr wrap="square" lIns="18000" rIns="18000" tIns="7200" bIns="7200">
            <a:noAutofit/>
          </a:bodyPr>
          <a:lstStyle/>
          <a:p>
            <a:pPr algn="l">
              <a:lnSpc>
                <a:spcPct val="108000"/>
              </a:lnSpc>
            </a:pPr>
            <a:r>
              <a:rPr sz="750" b="1">
                <a:solidFill>
                  <a:srgbClr val="17BC8B"/>
                </a:solidFill>
                <a:latin typeface="Noto Sans JP"/>
              </a:rPr>
              <a:t>達成基準
次段階の役割へ移行</a:t>
            </a:r>
          </a:p>
        </p:txBody>
      </p:sp>
      <p:sp>
        <p:nvSpPr>
          <p:cNvPr id="23" name="Rounded Rectangle 22"/>
          <p:cNvSpPr/>
          <p:nvPr/>
        </p:nvSpPr>
        <p:spPr>
          <a:xfrm>
            <a:off x="7433999" y="1440000"/>
            <a:ext cx="2160000" cy="3816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433999" y="1440000"/>
            <a:ext cx="28800" cy="3816000"/>
          </a:xfrm>
          <a:prstGeom prst="rect">
            <a:avLst/>
          </a:prstGeom>
          <a:solidFill>
            <a:srgbClr val="85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560000" y="1565999"/>
            <a:ext cx="1908000" cy="306000"/>
          </a:xfrm>
          <a:prstGeom prst="roundRect">
            <a:avLst/>
          </a:prstGeom>
          <a:solidFill>
            <a:srgbClr val="8563FF"/>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850" b="1">
                <a:solidFill>
                  <a:srgbClr val="FFFFFF"/>
                </a:solidFill>
                <a:latin typeface="Noto Sans JP"/>
              </a:rPr>
              <a:t>CHIEF
12-18ヶ月</a:t>
            </a:r>
          </a:p>
        </p:txBody>
      </p:sp>
      <p:sp>
        <p:nvSpPr>
          <p:cNvPr id="26" name="TextBox 25"/>
          <p:cNvSpPr txBox="1"/>
          <p:nvPr/>
        </p:nvSpPr>
        <p:spPr>
          <a:xfrm>
            <a:off x="7595999" y="2052000"/>
            <a:ext cx="1835999" cy="1080000"/>
          </a:xfrm>
          <a:prstGeom prst="rect">
            <a:avLst/>
          </a:prstGeom>
          <a:noFill/>
        </p:spPr>
        <p:txBody>
          <a:bodyPr wrap="square" lIns="18000" rIns="18000" tIns="7200" bIns="7200">
            <a:spAutoFit/>
          </a:bodyPr>
          <a:lstStyle/>
          <a:p>
            <a:pPr>
              <a:lnSpc>
                <a:spcPct val="108000"/>
              </a:lnSpc>
              <a:spcAft>
                <a:spcPts val="300"/>
              </a:spcAft>
              <a:defRPr sz="780">
                <a:solidFill>
                  <a:srgbClr val="5B6B7C"/>
                </a:solidFill>
                <a:latin typeface="Noto Sans JP"/>
              </a:defRPr>
            </a:pPr>
            <a:r>
              <a:rPr>
                <a:latin typeface="Noto Sans JP"/>
              </a:rPr>
              <a:t>• 後輩への声かけ</a:t>
            </a:r>
          </a:p>
          <a:p>
            <a:pPr>
              <a:lnSpc>
                <a:spcPct val="108000"/>
              </a:lnSpc>
              <a:spcAft>
                <a:spcPts val="300"/>
              </a:spcAft>
              <a:defRPr sz="780">
                <a:solidFill>
                  <a:srgbClr val="5B6B7C"/>
                </a:solidFill>
                <a:latin typeface="Noto Sans JP"/>
              </a:defRPr>
            </a:pPr>
            <a:r>
              <a:rPr>
                <a:latin typeface="Noto Sans JP"/>
              </a:rPr>
              <a:t>• 面談・相談の補助</a:t>
            </a:r>
          </a:p>
          <a:p>
            <a:pPr>
              <a:lnSpc>
                <a:spcPct val="108000"/>
              </a:lnSpc>
              <a:spcAft>
                <a:spcPts val="300"/>
              </a:spcAft>
              <a:defRPr sz="780">
                <a:solidFill>
                  <a:srgbClr val="5B6B7C"/>
                </a:solidFill>
                <a:latin typeface="Noto Sans JP"/>
              </a:defRPr>
            </a:pPr>
            <a:r>
              <a:rPr>
                <a:latin typeface="Noto Sans JP"/>
              </a:rPr>
              <a:t>• 自立準備の具体化</a:t>
            </a:r>
          </a:p>
        </p:txBody>
      </p:sp>
      <p:sp>
        <p:nvSpPr>
          <p:cNvPr id="27" name="TextBox 26"/>
          <p:cNvSpPr txBox="1"/>
          <p:nvPr/>
        </p:nvSpPr>
        <p:spPr>
          <a:xfrm>
            <a:off x="7595999" y="4716000"/>
            <a:ext cx="1835999" cy="288000"/>
          </a:xfrm>
          <a:prstGeom prst="rect">
            <a:avLst/>
          </a:prstGeom>
          <a:noFill/>
        </p:spPr>
        <p:txBody>
          <a:bodyPr wrap="square" lIns="18000" rIns="18000" tIns="7200" bIns="7200">
            <a:noAutofit/>
          </a:bodyPr>
          <a:lstStyle/>
          <a:p>
            <a:pPr algn="l">
              <a:lnSpc>
                <a:spcPct val="108000"/>
              </a:lnSpc>
            </a:pPr>
            <a:r>
              <a:rPr sz="750" b="1">
                <a:solidFill>
                  <a:srgbClr val="8563FF"/>
                </a:solidFill>
                <a:latin typeface="Noto Sans JP"/>
              </a:rPr>
              <a:t>達成基準
次段階の役割へ移行</a:t>
            </a:r>
          </a:p>
        </p:txBody>
      </p:sp>
      <p:sp>
        <p:nvSpPr>
          <p:cNvPr id="28" name="Rounded Rectangle 27"/>
          <p:cNvSpPr/>
          <p:nvPr/>
        </p:nvSpPr>
        <p:spPr>
          <a:xfrm>
            <a:off x="9792000" y="1440000"/>
            <a:ext cx="2160000" cy="3816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792000" y="1440000"/>
            <a:ext cx="28800" cy="3816000"/>
          </a:xfrm>
          <a:prstGeom prst="rect">
            <a:avLst/>
          </a:prstGeom>
          <a:solidFill>
            <a:srgbClr val="EC58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918000" y="1565999"/>
            <a:ext cx="1908000" cy="306000"/>
          </a:xfrm>
          <a:prstGeom prst="roundRect">
            <a:avLst/>
          </a:prstGeom>
          <a:solidFill>
            <a:srgbClr val="EC588F"/>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850" b="1">
                <a:solidFill>
                  <a:srgbClr val="FFFFFF"/>
                </a:solidFill>
                <a:latin typeface="Noto Sans JP"/>
              </a:rPr>
              <a:t>MANAGER
18ヶ月-</a:t>
            </a:r>
          </a:p>
        </p:txBody>
      </p:sp>
      <p:sp>
        <p:nvSpPr>
          <p:cNvPr id="31" name="TextBox 30"/>
          <p:cNvSpPr txBox="1"/>
          <p:nvPr/>
        </p:nvSpPr>
        <p:spPr>
          <a:xfrm>
            <a:off x="9954000" y="2052000"/>
            <a:ext cx="1835999" cy="1080000"/>
          </a:xfrm>
          <a:prstGeom prst="rect">
            <a:avLst/>
          </a:prstGeom>
          <a:noFill/>
        </p:spPr>
        <p:txBody>
          <a:bodyPr wrap="square" lIns="18000" rIns="18000" tIns="7200" bIns="7200">
            <a:spAutoFit/>
          </a:bodyPr>
          <a:lstStyle/>
          <a:p>
            <a:pPr>
              <a:lnSpc>
                <a:spcPct val="108000"/>
              </a:lnSpc>
              <a:spcAft>
                <a:spcPts val="300"/>
              </a:spcAft>
              <a:defRPr sz="780">
                <a:solidFill>
                  <a:srgbClr val="5B6B7C"/>
                </a:solidFill>
                <a:latin typeface="Noto Sans JP"/>
              </a:defRPr>
            </a:pPr>
            <a:r>
              <a:rPr>
                <a:latin typeface="Noto Sans JP"/>
              </a:rPr>
              <a:t>• 運営補助</a:t>
            </a:r>
          </a:p>
          <a:p>
            <a:pPr>
              <a:lnSpc>
                <a:spcPct val="108000"/>
              </a:lnSpc>
              <a:spcAft>
                <a:spcPts val="300"/>
              </a:spcAft>
              <a:defRPr sz="780">
                <a:solidFill>
                  <a:srgbClr val="5B6B7C"/>
                </a:solidFill>
                <a:latin typeface="Noto Sans JP"/>
              </a:defRPr>
            </a:pPr>
            <a:r>
              <a:rPr>
                <a:latin typeface="Noto Sans JP"/>
              </a:rPr>
              <a:t>• 社会参加・就労準備</a:t>
            </a:r>
          </a:p>
          <a:p>
            <a:pPr>
              <a:lnSpc>
                <a:spcPct val="108000"/>
              </a:lnSpc>
              <a:spcAft>
                <a:spcPts val="300"/>
              </a:spcAft>
              <a:defRPr sz="780">
                <a:solidFill>
                  <a:srgbClr val="5B6B7C"/>
                </a:solidFill>
                <a:latin typeface="Noto Sans JP"/>
              </a:defRPr>
            </a:pPr>
            <a:r>
              <a:rPr>
                <a:latin typeface="Noto Sans JP"/>
              </a:rPr>
              <a:t>• 再発予防計画の完成</a:t>
            </a:r>
          </a:p>
        </p:txBody>
      </p:sp>
      <p:sp>
        <p:nvSpPr>
          <p:cNvPr id="32" name="TextBox 31"/>
          <p:cNvSpPr txBox="1"/>
          <p:nvPr/>
        </p:nvSpPr>
        <p:spPr>
          <a:xfrm>
            <a:off x="9954000" y="4716000"/>
            <a:ext cx="1835999" cy="288000"/>
          </a:xfrm>
          <a:prstGeom prst="rect">
            <a:avLst/>
          </a:prstGeom>
          <a:noFill/>
        </p:spPr>
        <p:txBody>
          <a:bodyPr wrap="square" lIns="18000" rIns="18000" tIns="7200" bIns="7200">
            <a:noAutofit/>
          </a:bodyPr>
          <a:lstStyle/>
          <a:p>
            <a:pPr algn="l">
              <a:lnSpc>
                <a:spcPct val="108000"/>
              </a:lnSpc>
            </a:pPr>
            <a:r>
              <a:rPr sz="750" b="1">
                <a:solidFill>
                  <a:srgbClr val="EC588F"/>
                </a:solidFill>
                <a:latin typeface="Noto Sans JP"/>
              </a:rPr>
              <a:t>達成基準
次段階の役割へ移行</a:t>
            </a:r>
          </a:p>
        </p:txBody>
      </p:sp>
      <p:sp>
        <p:nvSpPr>
          <p:cNvPr id="33" name="TextBox 32"/>
          <p:cNvSpPr txBox="1"/>
          <p:nvPr/>
        </p:nvSpPr>
        <p:spPr>
          <a:xfrm>
            <a:off x="270000" y="6588000"/>
            <a:ext cx="5760000" cy="125999"/>
          </a:xfrm>
          <a:prstGeom prst="rect">
            <a:avLst/>
          </a:prstGeom>
          <a:noFill/>
        </p:spPr>
        <p:txBody>
          <a:bodyPr wrap="square" lIns="18000" rIns="18000" tIns="7200" bIns="7200">
            <a:noAutofit/>
          </a:bodyPr>
          <a:lstStyle/>
          <a:p>
            <a:pPr algn="l">
              <a:lnSpc>
                <a:spcPct val="108000"/>
              </a:lnSpc>
            </a:pPr>
            <a:r>
              <a:rPr sz="720" b="0">
                <a:solidFill>
                  <a:srgbClr val="5B6B7C"/>
                </a:solidFill>
                <a:latin typeface="Noto Sans JP"/>
              </a:rPr>
              <a:t>相模原ダルク｜依存症からの回復を全力で支えます</a:t>
            </a:r>
          </a:p>
        </p:txBody>
      </p:sp>
      <p:sp>
        <p:nvSpPr>
          <p:cNvPr id="34" name="TextBox 33"/>
          <p:cNvSpPr txBox="1"/>
          <p:nvPr/>
        </p:nvSpPr>
        <p:spPr>
          <a:xfrm>
            <a:off x="10062000" y="6566399"/>
            <a:ext cx="540000" cy="125999"/>
          </a:xfrm>
          <a:prstGeom prst="rect">
            <a:avLst/>
          </a:prstGeom>
          <a:noFill/>
        </p:spPr>
        <p:txBody>
          <a:bodyPr wrap="square" lIns="18000" rIns="18000" tIns="7200" bIns="7200">
            <a:noAutofit/>
          </a:bodyPr>
          <a:lstStyle/>
          <a:p>
            <a:pPr algn="r">
              <a:lnSpc>
                <a:spcPct val="108000"/>
              </a:lnSpc>
            </a:pPr>
            <a:r>
              <a:rPr sz="780" b="1">
                <a:solidFill>
                  <a:srgbClr val="0D223A"/>
                </a:solidFill>
                <a:latin typeface="Aptos Display"/>
              </a:rPr>
              <a:t>10/18</a:t>
            </a:r>
          </a:p>
        </p:txBody>
      </p:sp>
      <p:sp>
        <p:nvSpPr>
          <p:cNvPr id="35" name="Rounded Rectangle 34"/>
          <p:cNvSpPr/>
          <p:nvPr/>
        </p:nvSpPr>
        <p:spPr>
          <a:xfrm>
            <a:off x="10674000" y="6609600"/>
            <a:ext cx="1080000" cy="28800"/>
          </a:xfrm>
          <a:prstGeom prst="roundRect">
            <a:avLst/>
          </a:prstGeom>
          <a:solidFill>
            <a:srgbClr val="D7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0674000" y="6609600"/>
            <a:ext cx="600000" cy="28800"/>
          </a:xfrm>
          <a:prstGeom prst="roundRect">
            <a:avLst/>
          </a:prstGeom>
          <a:solidFill>
            <a:srgbClr val="16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119" cy="730799"/>
          </a:xfrm>
          <a:prstGeom prst="rect">
            <a:avLst/>
          </a:prstGeom>
          <a:solidFill>
            <a:srgbClr val="0D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70000" y="162000"/>
            <a:ext cx="259200" cy="259200"/>
          </a:xfrm>
          <a:prstGeom prst="roundRect">
            <a:avLst/>
          </a:prstGeom>
          <a:solidFill>
            <a:srgbClr val="153A5E"/>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1000" b="1">
                <a:solidFill>
                  <a:srgbClr val="FFFFFF"/>
                </a:solidFill>
                <a:latin typeface="Noto Sans JP"/>
              </a:rPr>
              <a:t>▦</a:t>
            </a:r>
          </a:p>
        </p:txBody>
      </p:sp>
      <p:sp>
        <p:nvSpPr>
          <p:cNvPr id="5" name="TextBox 4"/>
          <p:cNvSpPr txBox="1"/>
          <p:nvPr/>
        </p:nvSpPr>
        <p:spPr>
          <a:xfrm>
            <a:off x="619200" y="125999"/>
            <a:ext cx="7380000" cy="223200"/>
          </a:xfrm>
          <a:prstGeom prst="rect">
            <a:avLst/>
          </a:prstGeom>
          <a:noFill/>
        </p:spPr>
        <p:txBody>
          <a:bodyPr wrap="square" lIns="18000" rIns="18000" tIns="7200" bIns="7200">
            <a:noAutofit/>
          </a:bodyPr>
          <a:lstStyle/>
          <a:p>
            <a:pPr algn="l">
              <a:lnSpc>
                <a:spcPct val="108000"/>
              </a:lnSpc>
            </a:pPr>
            <a:r>
              <a:rPr sz="2000" b="1">
                <a:solidFill>
                  <a:srgbClr val="FFFFFF"/>
                </a:solidFill>
                <a:latin typeface="Noto Sans JP"/>
              </a:rPr>
              <a:t>相模原ダルクグループ</a:t>
            </a:r>
          </a:p>
        </p:txBody>
      </p:sp>
      <p:sp>
        <p:nvSpPr>
          <p:cNvPr id="6" name="TextBox 5"/>
          <p:cNvSpPr txBox="1"/>
          <p:nvPr/>
        </p:nvSpPr>
        <p:spPr>
          <a:xfrm>
            <a:off x="630000" y="396000"/>
            <a:ext cx="7920000" cy="151200"/>
          </a:xfrm>
          <a:prstGeom prst="rect">
            <a:avLst/>
          </a:prstGeom>
          <a:noFill/>
        </p:spPr>
        <p:txBody>
          <a:bodyPr wrap="square" lIns="18000" rIns="18000" tIns="7200" bIns="7200">
            <a:noAutofit/>
          </a:bodyPr>
          <a:lstStyle/>
          <a:p>
            <a:pPr algn="l">
              <a:lnSpc>
                <a:spcPct val="108000"/>
              </a:lnSpc>
            </a:pPr>
            <a:r>
              <a:rPr sz="880" b="0">
                <a:solidFill>
                  <a:srgbClr val="BED3E2"/>
                </a:solidFill>
                <a:latin typeface="Noto Sans JP"/>
              </a:rPr>
              <a:t>5つの拠点と依存症支援を支える包括的ネットワーク</a:t>
            </a:r>
          </a:p>
        </p:txBody>
      </p:sp>
      <p:sp>
        <p:nvSpPr>
          <p:cNvPr id="7" name="Rounded Rectangle 6"/>
          <p:cNvSpPr/>
          <p:nvPr/>
        </p:nvSpPr>
        <p:spPr>
          <a:xfrm>
            <a:off x="9504000" y="198000"/>
            <a:ext cx="2124000" cy="208800"/>
          </a:xfrm>
          <a:prstGeom prst="roundRect">
            <a:avLst/>
          </a:prstGeom>
          <a:solidFill>
            <a:srgbClr val="EDF3F8"/>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850" b="1">
                <a:solidFill>
                  <a:srgbClr val="0D223A"/>
                </a:solidFill>
                <a:latin typeface="Noto Sans JP"/>
              </a:rPr>
              <a:t>全体像の説明</a:t>
            </a:r>
          </a:p>
        </p:txBody>
      </p:sp>
      <p:pic>
        <p:nvPicPr>
          <p:cNvPr id="8" name="Picture 7" descr="facility_main.jpg"/>
          <p:cNvPicPr>
            <a:picLocks noChangeAspect="1"/>
          </p:cNvPicPr>
          <p:nvPr/>
        </p:nvPicPr>
        <p:blipFill>
          <a:blip r:embed="rId2"/>
          <a:srcRect l="2000" r="2000"/>
          <a:stretch>
            <a:fillRect/>
          </a:stretch>
        </p:blipFill>
        <p:spPr>
          <a:xfrm>
            <a:off x="364500" y="1152000"/>
            <a:ext cx="3375000" cy="1800000"/>
          </a:xfrm>
          <a:prstGeom prst="rect">
            <a:avLst/>
          </a:prstGeom>
        </p:spPr>
      </p:pic>
      <p:sp>
        <p:nvSpPr>
          <p:cNvPr id="9" name="Rounded Rectangle 8"/>
          <p:cNvSpPr/>
          <p:nvPr/>
        </p:nvSpPr>
        <p:spPr>
          <a:xfrm>
            <a:off x="3816000" y="1152000"/>
            <a:ext cx="3528000" cy="1800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816000" y="1152000"/>
            <a:ext cx="28800" cy="1800000"/>
          </a:xfrm>
          <a:prstGeom prst="rect">
            <a:avLst/>
          </a:prstGeom>
          <a:solidFill>
            <a:srgbClr val="2D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41999" y="1252800"/>
            <a:ext cx="3276000" cy="162000"/>
          </a:xfrm>
          <a:prstGeom prst="rect">
            <a:avLst/>
          </a:prstGeom>
          <a:noFill/>
        </p:spPr>
        <p:txBody>
          <a:bodyPr wrap="square" lIns="18000" rIns="18000" tIns="7200" bIns="7200">
            <a:noAutofit/>
          </a:bodyPr>
          <a:lstStyle/>
          <a:p>
            <a:pPr algn="l">
              <a:lnSpc>
                <a:spcPct val="108000"/>
              </a:lnSpc>
            </a:pPr>
            <a:r>
              <a:rPr sz="1250" b="1">
                <a:solidFill>
                  <a:srgbClr val="0D223A"/>
                </a:solidFill>
                <a:latin typeface="Noto Sans JP"/>
              </a:rPr>
              <a:t>相模原ダルク デイケアセンター</a:t>
            </a:r>
          </a:p>
        </p:txBody>
      </p:sp>
      <p:sp>
        <p:nvSpPr>
          <p:cNvPr id="12" name="TextBox 11"/>
          <p:cNvSpPr txBox="1"/>
          <p:nvPr/>
        </p:nvSpPr>
        <p:spPr>
          <a:xfrm>
            <a:off x="3941999" y="1483200"/>
            <a:ext cx="3276000" cy="1422000"/>
          </a:xfrm>
          <a:prstGeom prst="rect">
            <a:avLst/>
          </a:prstGeom>
          <a:noFill/>
        </p:spPr>
        <p:txBody>
          <a:bodyPr wrap="square" lIns="18000" rIns="18000" tIns="7200" bIns="7200">
            <a:spAutoFit/>
          </a:bodyPr>
          <a:lstStyle/>
          <a:p>
            <a:pPr>
              <a:lnSpc>
                <a:spcPct val="108000"/>
              </a:lnSpc>
              <a:spcAft>
                <a:spcPts val="300"/>
              </a:spcAft>
              <a:defRPr sz="880">
                <a:solidFill>
                  <a:srgbClr val="5B6B7C"/>
                </a:solidFill>
                <a:latin typeface="Noto Sans JP"/>
              </a:defRPr>
            </a:pPr>
            <a:r>
              <a:rPr>
                <a:latin typeface="Noto Sans JP"/>
              </a:rPr>
              <a:t>• 各種依存症の総合相談窓口</a:t>
            </a:r>
          </a:p>
          <a:p>
            <a:pPr>
              <a:lnSpc>
                <a:spcPct val="108000"/>
              </a:lnSpc>
              <a:spcAft>
                <a:spcPts val="300"/>
              </a:spcAft>
              <a:defRPr sz="880">
                <a:solidFill>
                  <a:srgbClr val="5B6B7C"/>
                </a:solidFill>
                <a:latin typeface="Noto Sans JP"/>
              </a:defRPr>
            </a:pPr>
            <a:r>
              <a:rPr>
                <a:latin typeface="Noto Sans JP"/>
              </a:rPr>
              <a:t>• 日中活動・プログラム提供</a:t>
            </a:r>
          </a:p>
          <a:p>
            <a:pPr>
              <a:lnSpc>
                <a:spcPct val="108000"/>
              </a:lnSpc>
              <a:spcAft>
                <a:spcPts val="300"/>
              </a:spcAft>
              <a:defRPr sz="880">
                <a:solidFill>
                  <a:srgbClr val="5B6B7C"/>
                </a:solidFill>
                <a:latin typeface="Noto Sans JP"/>
              </a:defRPr>
            </a:pPr>
            <a:r>
              <a:rPr>
                <a:latin typeface="Noto Sans JP"/>
              </a:rPr>
              <a:t>• 医療・行政連携の中心</a:t>
            </a:r>
          </a:p>
        </p:txBody>
      </p:sp>
      <p:pic>
        <p:nvPicPr>
          <p:cNvPr id="13" name="Picture 12" descr="business01.jpg"/>
          <p:cNvPicPr>
            <a:picLocks noChangeAspect="1"/>
          </p:cNvPicPr>
          <p:nvPr/>
        </p:nvPicPr>
        <p:blipFill>
          <a:blip r:embed="rId3"/>
          <a:srcRect t="13045" b="13045"/>
          <a:stretch>
            <a:fillRect/>
          </a:stretch>
        </p:blipFill>
        <p:spPr>
          <a:xfrm>
            <a:off x="7560000" y="834300"/>
            <a:ext cx="3240000" cy="2435400"/>
          </a:xfrm>
          <a:prstGeom prst="rect">
            <a:avLst/>
          </a:prstGeom>
        </p:spPr>
      </p:pic>
      <p:sp>
        <p:nvSpPr>
          <p:cNvPr id="14" name="Rounded Rectangle 13"/>
          <p:cNvSpPr/>
          <p:nvPr/>
        </p:nvSpPr>
        <p:spPr>
          <a:xfrm>
            <a:off x="432000" y="3240000"/>
            <a:ext cx="2484000" cy="1188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2000" y="3240000"/>
            <a:ext cx="28800" cy="1188000"/>
          </a:xfrm>
          <a:prstGeom prst="rect">
            <a:avLst/>
          </a:prstGeom>
          <a:solidFill>
            <a:srgbClr val="17BC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7999" y="3340800"/>
            <a:ext cx="2232000" cy="162000"/>
          </a:xfrm>
          <a:prstGeom prst="rect">
            <a:avLst/>
          </a:prstGeom>
          <a:noFill/>
        </p:spPr>
        <p:txBody>
          <a:bodyPr wrap="square" lIns="18000" rIns="18000" tIns="7200" bIns="7200">
            <a:noAutofit/>
          </a:bodyPr>
          <a:lstStyle/>
          <a:p>
            <a:pPr algn="l">
              <a:lnSpc>
                <a:spcPct val="108000"/>
              </a:lnSpc>
            </a:pPr>
            <a:r>
              <a:rPr sz="1250" b="1">
                <a:solidFill>
                  <a:srgbClr val="0D223A"/>
                </a:solidFill>
                <a:latin typeface="Noto Sans JP"/>
              </a:rPr>
              <a:t>大和PCC</a:t>
            </a:r>
          </a:p>
        </p:txBody>
      </p:sp>
      <p:sp>
        <p:nvSpPr>
          <p:cNvPr id="17" name="TextBox 16"/>
          <p:cNvSpPr txBox="1"/>
          <p:nvPr/>
        </p:nvSpPr>
        <p:spPr>
          <a:xfrm>
            <a:off x="557999" y="3571200"/>
            <a:ext cx="2232000" cy="827999"/>
          </a:xfrm>
          <a:prstGeom prst="rect">
            <a:avLst/>
          </a:prstGeom>
          <a:noFill/>
        </p:spPr>
        <p:txBody>
          <a:bodyPr wrap="square" lIns="18000" rIns="18000" tIns="7200" bIns="7200">
            <a:noAutofit/>
          </a:bodyPr>
          <a:lstStyle/>
          <a:p>
            <a:pPr algn="l">
              <a:lnSpc>
                <a:spcPct val="108000"/>
              </a:lnSpc>
            </a:pPr>
            <a:r>
              <a:rPr sz="950" b="0">
                <a:solidFill>
                  <a:srgbClr val="5B6B7C"/>
                </a:solidFill>
                <a:latin typeface="Noto Sans JP"/>
              </a:rPr>
              <a:t>プライマリーケア機能／生活再建と共同生活支援</a:t>
            </a:r>
          </a:p>
        </p:txBody>
      </p:sp>
      <p:sp>
        <p:nvSpPr>
          <p:cNvPr id="18" name="Rounded Rectangle 17"/>
          <p:cNvSpPr/>
          <p:nvPr/>
        </p:nvSpPr>
        <p:spPr>
          <a:xfrm>
            <a:off x="3131999" y="3240000"/>
            <a:ext cx="2484000" cy="1188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131999" y="3240000"/>
            <a:ext cx="28800" cy="1188000"/>
          </a:xfrm>
          <a:prstGeom prst="rect">
            <a:avLst/>
          </a:prstGeom>
          <a:solidFill>
            <a:srgbClr val="F5A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57999" y="3340800"/>
            <a:ext cx="2232000" cy="162000"/>
          </a:xfrm>
          <a:prstGeom prst="rect">
            <a:avLst/>
          </a:prstGeom>
          <a:noFill/>
        </p:spPr>
        <p:txBody>
          <a:bodyPr wrap="square" lIns="18000" rIns="18000" tIns="7200" bIns="7200">
            <a:noAutofit/>
          </a:bodyPr>
          <a:lstStyle/>
          <a:p>
            <a:pPr algn="l">
              <a:lnSpc>
                <a:spcPct val="108000"/>
              </a:lnSpc>
            </a:pPr>
            <a:r>
              <a:rPr sz="1250" b="1">
                <a:solidFill>
                  <a:srgbClr val="0D223A"/>
                </a:solidFill>
                <a:latin typeface="Noto Sans JP"/>
              </a:rPr>
              <a:t>町田RC</a:t>
            </a:r>
          </a:p>
        </p:txBody>
      </p:sp>
      <p:sp>
        <p:nvSpPr>
          <p:cNvPr id="21" name="TextBox 20"/>
          <p:cNvSpPr txBox="1"/>
          <p:nvPr/>
        </p:nvSpPr>
        <p:spPr>
          <a:xfrm>
            <a:off x="3257999" y="3571200"/>
            <a:ext cx="2232000" cy="827999"/>
          </a:xfrm>
          <a:prstGeom prst="rect">
            <a:avLst/>
          </a:prstGeom>
          <a:noFill/>
        </p:spPr>
        <p:txBody>
          <a:bodyPr wrap="square" lIns="18000" rIns="18000" tIns="7200" bIns="7200">
            <a:noAutofit/>
          </a:bodyPr>
          <a:lstStyle/>
          <a:p>
            <a:pPr algn="l">
              <a:lnSpc>
                <a:spcPct val="108000"/>
              </a:lnSpc>
            </a:pPr>
            <a:r>
              <a:rPr sz="950" b="0">
                <a:solidFill>
                  <a:srgbClr val="5B6B7C"/>
                </a:solidFill>
                <a:latin typeface="Noto Sans JP"/>
              </a:rPr>
              <a:t>リカバリーセンター／段階的な自立準備</a:t>
            </a:r>
          </a:p>
        </p:txBody>
      </p:sp>
      <p:sp>
        <p:nvSpPr>
          <p:cNvPr id="22" name="Rounded Rectangle 21"/>
          <p:cNvSpPr/>
          <p:nvPr/>
        </p:nvSpPr>
        <p:spPr>
          <a:xfrm>
            <a:off x="5832000" y="3240000"/>
            <a:ext cx="2484000" cy="1188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832000" y="3240000"/>
            <a:ext cx="28800" cy="1188000"/>
          </a:xfrm>
          <a:prstGeom prst="rect">
            <a:avLst/>
          </a:prstGeom>
          <a:solidFill>
            <a:srgbClr val="85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58000" y="3340800"/>
            <a:ext cx="2232000" cy="162000"/>
          </a:xfrm>
          <a:prstGeom prst="rect">
            <a:avLst/>
          </a:prstGeom>
          <a:noFill/>
        </p:spPr>
        <p:txBody>
          <a:bodyPr wrap="square" lIns="18000" rIns="18000" tIns="7200" bIns="7200">
            <a:noAutofit/>
          </a:bodyPr>
          <a:lstStyle/>
          <a:p>
            <a:pPr algn="l">
              <a:lnSpc>
                <a:spcPct val="108000"/>
              </a:lnSpc>
            </a:pPr>
            <a:r>
              <a:rPr sz="1250" b="1">
                <a:solidFill>
                  <a:srgbClr val="0D223A"/>
                </a:solidFill>
                <a:latin typeface="Noto Sans JP"/>
              </a:rPr>
              <a:t>愛川TC</a:t>
            </a:r>
          </a:p>
        </p:txBody>
      </p:sp>
      <p:sp>
        <p:nvSpPr>
          <p:cNvPr id="25" name="TextBox 24"/>
          <p:cNvSpPr txBox="1"/>
          <p:nvPr/>
        </p:nvSpPr>
        <p:spPr>
          <a:xfrm>
            <a:off x="5958000" y="3571200"/>
            <a:ext cx="2232000" cy="827999"/>
          </a:xfrm>
          <a:prstGeom prst="rect">
            <a:avLst/>
          </a:prstGeom>
          <a:noFill/>
        </p:spPr>
        <p:txBody>
          <a:bodyPr wrap="square" lIns="18000" rIns="18000" tIns="7200" bIns="7200">
            <a:noAutofit/>
          </a:bodyPr>
          <a:lstStyle/>
          <a:p>
            <a:pPr algn="l">
              <a:lnSpc>
                <a:spcPct val="108000"/>
              </a:lnSpc>
            </a:pPr>
            <a:r>
              <a:rPr sz="950" b="0">
                <a:solidFill>
                  <a:srgbClr val="5B6B7C"/>
                </a:solidFill>
                <a:latin typeface="Noto Sans JP"/>
              </a:rPr>
              <a:t>トリートメントセンター／集中回復環境</a:t>
            </a:r>
          </a:p>
        </p:txBody>
      </p:sp>
      <p:sp>
        <p:nvSpPr>
          <p:cNvPr id="26" name="Rounded Rectangle 25"/>
          <p:cNvSpPr/>
          <p:nvPr/>
        </p:nvSpPr>
        <p:spPr>
          <a:xfrm>
            <a:off x="8532000" y="3240000"/>
            <a:ext cx="2484000" cy="1188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532000" y="3240000"/>
            <a:ext cx="28800" cy="1188000"/>
          </a:xfrm>
          <a:prstGeom prst="rect">
            <a:avLst/>
          </a:prstGeom>
          <a:solidFill>
            <a:srgbClr val="2D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58000" y="3340800"/>
            <a:ext cx="2232000" cy="162000"/>
          </a:xfrm>
          <a:prstGeom prst="rect">
            <a:avLst/>
          </a:prstGeom>
          <a:noFill/>
        </p:spPr>
        <p:txBody>
          <a:bodyPr wrap="square" lIns="18000" rIns="18000" tIns="7200" bIns="7200">
            <a:noAutofit/>
          </a:bodyPr>
          <a:lstStyle/>
          <a:p>
            <a:pPr algn="l">
              <a:lnSpc>
                <a:spcPct val="108000"/>
              </a:lnSpc>
            </a:pPr>
            <a:r>
              <a:rPr sz="1250" b="1">
                <a:solidFill>
                  <a:srgbClr val="0D223A"/>
                </a:solidFill>
                <a:latin typeface="Noto Sans JP"/>
              </a:rPr>
              <a:t>上溝HRC</a:t>
            </a:r>
          </a:p>
        </p:txBody>
      </p:sp>
      <p:sp>
        <p:nvSpPr>
          <p:cNvPr id="29" name="TextBox 28"/>
          <p:cNvSpPr txBox="1"/>
          <p:nvPr/>
        </p:nvSpPr>
        <p:spPr>
          <a:xfrm>
            <a:off x="8658000" y="3571200"/>
            <a:ext cx="2232000" cy="827999"/>
          </a:xfrm>
          <a:prstGeom prst="rect">
            <a:avLst/>
          </a:prstGeom>
          <a:noFill/>
        </p:spPr>
        <p:txBody>
          <a:bodyPr wrap="square" lIns="18000" rIns="18000" tIns="7200" bIns="7200">
            <a:noAutofit/>
          </a:bodyPr>
          <a:lstStyle/>
          <a:p>
            <a:pPr algn="l">
              <a:lnSpc>
                <a:spcPct val="108000"/>
              </a:lnSpc>
            </a:pPr>
            <a:r>
              <a:rPr sz="950" b="0">
                <a:solidFill>
                  <a:srgbClr val="5B6B7C"/>
                </a:solidFill>
                <a:latin typeface="Noto Sans JP"/>
              </a:rPr>
              <a:t>ヒーリングセンター／生活改善と回復支援</a:t>
            </a:r>
          </a:p>
        </p:txBody>
      </p:sp>
      <p:sp>
        <p:nvSpPr>
          <p:cNvPr id="30" name="Rounded Rectangle 29"/>
          <p:cNvSpPr/>
          <p:nvPr/>
        </p:nvSpPr>
        <p:spPr>
          <a:xfrm>
            <a:off x="432000" y="4680000"/>
            <a:ext cx="5184000" cy="936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2000" y="4680000"/>
            <a:ext cx="28800" cy="936000"/>
          </a:xfrm>
          <a:prstGeom prst="rect">
            <a:avLst/>
          </a:prstGeom>
          <a:solidFill>
            <a:srgbClr val="17BC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57999" y="4780800"/>
            <a:ext cx="4932000" cy="162000"/>
          </a:xfrm>
          <a:prstGeom prst="rect">
            <a:avLst/>
          </a:prstGeom>
          <a:noFill/>
        </p:spPr>
        <p:txBody>
          <a:bodyPr wrap="square" lIns="18000" rIns="18000" tIns="7200" bIns="7200">
            <a:noAutofit/>
          </a:bodyPr>
          <a:lstStyle/>
          <a:p>
            <a:pPr algn="l">
              <a:lnSpc>
                <a:spcPct val="108000"/>
              </a:lnSpc>
            </a:pPr>
            <a:r>
              <a:rPr sz="1250" b="1">
                <a:solidFill>
                  <a:srgbClr val="0D223A"/>
                </a:solidFill>
                <a:latin typeface="Noto Sans JP"/>
              </a:rPr>
              <a:t>相模原WPH</a:t>
            </a:r>
          </a:p>
        </p:txBody>
      </p:sp>
      <p:sp>
        <p:nvSpPr>
          <p:cNvPr id="33" name="TextBox 32"/>
          <p:cNvSpPr txBox="1"/>
          <p:nvPr/>
        </p:nvSpPr>
        <p:spPr>
          <a:xfrm>
            <a:off x="557999" y="5011200"/>
            <a:ext cx="4932000" cy="576000"/>
          </a:xfrm>
          <a:prstGeom prst="rect">
            <a:avLst/>
          </a:prstGeom>
          <a:noFill/>
        </p:spPr>
        <p:txBody>
          <a:bodyPr wrap="square" lIns="18000" rIns="18000" tIns="7200" bIns="7200">
            <a:noAutofit/>
          </a:bodyPr>
          <a:lstStyle/>
          <a:p>
            <a:pPr algn="l">
              <a:lnSpc>
                <a:spcPct val="108000"/>
              </a:lnSpc>
            </a:pPr>
            <a:r>
              <a:rPr sz="950" b="0">
                <a:solidFill>
                  <a:srgbClr val="5B6B7C"/>
                </a:solidFill>
                <a:latin typeface="Noto Sans JP"/>
              </a:rPr>
              <a:t>就労準備ホーム。自立に集中できる住環境を提供。</a:t>
            </a:r>
          </a:p>
        </p:txBody>
      </p:sp>
      <p:sp>
        <p:nvSpPr>
          <p:cNvPr id="34" name="Rounded Rectangle 33"/>
          <p:cNvSpPr/>
          <p:nvPr/>
        </p:nvSpPr>
        <p:spPr>
          <a:xfrm>
            <a:off x="5832000" y="4680000"/>
            <a:ext cx="5184000" cy="936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832000" y="4680000"/>
            <a:ext cx="28800" cy="936000"/>
          </a:xfrm>
          <a:prstGeom prst="rect">
            <a:avLst/>
          </a:prstGeom>
          <a:solidFill>
            <a:srgbClr val="F5A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58000" y="4780800"/>
            <a:ext cx="4932000" cy="162000"/>
          </a:xfrm>
          <a:prstGeom prst="rect">
            <a:avLst/>
          </a:prstGeom>
          <a:noFill/>
        </p:spPr>
        <p:txBody>
          <a:bodyPr wrap="square" lIns="18000" rIns="18000" tIns="7200" bIns="7200">
            <a:noAutofit/>
          </a:bodyPr>
          <a:lstStyle/>
          <a:p>
            <a:pPr algn="l">
              <a:lnSpc>
                <a:spcPct val="108000"/>
              </a:lnSpc>
            </a:pPr>
            <a:r>
              <a:rPr sz="1250" b="1">
                <a:solidFill>
                  <a:srgbClr val="0D223A"/>
                </a:solidFill>
                <a:latin typeface="Noto Sans JP"/>
              </a:rPr>
              <a:t>相模原DTC</a:t>
            </a:r>
          </a:p>
        </p:txBody>
      </p:sp>
      <p:sp>
        <p:nvSpPr>
          <p:cNvPr id="37" name="TextBox 36"/>
          <p:cNvSpPr txBox="1"/>
          <p:nvPr/>
        </p:nvSpPr>
        <p:spPr>
          <a:xfrm>
            <a:off x="5958000" y="5011200"/>
            <a:ext cx="4932000" cy="576000"/>
          </a:xfrm>
          <a:prstGeom prst="rect">
            <a:avLst/>
          </a:prstGeom>
          <a:noFill/>
        </p:spPr>
        <p:txBody>
          <a:bodyPr wrap="square" lIns="18000" rIns="18000" tIns="7200" bIns="7200">
            <a:noAutofit/>
          </a:bodyPr>
          <a:lstStyle/>
          <a:p>
            <a:pPr algn="l">
              <a:lnSpc>
                <a:spcPct val="108000"/>
              </a:lnSpc>
            </a:pPr>
            <a:r>
              <a:rPr sz="950" b="0">
                <a:solidFill>
                  <a:srgbClr val="5B6B7C"/>
                </a:solidFill>
                <a:latin typeface="Noto Sans JP"/>
              </a:rPr>
              <a:t>オキュペーショントレーニングセンター。作業訓練・社会参加を支援。</a:t>
            </a:r>
          </a:p>
        </p:txBody>
      </p:sp>
      <p:sp>
        <p:nvSpPr>
          <p:cNvPr id="38" name="TextBox 37"/>
          <p:cNvSpPr txBox="1"/>
          <p:nvPr/>
        </p:nvSpPr>
        <p:spPr>
          <a:xfrm>
            <a:off x="270000" y="6588000"/>
            <a:ext cx="5760000" cy="125999"/>
          </a:xfrm>
          <a:prstGeom prst="rect">
            <a:avLst/>
          </a:prstGeom>
          <a:noFill/>
        </p:spPr>
        <p:txBody>
          <a:bodyPr wrap="square" lIns="18000" rIns="18000" tIns="7200" bIns="7200">
            <a:noAutofit/>
          </a:bodyPr>
          <a:lstStyle/>
          <a:p>
            <a:pPr algn="l">
              <a:lnSpc>
                <a:spcPct val="108000"/>
              </a:lnSpc>
            </a:pPr>
            <a:r>
              <a:rPr sz="720" b="0">
                <a:solidFill>
                  <a:srgbClr val="5B6B7C"/>
                </a:solidFill>
                <a:latin typeface="Noto Sans JP"/>
              </a:rPr>
              <a:t>相模原ダルク｜依存症からの回復を全力で支えます</a:t>
            </a:r>
          </a:p>
        </p:txBody>
      </p:sp>
      <p:sp>
        <p:nvSpPr>
          <p:cNvPr id="39" name="TextBox 38"/>
          <p:cNvSpPr txBox="1"/>
          <p:nvPr/>
        </p:nvSpPr>
        <p:spPr>
          <a:xfrm>
            <a:off x="10062000" y="6566399"/>
            <a:ext cx="540000" cy="125999"/>
          </a:xfrm>
          <a:prstGeom prst="rect">
            <a:avLst/>
          </a:prstGeom>
          <a:noFill/>
        </p:spPr>
        <p:txBody>
          <a:bodyPr wrap="square" lIns="18000" rIns="18000" tIns="7200" bIns="7200">
            <a:noAutofit/>
          </a:bodyPr>
          <a:lstStyle/>
          <a:p>
            <a:pPr algn="r">
              <a:lnSpc>
                <a:spcPct val="108000"/>
              </a:lnSpc>
            </a:pPr>
            <a:r>
              <a:rPr sz="780" b="1">
                <a:solidFill>
                  <a:srgbClr val="0D223A"/>
                </a:solidFill>
                <a:latin typeface="Aptos Display"/>
              </a:rPr>
              <a:t>11/18</a:t>
            </a:r>
          </a:p>
        </p:txBody>
      </p:sp>
      <p:sp>
        <p:nvSpPr>
          <p:cNvPr id="40" name="Rounded Rectangle 39"/>
          <p:cNvSpPr/>
          <p:nvPr/>
        </p:nvSpPr>
        <p:spPr>
          <a:xfrm>
            <a:off x="10674000" y="6609600"/>
            <a:ext cx="1080000" cy="28800"/>
          </a:xfrm>
          <a:prstGeom prst="roundRect">
            <a:avLst/>
          </a:prstGeom>
          <a:solidFill>
            <a:srgbClr val="D7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10674000" y="6609600"/>
            <a:ext cx="660000" cy="28800"/>
          </a:xfrm>
          <a:prstGeom prst="roundRect">
            <a:avLst/>
          </a:prstGeom>
          <a:solidFill>
            <a:srgbClr val="16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119" cy="730799"/>
          </a:xfrm>
          <a:prstGeom prst="rect">
            <a:avLst/>
          </a:prstGeom>
          <a:solidFill>
            <a:srgbClr val="0D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70000" y="162000"/>
            <a:ext cx="259200" cy="259200"/>
          </a:xfrm>
          <a:prstGeom prst="roundRect">
            <a:avLst/>
          </a:prstGeom>
          <a:solidFill>
            <a:srgbClr val="153A5E"/>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1000" b="1">
                <a:solidFill>
                  <a:srgbClr val="FFFFFF"/>
                </a:solidFill>
                <a:latin typeface="Noto Sans JP"/>
              </a:rPr>
              <a:t>▦</a:t>
            </a:r>
          </a:p>
        </p:txBody>
      </p:sp>
      <p:sp>
        <p:nvSpPr>
          <p:cNvPr id="5" name="TextBox 4"/>
          <p:cNvSpPr txBox="1"/>
          <p:nvPr/>
        </p:nvSpPr>
        <p:spPr>
          <a:xfrm>
            <a:off x="619200" y="125999"/>
            <a:ext cx="7380000" cy="223200"/>
          </a:xfrm>
          <a:prstGeom prst="rect">
            <a:avLst/>
          </a:prstGeom>
          <a:noFill/>
        </p:spPr>
        <p:txBody>
          <a:bodyPr wrap="square" lIns="18000" rIns="18000" tIns="7200" bIns="7200">
            <a:noAutofit/>
          </a:bodyPr>
          <a:lstStyle/>
          <a:p>
            <a:pPr algn="l">
              <a:lnSpc>
                <a:spcPct val="108000"/>
              </a:lnSpc>
            </a:pPr>
            <a:r>
              <a:rPr sz="2000" b="1">
                <a:solidFill>
                  <a:srgbClr val="FFFFFF"/>
                </a:solidFill>
                <a:latin typeface="Noto Sans JP"/>
              </a:rPr>
              <a:t>回復プログラム（デイ・ナイト・個別）</a:t>
            </a:r>
          </a:p>
        </p:txBody>
      </p:sp>
      <p:sp>
        <p:nvSpPr>
          <p:cNvPr id="6" name="TextBox 5"/>
          <p:cNvSpPr txBox="1"/>
          <p:nvPr/>
        </p:nvSpPr>
        <p:spPr>
          <a:xfrm>
            <a:off x="630000" y="396000"/>
            <a:ext cx="7920000" cy="151200"/>
          </a:xfrm>
          <a:prstGeom prst="rect">
            <a:avLst/>
          </a:prstGeom>
          <a:noFill/>
        </p:spPr>
        <p:txBody>
          <a:bodyPr wrap="square" lIns="18000" rIns="18000" tIns="7200" bIns="7200">
            <a:noAutofit/>
          </a:bodyPr>
          <a:lstStyle/>
          <a:p>
            <a:pPr algn="l">
              <a:lnSpc>
                <a:spcPct val="108000"/>
              </a:lnSpc>
            </a:pPr>
            <a:r>
              <a:rPr sz="880" b="0">
                <a:solidFill>
                  <a:srgbClr val="BED3E2"/>
                </a:solidFill>
                <a:latin typeface="Noto Sans JP"/>
              </a:rPr>
              <a:t>デイケア、ナイトケア、個別サポートの3つのプログラムを組み合わせて包括支援</a:t>
            </a:r>
          </a:p>
        </p:txBody>
      </p:sp>
      <p:sp>
        <p:nvSpPr>
          <p:cNvPr id="7" name="Rounded Rectangle 6"/>
          <p:cNvSpPr/>
          <p:nvPr/>
        </p:nvSpPr>
        <p:spPr>
          <a:xfrm>
            <a:off x="9504000" y="198000"/>
            <a:ext cx="2124000" cy="208800"/>
          </a:xfrm>
          <a:prstGeom prst="roundRect">
            <a:avLst/>
          </a:prstGeom>
          <a:solidFill>
            <a:srgbClr val="EDF3F8"/>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850" b="1">
                <a:solidFill>
                  <a:srgbClr val="0D223A"/>
                </a:solidFill>
                <a:latin typeface="Noto Sans JP"/>
              </a:rPr>
              <a:t>3つの支援プログラム</a:t>
            </a:r>
          </a:p>
        </p:txBody>
      </p:sp>
      <p:sp>
        <p:nvSpPr>
          <p:cNvPr id="8" name="TextBox 7"/>
          <p:cNvSpPr txBox="1"/>
          <p:nvPr/>
        </p:nvSpPr>
        <p:spPr>
          <a:xfrm>
            <a:off x="486000" y="917999"/>
            <a:ext cx="9000000" cy="198000"/>
          </a:xfrm>
          <a:prstGeom prst="rect">
            <a:avLst/>
          </a:prstGeom>
          <a:noFill/>
        </p:spPr>
        <p:txBody>
          <a:bodyPr wrap="square" lIns="18000" rIns="18000" tIns="7200" bIns="7200">
            <a:noAutofit/>
          </a:bodyPr>
          <a:lstStyle/>
          <a:p>
            <a:pPr algn="l">
              <a:lnSpc>
                <a:spcPct val="108000"/>
              </a:lnSpc>
            </a:pPr>
            <a:r>
              <a:rPr sz="1150" b="1">
                <a:solidFill>
                  <a:srgbClr val="0D223A"/>
                </a:solidFill>
                <a:latin typeface="Noto Sans JP"/>
              </a:rPr>
              <a:t>回復プログラムは、デイケア（通所）、ナイトケア（寮）、個別サポートの3つのプログラムを統合した包括的な支援体制です。</a:t>
            </a:r>
          </a:p>
        </p:txBody>
      </p:sp>
      <p:sp>
        <p:nvSpPr>
          <p:cNvPr id="9" name="Rounded Rectangle 8"/>
          <p:cNvSpPr/>
          <p:nvPr/>
        </p:nvSpPr>
        <p:spPr>
          <a:xfrm>
            <a:off x="486000" y="1800000"/>
            <a:ext cx="3420000" cy="3564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6000" y="1800000"/>
            <a:ext cx="28800" cy="3564000"/>
          </a:xfrm>
          <a:prstGeom prst="rect">
            <a:avLst/>
          </a:prstGeom>
          <a:solidFill>
            <a:srgbClr val="2D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000" y="1900800"/>
            <a:ext cx="3168000" cy="162000"/>
          </a:xfrm>
          <a:prstGeom prst="rect">
            <a:avLst/>
          </a:prstGeom>
          <a:noFill/>
        </p:spPr>
        <p:txBody>
          <a:bodyPr wrap="square" lIns="18000" rIns="18000" tIns="7200" bIns="7200">
            <a:noAutofit/>
          </a:bodyPr>
          <a:lstStyle/>
          <a:p>
            <a:pPr algn="l">
              <a:lnSpc>
                <a:spcPct val="108000"/>
              </a:lnSpc>
            </a:pPr>
            <a:r>
              <a:rPr sz="1300" b="1">
                <a:solidFill>
                  <a:srgbClr val="0D223A"/>
                </a:solidFill>
                <a:latin typeface="Noto Sans JP"/>
              </a:rPr>
              <a:t>デイケア（通所）</a:t>
            </a:r>
          </a:p>
        </p:txBody>
      </p:sp>
      <p:sp>
        <p:nvSpPr>
          <p:cNvPr id="12" name="TextBox 11"/>
          <p:cNvSpPr txBox="1"/>
          <p:nvPr/>
        </p:nvSpPr>
        <p:spPr>
          <a:xfrm>
            <a:off x="612000" y="2131200"/>
            <a:ext cx="3168000" cy="3186000"/>
          </a:xfrm>
          <a:prstGeom prst="rect">
            <a:avLst/>
          </a:prstGeom>
          <a:noFill/>
        </p:spPr>
        <p:txBody>
          <a:bodyPr wrap="square" lIns="18000" rIns="18000" tIns="7200" bIns="7200">
            <a:spAutoFit/>
          </a:bodyPr>
          <a:lstStyle/>
          <a:p>
            <a:pPr>
              <a:lnSpc>
                <a:spcPct val="108000"/>
              </a:lnSpc>
              <a:spcAft>
                <a:spcPts val="300"/>
              </a:spcAft>
              <a:defRPr sz="880">
                <a:solidFill>
                  <a:srgbClr val="5B6B7C"/>
                </a:solidFill>
                <a:latin typeface="Noto Sans JP"/>
              </a:defRPr>
            </a:pPr>
            <a:r>
              <a:rPr>
                <a:latin typeface="Noto Sans JP"/>
              </a:rPr>
              <a:t>• ミーティング／プログラム</a:t>
            </a:r>
          </a:p>
          <a:p>
            <a:pPr>
              <a:lnSpc>
                <a:spcPct val="108000"/>
              </a:lnSpc>
              <a:spcAft>
                <a:spcPts val="300"/>
              </a:spcAft>
              <a:defRPr sz="880">
                <a:solidFill>
                  <a:srgbClr val="5B6B7C"/>
                </a:solidFill>
                <a:latin typeface="Noto Sans JP"/>
              </a:defRPr>
            </a:pPr>
            <a:r>
              <a:rPr>
                <a:latin typeface="Noto Sans JP"/>
              </a:rPr>
              <a:t>• 12ステッププログラム</a:t>
            </a:r>
          </a:p>
          <a:p>
            <a:pPr>
              <a:lnSpc>
                <a:spcPct val="108000"/>
              </a:lnSpc>
              <a:spcAft>
                <a:spcPts val="300"/>
              </a:spcAft>
              <a:defRPr sz="880">
                <a:solidFill>
                  <a:srgbClr val="5B6B7C"/>
                </a:solidFill>
                <a:latin typeface="Noto Sans JP"/>
              </a:defRPr>
            </a:pPr>
            <a:r>
              <a:rPr>
                <a:latin typeface="Noto Sans JP"/>
              </a:rPr>
              <a:t>• SAGARP（再発予防CBT）</a:t>
            </a:r>
          </a:p>
          <a:p>
            <a:pPr>
              <a:lnSpc>
                <a:spcPct val="108000"/>
              </a:lnSpc>
              <a:spcAft>
                <a:spcPts val="300"/>
              </a:spcAft>
              <a:defRPr sz="880">
                <a:solidFill>
                  <a:srgbClr val="5B6B7C"/>
                </a:solidFill>
                <a:latin typeface="Noto Sans JP"/>
              </a:defRPr>
            </a:pPr>
            <a:r>
              <a:rPr>
                <a:latin typeface="Noto Sans JP"/>
              </a:rPr>
              <a:t>• ワークショップ・アート</a:t>
            </a:r>
          </a:p>
        </p:txBody>
      </p:sp>
      <p:sp>
        <p:nvSpPr>
          <p:cNvPr id="13" name="TextBox 12"/>
          <p:cNvSpPr txBox="1"/>
          <p:nvPr/>
        </p:nvSpPr>
        <p:spPr>
          <a:xfrm>
            <a:off x="666000" y="2160000"/>
            <a:ext cx="2880000" cy="125999"/>
          </a:xfrm>
          <a:prstGeom prst="rect">
            <a:avLst/>
          </a:prstGeom>
          <a:noFill/>
        </p:spPr>
        <p:txBody>
          <a:bodyPr wrap="square" lIns="18000" rIns="18000" tIns="7200" bIns="7200">
            <a:noAutofit/>
          </a:bodyPr>
          <a:lstStyle/>
          <a:p>
            <a:pPr algn="l">
              <a:lnSpc>
                <a:spcPct val="108000"/>
              </a:lnSpc>
            </a:pPr>
            <a:r>
              <a:rPr sz="840" b="1">
                <a:solidFill>
                  <a:srgbClr val="2D7AFF"/>
                </a:solidFill>
                <a:latin typeface="Noto Sans JP"/>
              </a:rPr>
              <a:t>仲間と学ぶ・話し合う</a:t>
            </a:r>
          </a:p>
        </p:txBody>
      </p:sp>
      <p:sp>
        <p:nvSpPr>
          <p:cNvPr id="14" name="Rounded Rectangle 13"/>
          <p:cNvSpPr/>
          <p:nvPr/>
        </p:nvSpPr>
        <p:spPr>
          <a:xfrm>
            <a:off x="4284000" y="1800000"/>
            <a:ext cx="3420000" cy="3564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84000" y="1800000"/>
            <a:ext cx="28800" cy="3564000"/>
          </a:xfrm>
          <a:prstGeom prst="rect">
            <a:avLst/>
          </a:prstGeom>
          <a:solidFill>
            <a:srgbClr val="F5A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10000" y="1900800"/>
            <a:ext cx="3168000" cy="162000"/>
          </a:xfrm>
          <a:prstGeom prst="rect">
            <a:avLst/>
          </a:prstGeom>
          <a:noFill/>
        </p:spPr>
        <p:txBody>
          <a:bodyPr wrap="square" lIns="18000" rIns="18000" tIns="7200" bIns="7200">
            <a:noAutofit/>
          </a:bodyPr>
          <a:lstStyle/>
          <a:p>
            <a:pPr algn="l">
              <a:lnSpc>
                <a:spcPct val="108000"/>
              </a:lnSpc>
            </a:pPr>
            <a:r>
              <a:rPr sz="1300" b="1">
                <a:solidFill>
                  <a:srgbClr val="0D223A"/>
                </a:solidFill>
                <a:latin typeface="Noto Sans JP"/>
              </a:rPr>
              <a:t>ナイトケア（寮）</a:t>
            </a:r>
          </a:p>
        </p:txBody>
      </p:sp>
      <p:sp>
        <p:nvSpPr>
          <p:cNvPr id="17" name="TextBox 16"/>
          <p:cNvSpPr txBox="1"/>
          <p:nvPr/>
        </p:nvSpPr>
        <p:spPr>
          <a:xfrm>
            <a:off x="4410000" y="2131200"/>
            <a:ext cx="3168000" cy="3186000"/>
          </a:xfrm>
          <a:prstGeom prst="rect">
            <a:avLst/>
          </a:prstGeom>
          <a:noFill/>
        </p:spPr>
        <p:txBody>
          <a:bodyPr wrap="square" lIns="18000" rIns="18000" tIns="7200" bIns="7200">
            <a:spAutoFit/>
          </a:bodyPr>
          <a:lstStyle/>
          <a:p>
            <a:pPr>
              <a:lnSpc>
                <a:spcPct val="108000"/>
              </a:lnSpc>
              <a:spcAft>
                <a:spcPts val="300"/>
              </a:spcAft>
              <a:defRPr sz="880">
                <a:solidFill>
                  <a:srgbClr val="5B6B7C"/>
                </a:solidFill>
                <a:latin typeface="Noto Sans JP"/>
              </a:defRPr>
            </a:pPr>
            <a:r>
              <a:rPr>
                <a:latin typeface="Noto Sans JP"/>
              </a:rPr>
              <a:t>• 生活習慣の改善</a:t>
            </a:r>
          </a:p>
          <a:p>
            <a:pPr>
              <a:lnSpc>
                <a:spcPct val="108000"/>
              </a:lnSpc>
              <a:spcAft>
                <a:spcPts val="300"/>
              </a:spcAft>
              <a:defRPr sz="880">
                <a:solidFill>
                  <a:srgbClr val="5B6B7C"/>
                </a:solidFill>
                <a:latin typeface="Noto Sans JP"/>
              </a:defRPr>
            </a:pPr>
            <a:r>
              <a:rPr>
                <a:latin typeface="Noto Sans JP"/>
              </a:rPr>
              <a:t>• 金銭・食事の管理</a:t>
            </a:r>
          </a:p>
          <a:p>
            <a:pPr>
              <a:lnSpc>
                <a:spcPct val="108000"/>
              </a:lnSpc>
              <a:spcAft>
                <a:spcPts val="300"/>
              </a:spcAft>
              <a:defRPr sz="880">
                <a:solidFill>
                  <a:srgbClr val="5B6B7C"/>
                </a:solidFill>
                <a:latin typeface="Noto Sans JP"/>
              </a:defRPr>
            </a:pPr>
            <a:r>
              <a:rPr>
                <a:latin typeface="Noto Sans JP"/>
              </a:rPr>
              <a:t>• 入寮生活の安定</a:t>
            </a:r>
          </a:p>
          <a:p>
            <a:pPr>
              <a:lnSpc>
                <a:spcPct val="108000"/>
              </a:lnSpc>
              <a:spcAft>
                <a:spcPts val="300"/>
              </a:spcAft>
              <a:defRPr sz="880">
                <a:solidFill>
                  <a:srgbClr val="5B6B7C"/>
                </a:solidFill>
                <a:latin typeface="Noto Sans JP"/>
              </a:defRPr>
            </a:pPr>
            <a:r>
              <a:rPr>
                <a:latin typeface="Noto Sans JP"/>
              </a:rPr>
              <a:t>• 24時間体制</a:t>
            </a:r>
          </a:p>
        </p:txBody>
      </p:sp>
      <p:sp>
        <p:nvSpPr>
          <p:cNvPr id="18" name="TextBox 17"/>
          <p:cNvSpPr txBox="1"/>
          <p:nvPr/>
        </p:nvSpPr>
        <p:spPr>
          <a:xfrm>
            <a:off x="4464000" y="2160000"/>
            <a:ext cx="2880000" cy="125999"/>
          </a:xfrm>
          <a:prstGeom prst="rect">
            <a:avLst/>
          </a:prstGeom>
          <a:noFill/>
        </p:spPr>
        <p:txBody>
          <a:bodyPr wrap="square" lIns="18000" rIns="18000" tIns="7200" bIns="7200">
            <a:noAutofit/>
          </a:bodyPr>
          <a:lstStyle/>
          <a:p>
            <a:pPr algn="l">
              <a:lnSpc>
                <a:spcPct val="108000"/>
              </a:lnSpc>
            </a:pPr>
            <a:r>
              <a:rPr sz="840" b="1">
                <a:solidFill>
                  <a:srgbClr val="F5A423"/>
                </a:solidFill>
                <a:latin typeface="Noto Sans JP"/>
              </a:rPr>
              <a:t>生活の基盤づくりと習慣化</a:t>
            </a:r>
          </a:p>
        </p:txBody>
      </p:sp>
      <p:sp>
        <p:nvSpPr>
          <p:cNvPr id="19" name="Rounded Rectangle 18"/>
          <p:cNvSpPr/>
          <p:nvPr/>
        </p:nvSpPr>
        <p:spPr>
          <a:xfrm>
            <a:off x="8082000" y="1800000"/>
            <a:ext cx="3420000" cy="3564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82000" y="1800000"/>
            <a:ext cx="28800" cy="3564000"/>
          </a:xfrm>
          <a:prstGeom prst="rect">
            <a:avLst/>
          </a:prstGeom>
          <a:solidFill>
            <a:srgbClr val="17BC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08000" y="1900800"/>
            <a:ext cx="3168000" cy="162000"/>
          </a:xfrm>
          <a:prstGeom prst="rect">
            <a:avLst/>
          </a:prstGeom>
          <a:noFill/>
        </p:spPr>
        <p:txBody>
          <a:bodyPr wrap="square" lIns="18000" rIns="18000" tIns="7200" bIns="7200">
            <a:noAutofit/>
          </a:bodyPr>
          <a:lstStyle/>
          <a:p>
            <a:pPr algn="l">
              <a:lnSpc>
                <a:spcPct val="108000"/>
              </a:lnSpc>
            </a:pPr>
            <a:r>
              <a:rPr sz="1300" b="1">
                <a:solidFill>
                  <a:srgbClr val="0D223A"/>
                </a:solidFill>
                <a:latin typeface="Noto Sans JP"/>
              </a:rPr>
              <a:t>個別サポート</a:t>
            </a:r>
          </a:p>
        </p:txBody>
      </p:sp>
      <p:sp>
        <p:nvSpPr>
          <p:cNvPr id="22" name="TextBox 21"/>
          <p:cNvSpPr txBox="1"/>
          <p:nvPr/>
        </p:nvSpPr>
        <p:spPr>
          <a:xfrm>
            <a:off x="8208000" y="2131200"/>
            <a:ext cx="3168000" cy="3186000"/>
          </a:xfrm>
          <a:prstGeom prst="rect">
            <a:avLst/>
          </a:prstGeom>
          <a:noFill/>
        </p:spPr>
        <p:txBody>
          <a:bodyPr wrap="square" lIns="18000" rIns="18000" tIns="7200" bIns="7200">
            <a:spAutoFit/>
          </a:bodyPr>
          <a:lstStyle/>
          <a:p>
            <a:pPr>
              <a:lnSpc>
                <a:spcPct val="108000"/>
              </a:lnSpc>
              <a:spcAft>
                <a:spcPts val="300"/>
              </a:spcAft>
              <a:defRPr sz="880">
                <a:solidFill>
                  <a:srgbClr val="5B6B7C"/>
                </a:solidFill>
                <a:latin typeface="Noto Sans JP"/>
              </a:defRPr>
            </a:pPr>
            <a:r>
              <a:rPr>
                <a:latin typeface="Noto Sans JP"/>
              </a:rPr>
              <a:t>• 個別面談</a:t>
            </a:r>
          </a:p>
          <a:p>
            <a:pPr>
              <a:lnSpc>
                <a:spcPct val="108000"/>
              </a:lnSpc>
              <a:spcAft>
                <a:spcPts val="300"/>
              </a:spcAft>
              <a:defRPr sz="880">
                <a:solidFill>
                  <a:srgbClr val="5B6B7C"/>
                </a:solidFill>
                <a:latin typeface="Noto Sans JP"/>
              </a:defRPr>
            </a:pPr>
            <a:r>
              <a:rPr>
                <a:latin typeface="Noto Sans JP"/>
              </a:rPr>
              <a:t>• 債務・司法相談</a:t>
            </a:r>
          </a:p>
          <a:p>
            <a:pPr>
              <a:lnSpc>
                <a:spcPct val="108000"/>
              </a:lnSpc>
              <a:spcAft>
                <a:spcPts val="300"/>
              </a:spcAft>
              <a:defRPr sz="880">
                <a:solidFill>
                  <a:srgbClr val="5B6B7C"/>
                </a:solidFill>
                <a:latin typeface="Noto Sans JP"/>
              </a:defRPr>
            </a:pPr>
            <a:r>
              <a:rPr>
                <a:latin typeface="Noto Sans JP"/>
              </a:rPr>
              <a:t>• 家族支援</a:t>
            </a:r>
          </a:p>
          <a:p>
            <a:pPr>
              <a:lnSpc>
                <a:spcPct val="108000"/>
              </a:lnSpc>
              <a:spcAft>
                <a:spcPts val="300"/>
              </a:spcAft>
              <a:defRPr sz="880">
                <a:solidFill>
                  <a:srgbClr val="5B6B7C"/>
                </a:solidFill>
                <a:latin typeface="Noto Sans JP"/>
              </a:defRPr>
            </a:pPr>
            <a:r>
              <a:rPr>
                <a:latin typeface="Noto Sans JP"/>
              </a:rPr>
              <a:t>• 就労準備</a:t>
            </a:r>
          </a:p>
        </p:txBody>
      </p:sp>
      <p:sp>
        <p:nvSpPr>
          <p:cNvPr id="23" name="TextBox 22"/>
          <p:cNvSpPr txBox="1"/>
          <p:nvPr/>
        </p:nvSpPr>
        <p:spPr>
          <a:xfrm>
            <a:off x="8262000" y="2160000"/>
            <a:ext cx="2880000" cy="125999"/>
          </a:xfrm>
          <a:prstGeom prst="rect">
            <a:avLst/>
          </a:prstGeom>
          <a:noFill/>
        </p:spPr>
        <p:txBody>
          <a:bodyPr wrap="square" lIns="18000" rIns="18000" tIns="7200" bIns="7200">
            <a:noAutofit/>
          </a:bodyPr>
          <a:lstStyle/>
          <a:p>
            <a:pPr algn="l">
              <a:lnSpc>
                <a:spcPct val="108000"/>
              </a:lnSpc>
            </a:pPr>
            <a:r>
              <a:rPr sz="840" b="1">
                <a:solidFill>
                  <a:srgbClr val="17BC8B"/>
                </a:solidFill>
                <a:latin typeface="Noto Sans JP"/>
              </a:rPr>
              <a:t>状況に合わせた個別支援</a:t>
            </a:r>
          </a:p>
        </p:txBody>
      </p:sp>
      <p:sp>
        <p:nvSpPr>
          <p:cNvPr id="24" name="TextBox 23"/>
          <p:cNvSpPr txBox="1"/>
          <p:nvPr/>
        </p:nvSpPr>
        <p:spPr>
          <a:xfrm>
            <a:off x="270000" y="6588000"/>
            <a:ext cx="5760000" cy="125999"/>
          </a:xfrm>
          <a:prstGeom prst="rect">
            <a:avLst/>
          </a:prstGeom>
          <a:noFill/>
        </p:spPr>
        <p:txBody>
          <a:bodyPr wrap="square" lIns="18000" rIns="18000" tIns="7200" bIns="7200">
            <a:noAutofit/>
          </a:bodyPr>
          <a:lstStyle/>
          <a:p>
            <a:pPr algn="l">
              <a:lnSpc>
                <a:spcPct val="108000"/>
              </a:lnSpc>
            </a:pPr>
            <a:r>
              <a:rPr sz="720" b="0">
                <a:solidFill>
                  <a:srgbClr val="5B6B7C"/>
                </a:solidFill>
                <a:latin typeface="Noto Sans JP"/>
              </a:rPr>
              <a:t>相模原ダルク｜依存症からの回復を全力で支えます</a:t>
            </a:r>
          </a:p>
        </p:txBody>
      </p:sp>
      <p:sp>
        <p:nvSpPr>
          <p:cNvPr id="25" name="TextBox 24"/>
          <p:cNvSpPr txBox="1"/>
          <p:nvPr/>
        </p:nvSpPr>
        <p:spPr>
          <a:xfrm>
            <a:off x="10062000" y="6566399"/>
            <a:ext cx="540000" cy="125999"/>
          </a:xfrm>
          <a:prstGeom prst="rect">
            <a:avLst/>
          </a:prstGeom>
          <a:noFill/>
        </p:spPr>
        <p:txBody>
          <a:bodyPr wrap="square" lIns="18000" rIns="18000" tIns="7200" bIns="7200">
            <a:noAutofit/>
          </a:bodyPr>
          <a:lstStyle/>
          <a:p>
            <a:pPr algn="r">
              <a:lnSpc>
                <a:spcPct val="108000"/>
              </a:lnSpc>
            </a:pPr>
            <a:r>
              <a:rPr sz="780" b="1">
                <a:solidFill>
                  <a:srgbClr val="0D223A"/>
                </a:solidFill>
                <a:latin typeface="Aptos Display"/>
              </a:rPr>
              <a:t>12/18</a:t>
            </a:r>
          </a:p>
        </p:txBody>
      </p:sp>
      <p:sp>
        <p:nvSpPr>
          <p:cNvPr id="26" name="Rounded Rectangle 25"/>
          <p:cNvSpPr/>
          <p:nvPr/>
        </p:nvSpPr>
        <p:spPr>
          <a:xfrm>
            <a:off x="10674000" y="6609600"/>
            <a:ext cx="1080000" cy="28800"/>
          </a:xfrm>
          <a:prstGeom prst="roundRect">
            <a:avLst/>
          </a:prstGeom>
          <a:solidFill>
            <a:srgbClr val="D7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0674000" y="6609600"/>
            <a:ext cx="720000" cy="28800"/>
          </a:xfrm>
          <a:prstGeom prst="roundRect">
            <a:avLst/>
          </a:prstGeom>
          <a:solidFill>
            <a:srgbClr val="16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119" cy="730799"/>
          </a:xfrm>
          <a:prstGeom prst="rect">
            <a:avLst/>
          </a:prstGeom>
          <a:solidFill>
            <a:srgbClr val="0D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70000" y="162000"/>
            <a:ext cx="259200" cy="259200"/>
          </a:xfrm>
          <a:prstGeom prst="roundRect">
            <a:avLst/>
          </a:prstGeom>
          <a:solidFill>
            <a:srgbClr val="153A5E"/>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1000" b="1">
                <a:solidFill>
                  <a:srgbClr val="FFFFFF"/>
                </a:solidFill>
                <a:latin typeface="Noto Sans JP"/>
              </a:rPr>
              <a:t>◆</a:t>
            </a:r>
          </a:p>
        </p:txBody>
      </p:sp>
      <p:sp>
        <p:nvSpPr>
          <p:cNvPr id="5" name="TextBox 4"/>
          <p:cNvSpPr txBox="1"/>
          <p:nvPr/>
        </p:nvSpPr>
        <p:spPr>
          <a:xfrm>
            <a:off x="619200" y="125999"/>
            <a:ext cx="7380000" cy="223200"/>
          </a:xfrm>
          <a:prstGeom prst="rect">
            <a:avLst/>
          </a:prstGeom>
          <a:noFill/>
        </p:spPr>
        <p:txBody>
          <a:bodyPr wrap="square" lIns="18000" rIns="18000" tIns="7200" bIns="7200">
            <a:noAutofit/>
          </a:bodyPr>
          <a:lstStyle/>
          <a:p>
            <a:pPr algn="l">
              <a:lnSpc>
                <a:spcPct val="108000"/>
              </a:lnSpc>
            </a:pPr>
            <a:r>
              <a:rPr sz="2000" b="1">
                <a:solidFill>
                  <a:srgbClr val="FFFFFF"/>
                </a:solidFill>
                <a:latin typeface="Noto Sans JP"/>
              </a:rPr>
              <a:t>依存症の理解（7つの特徴）</a:t>
            </a:r>
          </a:p>
        </p:txBody>
      </p:sp>
      <p:sp>
        <p:nvSpPr>
          <p:cNvPr id="6" name="TextBox 5"/>
          <p:cNvSpPr txBox="1"/>
          <p:nvPr/>
        </p:nvSpPr>
        <p:spPr>
          <a:xfrm>
            <a:off x="630000" y="396000"/>
            <a:ext cx="7920000" cy="151200"/>
          </a:xfrm>
          <a:prstGeom prst="rect">
            <a:avLst/>
          </a:prstGeom>
          <a:noFill/>
        </p:spPr>
        <p:txBody>
          <a:bodyPr wrap="square" lIns="18000" rIns="18000" tIns="7200" bIns="7200">
            <a:noAutofit/>
          </a:bodyPr>
          <a:lstStyle/>
          <a:p>
            <a:pPr algn="l">
              <a:lnSpc>
                <a:spcPct val="108000"/>
              </a:lnSpc>
            </a:pPr>
            <a:r>
              <a:rPr sz="880" b="0">
                <a:solidFill>
                  <a:srgbClr val="BED3E2"/>
                </a:solidFill>
                <a:latin typeface="Noto Sans JP"/>
              </a:rPr>
              <a:t>科学的理解に基づく回復支援の前提条件</a:t>
            </a:r>
          </a:p>
        </p:txBody>
      </p:sp>
      <p:sp>
        <p:nvSpPr>
          <p:cNvPr id="7" name="Rounded Rectangle 6"/>
          <p:cNvSpPr/>
          <p:nvPr/>
        </p:nvSpPr>
        <p:spPr>
          <a:xfrm>
            <a:off x="9504000" y="198000"/>
            <a:ext cx="2124000" cy="208800"/>
          </a:xfrm>
          <a:prstGeom prst="roundRect">
            <a:avLst/>
          </a:prstGeom>
          <a:solidFill>
            <a:srgbClr val="EDF3F8"/>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850" b="1">
                <a:solidFill>
                  <a:srgbClr val="0D223A"/>
                </a:solidFill>
                <a:latin typeface="Noto Sans JP"/>
              </a:rPr>
              <a:t>7つの特徴</a:t>
            </a:r>
          </a:p>
        </p:txBody>
      </p:sp>
      <p:sp>
        <p:nvSpPr>
          <p:cNvPr id="8" name="TextBox 7"/>
          <p:cNvSpPr txBox="1"/>
          <p:nvPr/>
        </p:nvSpPr>
        <p:spPr>
          <a:xfrm>
            <a:off x="468000" y="900000"/>
            <a:ext cx="9360000" cy="223200"/>
          </a:xfrm>
          <a:prstGeom prst="rect">
            <a:avLst/>
          </a:prstGeom>
          <a:noFill/>
        </p:spPr>
        <p:txBody>
          <a:bodyPr wrap="square" lIns="18000" rIns="18000" tIns="7200" bIns="7200">
            <a:noAutofit/>
          </a:bodyPr>
          <a:lstStyle/>
          <a:p>
            <a:pPr algn="l">
              <a:lnSpc>
                <a:spcPct val="108000"/>
              </a:lnSpc>
            </a:pPr>
            <a:r>
              <a:rPr sz="1140" b="1">
                <a:solidFill>
                  <a:srgbClr val="0D223A"/>
                </a:solidFill>
                <a:latin typeface="Noto Sans JP"/>
              </a:rPr>
              <a:t>依存症は、7つの特徴を持つ複雑な病気です。これらを正しく理解することで、適切な治療アプローチを選択し、回復への道筋を確立できます。</a:t>
            </a:r>
          </a:p>
        </p:txBody>
      </p:sp>
      <p:sp>
        <p:nvSpPr>
          <p:cNvPr id="9" name="Rounded Rectangle 8"/>
          <p:cNvSpPr/>
          <p:nvPr/>
        </p:nvSpPr>
        <p:spPr>
          <a:xfrm>
            <a:off x="396000" y="1512000"/>
            <a:ext cx="2628000" cy="1368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96000" y="1512000"/>
            <a:ext cx="28800" cy="1368000"/>
          </a:xfrm>
          <a:prstGeom prst="rect">
            <a:avLst/>
          </a:prstGeom>
          <a:solidFill>
            <a:srgbClr val="2D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2000" y="1612800"/>
            <a:ext cx="2376000" cy="162000"/>
          </a:xfrm>
          <a:prstGeom prst="rect">
            <a:avLst/>
          </a:prstGeom>
          <a:noFill/>
        </p:spPr>
        <p:txBody>
          <a:bodyPr wrap="square" lIns="18000" rIns="18000" tIns="7200" bIns="7200">
            <a:noAutofit/>
          </a:bodyPr>
          <a:lstStyle/>
          <a:p>
            <a:pPr algn="l">
              <a:lnSpc>
                <a:spcPct val="108000"/>
              </a:lnSpc>
            </a:pPr>
            <a:r>
              <a:rPr sz="1100" b="1">
                <a:solidFill>
                  <a:srgbClr val="0D223A"/>
                </a:solidFill>
                <a:latin typeface="Noto Sans JP"/>
              </a:rPr>
              <a:t>一次性の病気</a:t>
            </a:r>
          </a:p>
        </p:txBody>
      </p:sp>
      <p:sp>
        <p:nvSpPr>
          <p:cNvPr id="12" name="TextBox 11"/>
          <p:cNvSpPr txBox="1"/>
          <p:nvPr/>
        </p:nvSpPr>
        <p:spPr>
          <a:xfrm>
            <a:off x="522000" y="1843200"/>
            <a:ext cx="2376000" cy="1007999"/>
          </a:xfrm>
          <a:prstGeom prst="rect">
            <a:avLst/>
          </a:prstGeom>
          <a:noFill/>
        </p:spPr>
        <p:txBody>
          <a:bodyPr wrap="square" lIns="18000" rIns="18000" tIns="7200" bIns="7200">
            <a:noAutofit/>
          </a:bodyPr>
          <a:lstStyle/>
          <a:p>
            <a:pPr algn="l">
              <a:lnSpc>
                <a:spcPct val="108000"/>
              </a:lnSpc>
            </a:pPr>
            <a:r>
              <a:rPr sz="950" b="0">
                <a:solidFill>
                  <a:srgbClr val="5B6B7C"/>
                </a:solidFill>
                <a:latin typeface="Noto Sans JP"/>
              </a:rPr>
              <a:t>原因は依存症そのもの。意思や性格の問題ではありません。</a:t>
            </a:r>
          </a:p>
        </p:txBody>
      </p:sp>
      <p:sp>
        <p:nvSpPr>
          <p:cNvPr id="13" name="Rounded Rectangle 12"/>
          <p:cNvSpPr/>
          <p:nvPr/>
        </p:nvSpPr>
        <p:spPr>
          <a:xfrm>
            <a:off x="3276000" y="1512000"/>
            <a:ext cx="2628000" cy="1368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76000" y="1512000"/>
            <a:ext cx="28800" cy="1368000"/>
          </a:xfrm>
          <a:prstGeom prst="rect">
            <a:avLst/>
          </a:prstGeom>
          <a:solidFill>
            <a:srgbClr val="17BC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01999" y="1612800"/>
            <a:ext cx="2376000" cy="162000"/>
          </a:xfrm>
          <a:prstGeom prst="rect">
            <a:avLst/>
          </a:prstGeom>
          <a:noFill/>
        </p:spPr>
        <p:txBody>
          <a:bodyPr wrap="square" lIns="18000" rIns="18000" tIns="7200" bIns="7200">
            <a:noAutofit/>
          </a:bodyPr>
          <a:lstStyle/>
          <a:p>
            <a:pPr algn="l">
              <a:lnSpc>
                <a:spcPct val="108000"/>
              </a:lnSpc>
            </a:pPr>
            <a:r>
              <a:rPr sz="1100" b="1">
                <a:solidFill>
                  <a:srgbClr val="0D223A"/>
                </a:solidFill>
                <a:latin typeface="Noto Sans JP"/>
              </a:rPr>
              <a:t>慢性の病気</a:t>
            </a:r>
          </a:p>
        </p:txBody>
      </p:sp>
      <p:sp>
        <p:nvSpPr>
          <p:cNvPr id="16" name="TextBox 15"/>
          <p:cNvSpPr txBox="1"/>
          <p:nvPr/>
        </p:nvSpPr>
        <p:spPr>
          <a:xfrm>
            <a:off x="3401999" y="1843200"/>
            <a:ext cx="2376000" cy="1007999"/>
          </a:xfrm>
          <a:prstGeom prst="rect">
            <a:avLst/>
          </a:prstGeom>
          <a:noFill/>
        </p:spPr>
        <p:txBody>
          <a:bodyPr wrap="square" lIns="18000" rIns="18000" tIns="7200" bIns="7200">
            <a:noAutofit/>
          </a:bodyPr>
          <a:lstStyle/>
          <a:p>
            <a:pPr algn="l">
              <a:lnSpc>
                <a:spcPct val="108000"/>
              </a:lnSpc>
            </a:pPr>
            <a:r>
              <a:rPr sz="950" b="0">
                <a:solidFill>
                  <a:srgbClr val="5B6B7C"/>
                </a:solidFill>
                <a:latin typeface="Noto Sans JP"/>
              </a:rPr>
              <a:t>完治ではなく、やめ続けるためのケアが必要です。</a:t>
            </a:r>
          </a:p>
        </p:txBody>
      </p:sp>
      <p:sp>
        <p:nvSpPr>
          <p:cNvPr id="17" name="Rounded Rectangle 16"/>
          <p:cNvSpPr/>
          <p:nvPr/>
        </p:nvSpPr>
        <p:spPr>
          <a:xfrm>
            <a:off x="6156000" y="1512000"/>
            <a:ext cx="2628000" cy="1368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56000" y="1512000"/>
            <a:ext cx="28800" cy="1368000"/>
          </a:xfrm>
          <a:prstGeom prst="rect">
            <a:avLst/>
          </a:prstGeom>
          <a:solidFill>
            <a:srgbClr val="F5A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82000" y="1612800"/>
            <a:ext cx="2376000" cy="162000"/>
          </a:xfrm>
          <a:prstGeom prst="rect">
            <a:avLst/>
          </a:prstGeom>
          <a:noFill/>
        </p:spPr>
        <p:txBody>
          <a:bodyPr wrap="square" lIns="18000" rIns="18000" tIns="7200" bIns="7200">
            <a:noAutofit/>
          </a:bodyPr>
          <a:lstStyle/>
          <a:p>
            <a:pPr algn="l">
              <a:lnSpc>
                <a:spcPct val="108000"/>
              </a:lnSpc>
            </a:pPr>
            <a:r>
              <a:rPr sz="1100" b="1">
                <a:solidFill>
                  <a:srgbClr val="0D223A"/>
                </a:solidFill>
                <a:latin typeface="Noto Sans JP"/>
              </a:rPr>
              <a:t>進行性の病気</a:t>
            </a:r>
          </a:p>
        </p:txBody>
      </p:sp>
      <p:sp>
        <p:nvSpPr>
          <p:cNvPr id="20" name="TextBox 19"/>
          <p:cNvSpPr txBox="1"/>
          <p:nvPr/>
        </p:nvSpPr>
        <p:spPr>
          <a:xfrm>
            <a:off x="6282000" y="1843200"/>
            <a:ext cx="2376000" cy="1007999"/>
          </a:xfrm>
          <a:prstGeom prst="rect">
            <a:avLst/>
          </a:prstGeom>
          <a:noFill/>
        </p:spPr>
        <p:txBody>
          <a:bodyPr wrap="square" lIns="18000" rIns="18000" tIns="7200" bIns="7200">
            <a:noAutofit/>
          </a:bodyPr>
          <a:lstStyle/>
          <a:p>
            <a:pPr algn="l">
              <a:lnSpc>
                <a:spcPct val="108000"/>
              </a:lnSpc>
            </a:pPr>
            <a:r>
              <a:rPr sz="950" b="0">
                <a:solidFill>
                  <a:srgbClr val="5B6B7C"/>
                </a:solidFill>
                <a:latin typeface="Noto Sans JP"/>
              </a:rPr>
              <a:t>放置すれば失うものが大きくなります。</a:t>
            </a:r>
          </a:p>
        </p:txBody>
      </p:sp>
      <p:sp>
        <p:nvSpPr>
          <p:cNvPr id="21" name="Rounded Rectangle 20"/>
          <p:cNvSpPr/>
          <p:nvPr/>
        </p:nvSpPr>
        <p:spPr>
          <a:xfrm>
            <a:off x="9036000" y="1512000"/>
            <a:ext cx="2628000" cy="1368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36000" y="1512000"/>
            <a:ext cx="28800" cy="1368000"/>
          </a:xfrm>
          <a:prstGeom prst="rect">
            <a:avLst/>
          </a:prstGeom>
          <a:solidFill>
            <a:srgbClr val="EE57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62000" y="1612800"/>
            <a:ext cx="2376000" cy="162000"/>
          </a:xfrm>
          <a:prstGeom prst="rect">
            <a:avLst/>
          </a:prstGeom>
          <a:noFill/>
        </p:spPr>
        <p:txBody>
          <a:bodyPr wrap="square" lIns="18000" rIns="18000" tIns="7200" bIns="7200">
            <a:noAutofit/>
          </a:bodyPr>
          <a:lstStyle/>
          <a:p>
            <a:pPr algn="l">
              <a:lnSpc>
                <a:spcPct val="108000"/>
              </a:lnSpc>
            </a:pPr>
            <a:r>
              <a:rPr sz="1100" b="1">
                <a:solidFill>
                  <a:srgbClr val="0D223A"/>
                </a:solidFill>
                <a:latin typeface="Noto Sans JP"/>
              </a:rPr>
              <a:t>死亡率が高い</a:t>
            </a:r>
          </a:p>
        </p:txBody>
      </p:sp>
      <p:sp>
        <p:nvSpPr>
          <p:cNvPr id="24" name="TextBox 23"/>
          <p:cNvSpPr txBox="1"/>
          <p:nvPr/>
        </p:nvSpPr>
        <p:spPr>
          <a:xfrm>
            <a:off x="9162000" y="1843200"/>
            <a:ext cx="2376000" cy="1007999"/>
          </a:xfrm>
          <a:prstGeom prst="rect">
            <a:avLst/>
          </a:prstGeom>
          <a:noFill/>
        </p:spPr>
        <p:txBody>
          <a:bodyPr wrap="square" lIns="18000" rIns="18000" tIns="7200" bIns="7200">
            <a:noAutofit/>
          </a:bodyPr>
          <a:lstStyle/>
          <a:p>
            <a:pPr algn="l">
              <a:lnSpc>
                <a:spcPct val="108000"/>
              </a:lnSpc>
            </a:pPr>
            <a:r>
              <a:rPr sz="950" b="0">
                <a:solidFill>
                  <a:srgbClr val="5B6B7C"/>
                </a:solidFill>
                <a:latin typeface="Noto Sans JP"/>
              </a:rPr>
              <a:t>事故・自殺・オーバードーズ等のリスクがあります。</a:t>
            </a:r>
          </a:p>
        </p:txBody>
      </p:sp>
      <p:sp>
        <p:nvSpPr>
          <p:cNvPr id="25" name="Rounded Rectangle 24"/>
          <p:cNvSpPr/>
          <p:nvPr/>
        </p:nvSpPr>
        <p:spPr>
          <a:xfrm>
            <a:off x="396000" y="3168000"/>
            <a:ext cx="2628000" cy="1368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96000" y="3168000"/>
            <a:ext cx="28800" cy="1368000"/>
          </a:xfrm>
          <a:prstGeom prst="rect">
            <a:avLst/>
          </a:prstGeom>
          <a:solidFill>
            <a:srgbClr val="85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2000" y="3268800"/>
            <a:ext cx="2376000" cy="162000"/>
          </a:xfrm>
          <a:prstGeom prst="rect">
            <a:avLst/>
          </a:prstGeom>
          <a:noFill/>
        </p:spPr>
        <p:txBody>
          <a:bodyPr wrap="square" lIns="18000" rIns="18000" tIns="7200" bIns="7200">
            <a:noAutofit/>
          </a:bodyPr>
          <a:lstStyle/>
          <a:p>
            <a:pPr algn="l">
              <a:lnSpc>
                <a:spcPct val="108000"/>
              </a:lnSpc>
            </a:pPr>
            <a:r>
              <a:rPr sz="1100" b="1">
                <a:solidFill>
                  <a:srgbClr val="0D223A"/>
                </a:solidFill>
                <a:latin typeface="Noto Sans JP"/>
              </a:rPr>
              <a:t>性格が変化する</a:t>
            </a:r>
          </a:p>
        </p:txBody>
      </p:sp>
      <p:sp>
        <p:nvSpPr>
          <p:cNvPr id="28" name="TextBox 27"/>
          <p:cNvSpPr txBox="1"/>
          <p:nvPr/>
        </p:nvSpPr>
        <p:spPr>
          <a:xfrm>
            <a:off x="522000" y="3499200"/>
            <a:ext cx="2376000" cy="1007999"/>
          </a:xfrm>
          <a:prstGeom prst="rect">
            <a:avLst/>
          </a:prstGeom>
          <a:noFill/>
        </p:spPr>
        <p:txBody>
          <a:bodyPr wrap="square" lIns="18000" rIns="18000" tIns="7200" bIns="7200">
            <a:noAutofit/>
          </a:bodyPr>
          <a:lstStyle/>
          <a:p>
            <a:pPr algn="l">
              <a:lnSpc>
                <a:spcPct val="108000"/>
              </a:lnSpc>
            </a:pPr>
            <a:r>
              <a:rPr sz="950" b="0">
                <a:solidFill>
                  <a:srgbClr val="5B6B7C"/>
                </a:solidFill>
                <a:latin typeface="Noto Sans JP"/>
              </a:rPr>
              <a:t>病気の進行に伴い、人間関係が崩れます。</a:t>
            </a:r>
          </a:p>
        </p:txBody>
      </p:sp>
      <p:sp>
        <p:nvSpPr>
          <p:cNvPr id="29" name="Rounded Rectangle 28"/>
          <p:cNvSpPr/>
          <p:nvPr/>
        </p:nvSpPr>
        <p:spPr>
          <a:xfrm>
            <a:off x="3276000" y="3168000"/>
            <a:ext cx="2628000" cy="1368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276000" y="3168000"/>
            <a:ext cx="28800" cy="1368000"/>
          </a:xfrm>
          <a:prstGeom prst="rect">
            <a:avLst/>
          </a:prstGeom>
          <a:solidFill>
            <a:srgbClr val="EC58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01999" y="3268800"/>
            <a:ext cx="2376000" cy="162000"/>
          </a:xfrm>
          <a:prstGeom prst="rect">
            <a:avLst/>
          </a:prstGeom>
          <a:noFill/>
        </p:spPr>
        <p:txBody>
          <a:bodyPr wrap="square" lIns="18000" rIns="18000" tIns="7200" bIns="7200">
            <a:noAutofit/>
          </a:bodyPr>
          <a:lstStyle/>
          <a:p>
            <a:pPr algn="l">
              <a:lnSpc>
                <a:spcPct val="108000"/>
              </a:lnSpc>
            </a:pPr>
            <a:r>
              <a:rPr sz="1100" b="1">
                <a:solidFill>
                  <a:srgbClr val="0D223A"/>
                </a:solidFill>
                <a:latin typeface="Noto Sans JP"/>
              </a:rPr>
              <a:t>依存対象が他へ移行</a:t>
            </a:r>
          </a:p>
        </p:txBody>
      </p:sp>
      <p:sp>
        <p:nvSpPr>
          <p:cNvPr id="32" name="TextBox 31"/>
          <p:cNvSpPr txBox="1"/>
          <p:nvPr/>
        </p:nvSpPr>
        <p:spPr>
          <a:xfrm>
            <a:off x="3401999" y="3499200"/>
            <a:ext cx="2376000" cy="1007999"/>
          </a:xfrm>
          <a:prstGeom prst="rect">
            <a:avLst/>
          </a:prstGeom>
          <a:noFill/>
        </p:spPr>
        <p:txBody>
          <a:bodyPr wrap="square" lIns="18000" rIns="18000" tIns="7200" bIns="7200">
            <a:noAutofit/>
          </a:bodyPr>
          <a:lstStyle/>
          <a:p>
            <a:pPr algn="l">
              <a:lnSpc>
                <a:spcPct val="108000"/>
              </a:lnSpc>
            </a:pPr>
            <a:r>
              <a:rPr sz="950" b="0">
                <a:solidFill>
                  <a:srgbClr val="5B6B7C"/>
                </a:solidFill>
                <a:latin typeface="Noto Sans JP"/>
              </a:rPr>
              <a:t>交差依存により、対象が移ることがあります。</a:t>
            </a:r>
          </a:p>
        </p:txBody>
      </p:sp>
      <p:sp>
        <p:nvSpPr>
          <p:cNvPr id="33" name="Rounded Rectangle 32"/>
          <p:cNvSpPr/>
          <p:nvPr/>
        </p:nvSpPr>
        <p:spPr>
          <a:xfrm>
            <a:off x="6156000" y="3168000"/>
            <a:ext cx="2628000" cy="1368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156000" y="3168000"/>
            <a:ext cx="28800" cy="1368000"/>
          </a:xfrm>
          <a:prstGeom prst="rect">
            <a:avLst/>
          </a:prstGeom>
          <a:solidFill>
            <a:srgbClr val="16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82000" y="3268800"/>
            <a:ext cx="2376000" cy="162000"/>
          </a:xfrm>
          <a:prstGeom prst="rect">
            <a:avLst/>
          </a:prstGeom>
          <a:noFill/>
        </p:spPr>
        <p:txBody>
          <a:bodyPr wrap="square" lIns="18000" rIns="18000" tIns="7200" bIns="7200">
            <a:noAutofit/>
          </a:bodyPr>
          <a:lstStyle/>
          <a:p>
            <a:pPr algn="l">
              <a:lnSpc>
                <a:spcPct val="108000"/>
              </a:lnSpc>
            </a:pPr>
            <a:r>
              <a:rPr sz="1100" b="1">
                <a:solidFill>
                  <a:srgbClr val="0D223A"/>
                </a:solidFill>
                <a:latin typeface="Noto Sans JP"/>
              </a:rPr>
              <a:t>人を巻き込む病気</a:t>
            </a:r>
          </a:p>
        </p:txBody>
      </p:sp>
      <p:sp>
        <p:nvSpPr>
          <p:cNvPr id="36" name="TextBox 35"/>
          <p:cNvSpPr txBox="1"/>
          <p:nvPr/>
        </p:nvSpPr>
        <p:spPr>
          <a:xfrm>
            <a:off x="6282000" y="3499200"/>
            <a:ext cx="2376000" cy="1007999"/>
          </a:xfrm>
          <a:prstGeom prst="rect">
            <a:avLst/>
          </a:prstGeom>
          <a:noFill/>
        </p:spPr>
        <p:txBody>
          <a:bodyPr wrap="square" lIns="18000" rIns="18000" tIns="7200" bIns="7200">
            <a:noAutofit/>
          </a:bodyPr>
          <a:lstStyle/>
          <a:p>
            <a:pPr algn="l">
              <a:lnSpc>
                <a:spcPct val="108000"/>
              </a:lnSpc>
            </a:pPr>
            <a:r>
              <a:rPr sz="950" b="0">
                <a:solidFill>
                  <a:srgbClr val="5B6B7C"/>
                </a:solidFill>
                <a:latin typeface="Noto Sans JP"/>
              </a:rPr>
              <a:t>家族・周囲への影響と支援が重要です。</a:t>
            </a:r>
          </a:p>
        </p:txBody>
      </p:sp>
      <p:sp>
        <p:nvSpPr>
          <p:cNvPr id="37" name="Rounded Rectangle 36"/>
          <p:cNvSpPr/>
          <p:nvPr/>
        </p:nvSpPr>
        <p:spPr>
          <a:xfrm>
            <a:off x="468000" y="5418000"/>
            <a:ext cx="11124000" cy="324000"/>
          </a:xfrm>
          <a:prstGeom prst="roundRect">
            <a:avLst/>
          </a:prstGeom>
          <a:solidFill>
            <a:srgbClr val="0D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2000" y="5500800"/>
            <a:ext cx="10620000" cy="136800"/>
          </a:xfrm>
          <a:prstGeom prst="rect">
            <a:avLst/>
          </a:prstGeom>
          <a:noFill/>
        </p:spPr>
        <p:txBody>
          <a:bodyPr wrap="square" lIns="18000" rIns="18000" tIns="7200" bIns="7200">
            <a:noAutofit/>
          </a:bodyPr>
          <a:lstStyle/>
          <a:p>
            <a:pPr algn="ctr">
              <a:lnSpc>
                <a:spcPct val="108000"/>
              </a:lnSpc>
            </a:pPr>
            <a:r>
              <a:rPr sz="1080" b="1">
                <a:solidFill>
                  <a:srgbClr val="FFFFFF"/>
                </a:solidFill>
                <a:latin typeface="Noto Sans JP"/>
              </a:rPr>
              <a:t>「意志の弱さ」ではなく治療が必要な病気としての理解が、回復への第一歩です</a:t>
            </a:r>
          </a:p>
        </p:txBody>
      </p:sp>
      <p:sp>
        <p:nvSpPr>
          <p:cNvPr id="39" name="TextBox 38"/>
          <p:cNvSpPr txBox="1"/>
          <p:nvPr/>
        </p:nvSpPr>
        <p:spPr>
          <a:xfrm>
            <a:off x="270000" y="6588000"/>
            <a:ext cx="5760000" cy="125999"/>
          </a:xfrm>
          <a:prstGeom prst="rect">
            <a:avLst/>
          </a:prstGeom>
          <a:noFill/>
        </p:spPr>
        <p:txBody>
          <a:bodyPr wrap="square" lIns="18000" rIns="18000" tIns="7200" bIns="7200">
            <a:noAutofit/>
          </a:bodyPr>
          <a:lstStyle/>
          <a:p>
            <a:pPr algn="l">
              <a:lnSpc>
                <a:spcPct val="108000"/>
              </a:lnSpc>
            </a:pPr>
            <a:r>
              <a:rPr sz="720" b="0">
                <a:solidFill>
                  <a:srgbClr val="5B6B7C"/>
                </a:solidFill>
                <a:latin typeface="Noto Sans JP"/>
              </a:rPr>
              <a:t>相模原ダルク｜依存症からの回復を全力で支えます</a:t>
            </a:r>
          </a:p>
        </p:txBody>
      </p:sp>
      <p:sp>
        <p:nvSpPr>
          <p:cNvPr id="40" name="TextBox 39"/>
          <p:cNvSpPr txBox="1"/>
          <p:nvPr/>
        </p:nvSpPr>
        <p:spPr>
          <a:xfrm>
            <a:off x="10062000" y="6566399"/>
            <a:ext cx="540000" cy="125999"/>
          </a:xfrm>
          <a:prstGeom prst="rect">
            <a:avLst/>
          </a:prstGeom>
          <a:noFill/>
        </p:spPr>
        <p:txBody>
          <a:bodyPr wrap="square" lIns="18000" rIns="18000" tIns="7200" bIns="7200">
            <a:noAutofit/>
          </a:bodyPr>
          <a:lstStyle/>
          <a:p>
            <a:pPr algn="r">
              <a:lnSpc>
                <a:spcPct val="108000"/>
              </a:lnSpc>
            </a:pPr>
            <a:r>
              <a:rPr sz="780" b="1">
                <a:solidFill>
                  <a:srgbClr val="0D223A"/>
                </a:solidFill>
                <a:latin typeface="Aptos Display"/>
              </a:rPr>
              <a:t>13/18</a:t>
            </a:r>
          </a:p>
        </p:txBody>
      </p:sp>
      <p:sp>
        <p:nvSpPr>
          <p:cNvPr id="41" name="Rounded Rectangle 40"/>
          <p:cNvSpPr/>
          <p:nvPr/>
        </p:nvSpPr>
        <p:spPr>
          <a:xfrm>
            <a:off x="10674000" y="6609600"/>
            <a:ext cx="1080000" cy="28800"/>
          </a:xfrm>
          <a:prstGeom prst="roundRect">
            <a:avLst/>
          </a:prstGeom>
          <a:solidFill>
            <a:srgbClr val="D7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10674000" y="6609600"/>
            <a:ext cx="780000" cy="28800"/>
          </a:xfrm>
          <a:prstGeom prst="roundRect">
            <a:avLst/>
          </a:prstGeom>
          <a:solidFill>
            <a:srgbClr val="16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119" cy="730799"/>
          </a:xfrm>
          <a:prstGeom prst="rect">
            <a:avLst/>
          </a:prstGeom>
          <a:solidFill>
            <a:srgbClr val="0D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70000" y="162000"/>
            <a:ext cx="259200" cy="259200"/>
          </a:xfrm>
          <a:prstGeom prst="roundRect">
            <a:avLst/>
          </a:prstGeom>
          <a:solidFill>
            <a:srgbClr val="153A5E"/>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1000" b="1">
                <a:solidFill>
                  <a:srgbClr val="FFFFFF"/>
                </a:solidFill>
                <a:latin typeface="Noto Sans JP"/>
              </a:rPr>
              <a:t>↻</a:t>
            </a:r>
          </a:p>
        </p:txBody>
      </p:sp>
      <p:sp>
        <p:nvSpPr>
          <p:cNvPr id="5" name="TextBox 4"/>
          <p:cNvSpPr txBox="1"/>
          <p:nvPr/>
        </p:nvSpPr>
        <p:spPr>
          <a:xfrm>
            <a:off x="619200" y="125999"/>
            <a:ext cx="7380000" cy="223200"/>
          </a:xfrm>
          <a:prstGeom prst="rect">
            <a:avLst/>
          </a:prstGeom>
          <a:noFill/>
        </p:spPr>
        <p:txBody>
          <a:bodyPr wrap="square" lIns="18000" rIns="18000" tIns="7200" bIns="7200">
            <a:noAutofit/>
          </a:bodyPr>
          <a:lstStyle/>
          <a:p>
            <a:pPr algn="l">
              <a:lnSpc>
                <a:spcPct val="108000"/>
              </a:lnSpc>
            </a:pPr>
            <a:r>
              <a:rPr sz="2000" b="1">
                <a:solidFill>
                  <a:srgbClr val="FFFFFF"/>
                </a:solidFill>
                <a:latin typeface="Noto Sans JP"/>
              </a:rPr>
              <a:t>交差依存（クロスアディクション）</a:t>
            </a:r>
          </a:p>
        </p:txBody>
      </p:sp>
      <p:sp>
        <p:nvSpPr>
          <p:cNvPr id="6" name="TextBox 5"/>
          <p:cNvSpPr txBox="1"/>
          <p:nvPr/>
        </p:nvSpPr>
        <p:spPr>
          <a:xfrm>
            <a:off x="630000" y="396000"/>
            <a:ext cx="7920000" cy="151200"/>
          </a:xfrm>
          <a:prstGeom prst="rect">
            <a:avLst/>
          </a:prstGeom>
          <a:noFill/>
        </p:spPr>
        <p:txBody>
          <a:bodyPr wrap="square" lIns="18000" rIns="18000" tIns="7200" bIns="7200">
            <a:noAutofit/>
          </a:bodyPr>
          <a:lstStyle/>
          <a:p>
            <a:pPr algn="l">
              <a:lnSpc>
                <a:spcPct val="108000"/>
              </a:lnSpc>
            </a:pPr>
            <a:r>
              <a:rPr sz="880" b="0">
                <a:solidFill>
                  <a:srgbClr val="BED3E2"/>
                </a:solidFill>
                <a:latin typeface="Noto Sans JP"/>
              </a:rPr>
              <a:t>「本命を止めても他の依存へ移り、最終的にスリップする悪循環」</a:t>
            </a:r>
          </a:p>
        </p:txBody>
      </p:sp>
      <p:sp>
        <p:nvSpPr>
          <p:cNvPr id="7" name="Rounded Rectangle 6"/>
          <p:cNvSpPr/>
          <p:nvPr/>
        </p:nvSpPr>
        <p:spPr>
          <a:xfrm>
            <a:off x="9504000" y="198000"/>
            <a:ext cx="2124000" cy="208800"/>
          </a:xfrm>
          <a:prstGeom prst="roundRect">
            <a:avLst/>
          </a:prstGeom>
          <a:solidFill>
            <a:srgbClr val="EDF3F8"/>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850" b="1">
                <a:solidFill>
                  <a:srgbClr val="0D223A"/>
                </a:solidFill>
                <a:latin typeface="Noto Sans JP"/>
              </a:rPr>
              <a:t>注意：悪循環を止める</a:t>
            </a:r>
          </a:p>
        </p:txBody>
      </p:sp>
      <p:sp>
        <p:nvSpPr>
          <p:cNvPr id="8" name="TextBox 7"/>
          <p:cNvSpPr txBox="1"/>
          <p:nvPr/>
        </p:nvSpPr>
        <p:spPr>
          <a:xfrm>
            <a:off x="468000" y="936000"/>
            <a:ext cx="9504000" cy="198000"/>
          </a:xfrm>
          <a:prstGeom prst="rect">
            <a:avLst/>
          </a:prstGeom>
          <a:noFill/>
        </p:spPr>
        <p:txBody>
          <a:bodyPr wrap="square" lIns="18000" rIns="18000" tIns="7200" bIns="7200">
            <a:noAutofit/>
          </a:bodyPr>
          <a:lstStyle/>
          <a:p>
            <a:pPr algn="l">
              <a:lnSpc>
                <a:spcPct val="108000"/>
              </a:lnSpc>
            </a:pPr>
            <a:r>
              <a:rPr sz="1080" b="1">
                <a:solidFill>
                  <a:srgbClr val="0D223A"/>
                </a:solidFill>
                <a:latin typeface="Noto Sans JP"/>
              </a:rPr>
              <a:t>交差依存は、本命の依存をやめても他の依存へ移行し、最終的にスリップする構造です。適切な対策を取ることで、依存の対象が変化しながら依存症が継続します。</a:t>
            </a:r>
          </a:p>
        </p:txBody>
      </p:sp>
      <p:sp>
        <p:nvSpPr>
          <p:cNvPr id="9" name="Rounded Rectangle 8"/>
          <p:cNvSpPr/>
          <p:nvPr/>
        </p:nvSpPr>
        <p:spPr>
          <a:xfrm>
            <a:off x="5003999" y="3024000"/>
            <a:ext cx="1655999" cy="1007999"/>
          </a:xfrm>
          <a:prstGeom prst="roundRect">
            <a:avLst/>
          </a:prstGeom>
          <a:solidFill>
            <a:srgbClr val="2D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28000" y="3330000"/>
            <a:ext cx="1007999" cy="180000"/>
          </a:xfrm>
          <a:prstGeom prst="rect">
            <a:avLst/>
          </a:prstGeom>
          <a:noFill/>
        </p:spPr>
        <p:txBody>
          <a:bodyPr wrap="square" lIns="18000" rIns="18000" tIns="7200" bIns="7200">
            <a:noAutofit/>
          </a:bodyPr>
          <a:lstStyle/>
          <a:p>
            <a:pPr algn="ctr">
              <a:lnSpc>
                <a:spcPct val="108000"/>
              </a:lnSpc>
            </a:pPr>
            <a:r>
              <a:rPr sz="1400" b="1">
                <a:solidFill>
                  <a:srgbClr val="FFFFFF"/>
                </a:solidFill>
                <a:latin typeface="Noto Sans JP"/>
              </a:rPr>
              <a:t>本命へ戻る</a:t>
            </a:r>
          </a:p>
        </p:txBody>
      </p:sp>
      <p:sp>
        <p:nvSpPr>
          <p:cNvPr id="11" name="Rounded Rectangle 10"/>
          <p:cNvSpPr/>
          <p:nvPr/>
        </p:nvSpPr>
        <p:spPr>
          <a:xfrm>
            <a:off x="5040000" y="1475999"/>
            <a:ext cx="2592000" cy="936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40000" y="1475999"/>
            <a:ext cx="28800" cy="936000"/>
          </a:xfrm>
          <a:prstGeom prst="rect">
            <a:avLst/>
          </a:prstGeom>
          <a:solidFill>
            <a:srgbClr val="2D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66000" y="1576800"/>
            <a:ext cx="2340000" cy="162000"/>
          </a:xfrm>
          <a:prstGeom prst="rect">
            <a:avLst/>
          </a:prstGeom>
          <a:noFill/>
        </p:spPr>
        <p:txBody>
          <a:bodyPr wrap="square" lIns="18000" rIns="18000" tIns="7200" bIns="7200">
            <a:noAutofit/>
          </a:bodyPr>
          <a:lstStyle/>
          <a:p>
            <a:pPr algn="l">
              <a:lnSpc>
                <a:spcPct val="108000"/>
              </a:lnSpc>
            </a:pPr>
            <a:r>
              <a:rPr sz="1050" b="1">
                <a:solidFill>
                  <a:srgbClr val="0D223A"/>
                </a:solidFill>
                <a:latin typeface="Noto Sans JP"/>
              </a:rPr>
              <a:t>第一の依存をやめる</a:t>
            </a:r>
          </a:p>
        </p:txBody>
      </p:sp>
      <p:sp>
        <p:nvSpPr>
          <p:cNvPr id="14" name="TextBox 13"/>
          <p:cNvSpPr txBox="1"/>
          <p:nvPr/>
        </p:nvSpPr>
        <p:spPr>
          <a:xfrm>
            <a:off x="5166000" y="1807199"/>
            <a:ext cx="2340000" cy="576000"/>
          </a:xfrm>
          <a:prstGeom prst="rect">
            <a:avLst/>
          </a:prstGeom>
          <a:noFill/>
        </p:spPr>
        <p:txBody>
          <a:bodyPr wrap="square" lIns="18000" rIns="18000" tIns="7200" bIns="7200">
            <a:noAutofit/>
          </a:bodyPr>
          <a:lstStyle/>
          <a:p>
            <a:pPr algn="l">
              <a:lnSpc>
                <a:spcPct val="108000"/>
              </a:lnSpc>
            </a:pPr>
            <a:r>
              <a:rPr sz="950" b="0">
                <a:solidFill>
                  <a:srgbClr val="5B6B7C"/>
                </a:solidFill>
                <a:latin typeface="Noto Sans JP"/>
              </a:rPr>
              <a:t>覚醒剤・酒など</a:t>
            </a:r>
          </a:p>
        </p:txBody>
      </p:sp>
      <p:sp>
        <p:nvSpPr>
          <p:cNvPr id="15" name="Rounded Rectangle 14"/>
          <p:cNvSpPr/>
          <p:nvPr/>
        </p:nvSpPr>
        <p:spPr>
          <a:xfrm>
            <a:off x="5040000" y="4752000"/>
            <a:ext cx="2592000" cy="936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40000" y="4752000"/>
            <a:ext cx="28800" cy="936000"/>
          </a:xfrm>
          <a:prstGeom prst="rect">
            <a:avLst/>
          </a:prstGeom>
          <a:solidFill>
            <a:srgbClr val="85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66000" y="4852799"/>
            <a:ext cx="2340000" cy="162000"/>
          </a:xfrm>
          <a:prstGeom prst="rect">
            <a:avLst/>
          </a:prstGeom>
          <a:noFill/>
        </p:spPr>
        <p:txBody>
          <a:bodyPr wrap="square" lIns="18000" rIns="18000" tIns="7200" bIns="7200">
            <a:noAutofit/>
          </a:bodyPr>
          <a:lstStyle/>
          <a:p>
            <a:pPr algn="l">
              <a:lnSpc>
                <a:spcPct val="108000"/>
              </a:lnSpc>
            </a:pPr>
            <a:r>
              <a:rPr sz="1050" b="1">
                <a:solidFill>
                  <a:srgbClr val="0D223A"/>
                </a:solidFill>
                <a:latin typeface="Noto Sans JP"/>
              </a:rPr>
              <a:t>本命へ戻る</a:t>
            </a:r>
          </a:p>
        </p:txBody>
      </p:sp>
      <p:sp>
        <p:nvSpPr>
          <p:cNvPr id="18" name="TextBox 17"/>
          <p:cNvSpPr txBox="1"/>
          <p:nvPr/>
        </p:nvSpPr>
        <p:spPr>
          <a:xfrm>
            <a:off x="5166000" y="5083200"/>
            <a:ext cx="2340000" cy="576000"/>
          </a:xfrm>
          <a:prstGeom prst="rect">
            <a:avLst/>
          </a:prstGeom>
          <a:noFill/>
        </p:spPr>
        <p:txBody>
          <a:bodyPr wrap="square" lIns="18000" rIns="18000" tIns="7200" bIns="7200">
            <a:noAutofit/>
          </a:bodyPr>
          <a:lstStyle/>
          <a:p>
            <a:pPr algn="l">
              <a:lnSpc>
                <a:spcPct val="108000"/>
              </a:lnSpc>
            </a:pPr>
            <a:r>
              <a:rPr sz="950" b="0">
                <a:solidFill>
                  <a:srgbClr val="5B6B7C"/>
                </a:solidFill>
                <a:latin typeface="Noto Sans JP"/>
              </a:rPr>
              <a:t>スリップ・再使用</a:t>
            </a:r>
          </a:p>
        </p:txBody>
      </p:sp>
      <p:sp>
        <p:nvSpPr>
          <p:cNvPr id="19" name="Rounded Rectangle 18"/>
          <p:cNvSpPr/>
          <p:nvPr/>
        </p:nvSpPr>
        <p:spPr>
          <a:xfrm>
            <a:off x="2880000" y="3240000"/>
            <a:ext cx="2592000" cy="936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880000" y="3240000"/>
            <a:ext cx="28800" cy="936000"/>
          </a:xfrm>
          <a:prstGeom prst="rect">
            <a:avLst/>
          </a:prstGeom>
          <a:solidFill>
            <a:srgbClr val="17BC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06000" y="3340800"/>
            <a:ext cx="2340000" cy="162000"/>
          </a:xfrm>
          <a:prstGeom prst="rect">
            <a:avLst/>
          </a:prstGeom>
          <a:noFill/>
        </p:spPr>
        <p:txBody>
          <a:bodyPr wrap="square" lIns="18000" rIns="18000" tIns="7200" bIns="7200">
            <a:noAutofit/>
          </a:bodyPr>
          <a:lstStyle/>
          <a:p>
            <a:pPr algn="l">
              <a:lnSpc>
                <a:spcPct val="108000"/>
              </a:lnSpc>
            </a:pPr>
            <a:r>
              <a:rPr sz="1050" b="1">
                <a:solidFill>
                  <a:srgbClr val="0D223A"/>
                </a:solidFill>
                <a:latin typeface="Noto Sans JP"/>
              </a:rPr>
              <a:t>他の依存へ移行</a:t>
            </a:r>
          </a:p>
        </p:txBody>
      </p:sp>
      <p:sp>
        <p:nvSpPr>
          <p:cNvPr id="22" name="TextBox 21"/>
          <p:cNvSpPr txBox="1"/>
          <p:nvPr/>
        </p:nvSpPr>
        <p:spPr>
          <a:xfrm>
            <a:off x="3006000" y="3571200"/>
            <a:ext cx="2340000" cy="576000"/>
          </a:xfrm>
          <a:prstGeom prst="rect">
            <a:avLst/>
          </a:prstGeom>
          <a:noFill/>
        </p:spPr>
        <p:txBody>
          <a:bodyPr wrap="square" lIns="18000" rIns="18000" tIns="7200" bIns="7200">
            <a:noAutofit/>
          </a:bodyPr>
          <a:lstStyle/>
          <a:p>
            <a:pPr algn="l">
              <a:lnSpc>
                <a:spcPct val="108000"/>
              </a:lnSpc>
            </a:pPr>
            <a:r>
              <a:rPr sz="950" b="0">
                <a:solidFill>
                  <a:srgbClr val="5B6B7C"/>
                </a:solidFill>
                <a:latin typeface="Noto Sans JP"/>
              </a:rPr>
              <a:t>処方薬・ギャンブル</a:t>
            </a:r>
          </a:p>
        </p:txBody>
      </p:sp>
      <p:sp>
        <p:nvSpPr>
          <p:cNvPr id="23" name="Rounded Rectangle 22"/>
          <p:cNvSpPr/>
          <p:nvPr/>
        </p:nvSpPr>
        <p:spPr>
          <a:xfrm>
            <a:off x="8352000" y="3240000"/>
            <a:ext cx="2592000" cy="936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352000" y="3240000"/>
            <a:ext cx="28800" cy="936000"/>
          </a:xfrm>
          <a:prstGeom prst="rect">
            <a:avLst/>
          </a:prstGeom>
          <a:solidFill>
            <a:srgbClr val="F5A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78000" y="3340800"/>
            <a:ext cx="2340000" cy="162000"/>
          </a:xfrm>
          <a:prstGeom prst="rect">
            <a:avLst/>
          </a:prstGeom>
          <a:noFill/>
        </p:spPr>
        <p:txBody>
          <a:bodyPr wrap="square" lIns="18000" rIns="18000" tIns="7200" bIns="7200">
            <a:noAutofit/>
          </a:bodyPr>
          <a:lstStyle/>
          <a:p>
            <a:pPr algn="l">
              <a:lnSpc>
                <a:spcPct val="108000"/>
              </a:lnSpc>
            </a:pPr>
            <a:r>
              <a:rPr sz="1050" b="1">
                <a:solidFill>
                  <a:srgbClr val="0D223A"/>
                </a:solidFill>
                <a:latin typeface="Noto Sans JP"/>
              </a:rPr>
              <a:t>苦しみが増える</a:t>
            </a:r>
          </a:p>
        </p:txBody>
      </p:sp>
      <p:sp>
        <p:nvSpPr>
          <p:cNvPr id="26" name="TextBox 25"/>
          <p:cNvSpPr txBox="1"/>
          <p:nvPr/>
        </p:nvSpPr>
        <p:spPr>
          <a:xfrm>
            <a:off x="8478000" y="3571200"/>
            <a:ext cx="2340000" cy="576000"/>
          </a:xfrm>
          <a:prstGeom prst="rect">
            <a:avLst/>
          </a:prstGeom>
          <a:noFill/>
        </p:spPr>
        <p:txBody>
          <a:bodyPr wrap="square" lIns="18000" rIns="18000" tIns="7200" bIns="7200">
            <a:noAutofit/>
          </a:bodyPr>
          <a:lstStyle/>
          <a:p>
            <a:pPr algn="l">
              <a:lnSpc>
                <a:spcPct val="108000"/>
              </a:lnSpc>
            </a:pPr>
            <a:r>
              <a:rPr sz="950" b="0">
                <a:solidFill>
                  <a:srgbClr val="5B6B7C"/>
                </a:solidFill>
                <a:latin typeface="Noto Sans JP"/>
              </a:rPr>
              <a:t>不安・渇望</a:t>
            </a:r>
          </a:p>
        </p:txBody>
      </p:sp>
      <p:sp>
        <p:nvSpPr>
          <p:cNvPr id="27" name="Rounded Rectangle 26"/>
          <p:cNvSpPr/>
          <p:nvPr/>
        </p:nvSpPr>
        <p:spPr>
          <a:xfrm>
            <a:off x="1152000" y="2160000"/>
            <a:ext cx="2592000" cy="936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152000" y="2160000"/>
            <a:ext cx="28800" cy="936000"/>
          </a:xfrm>
          <a:prstGeom prst="rect">
            <a:avLst/>
          </a:prstGeom>
          <a:solidFill>
            <a:srgbClr val="EE57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78000" y="2260800"/>
            <a:ext cx="2340000" cy="162000"/>
          </a:xfrm>
          <a:prstGeom prst="rect">
            <a:avLst/>
          </a:prstGeom>
          <a:noFill/>
        </p:spPr>
        <p:txBody>
          <a:bodyPr wrap="square" lIns="18000" rIns="18000" tIns="7200" bIns="7200">
            <a:noAutofit/>
          </a:bodyPr>
          <a:lstStyle/>
          <a:p>
            <a:pPr algn="l">
              <a:lnSpc>
                <a:spcPct val="108000"/>
              </a:lnSpc>
            </a:pPr>
            <a:r>
              <a:rPr sz="1050" b="1">
                <a:solidFill>
                  <a:srgbClr val="0D223A"/>
                </a:solidFill>
                <a:latin typeface="Noto Sans JP"/>
              </a:rPr>
              <a:t>本命の依存をやめる</a:t>
            </a:r>
          </a:p>
        </p:txBody>
      </p:sp>
      <p:sp>
        <p:nvSpPr>
          <p:cNvPr id="30" name="TextBox 29"/>
          <p:cNvSpPr txBox="1"/>
          <p:nvPr/>
        </p:nvSpPr>
        <p:spPr>
          <a:xfrm>
            <a:off x="1278000" y="2491200"/>
            <a:ext cx="2340000" cy="576000"/>
          </a:xfrm>
          <a:prstGeom prst="rect">
            <a:avLst/>
          </a:prstGeom>
          <a:noFill/>
        </p:spPr>
        <p:txBody>
          <a:bodyPr wrap="square" lIns="18000" rIns="18000" tIns="7200" bIns="7200">
            <a:noAutofit/>
          </a:bodyPr>
          <a:lstStyle/>
          <a:p>
            <a:pPr algn="l">
              <a:lnSpc>
                <a:spcPct val="108000"/>
              </a:lnSpc>
            </a:pPr>
            <a:r>
              <a:rPr sz="950" b="0">
                <a:solidFill>
                  <a:srgbClr val="5B6B7C"/>
                </a:solidFill>
                <a:latin typeface="Noto Sans JP"/>
              </a:rPr>
              <a:t>治療開始</a:t>
            </a:r>
          </a:p>
        </p:txBody>
      </p:sp>
      <p:sp>
        <p:nvSpPr>
          <p:cNvPr id="31" name="Rounded Rectangle 30"/>
          <p:cNvSpPr/>
          <p:nvPr/>
        </p:nvSpPr>
        <p:spPr>
          <a:xfrm>
            <a:off x="9360000" y="1512000"/>
            <a:ext cx="2088000" cy="1512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360000" y="1512000"/>
            <a:ext cx="28800" cy="1512000"/>
          </a:xfrm>
          <a:prstGeom prst="rect">
            <a:avLst/>
          </a:prstGeom>
          <a:solidFill>
            <a:srgbClr val="F5A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86000" y="1612800"/>
            <a:ext cx="1835999" cy="162000"/>
          </a:xfrm>
          <a:prstGeom prst="rect">
            <a:avLst/>
          </a:prstGeom>
          <a:noFill/>
        </p:spPr>
        <p:txBody>
          <a:bodyPr wrap="square" lIns="18000" rIns="18000" tIns="7200" bIns="7200">
            <a:noAutofit/>
          </a:bodyPr>
          <a:lstStyle/>
          <a:p>
            <a:pPr algn="l">
              <a:lnSpc>
                <a:spcPct val="108000"/>
              </a:lnSpc>
            </a:pPr>
            <a:r>
              <a:rPr sz="1250" b="1">
                <a:solidFill>
                  <a:srgbClr val="0D223A"/>
                </a:solidFill>
                <a:latin typeface="Noto Sans JP"/>
              </a:rPr>
              <a:t>悪循環の流れ</a:t>
            </a:r>
          </a:p>
        </p:txBody>
      </p:sp>
      <p:sp>
        <p:nvSpPr>
          <p:cNvPr id="34" name="TextBox 33"/>
          <p:cNvSpPr txBox="1"/>
          <p:nvPr/>
        </p:nvSpPr>
        <p:spPr>
          <a:xfrm>
            <a:off x="9486000" y="1843200"/>
            <a:ext cx="1835999" cy="1134000"/>
          </a:xfrm>
          <a:prstGeom prst="rect">
            <a:avLst/>
          </a:prstGeom>
          <a:noFill/>
        </p:spPr>
        <p:txBody>
          <a:bodyPr wrap="square" lIns="18000" rIns="18000" tIns="7200" bIns="7200">
            <a:spAutoFit/>
          </a:bodyPr>
          <a:lstStyle/>
          <a:p>
            <a:pPr>
              <a:lnSpc>
                <a:spcPct val="108000"/>
              </a:lnSpc>
              <a:spcAft>
                <a:spcPts val="300"/>
              </a:spcAft>
              <a:defRPr sz="880">
                <a:solidFill>
                  <a:srgbClr val="5B6B7C"/>
                </a:solidFill>
                <a:latin typeface="Noto Sans JP"/>
              </a:defRPr>
            </a:pPr>
            <a:r>
              <a:rPr>
                <a:latin typeface="Noto Sans JP"/>
              </a:rPr>
              <a:t>• 本命の依存をやめる</a:t>
            </a:r>
          </a:p>
          <a:p>
            <a:pPr>
              <a:lnSpc>
                <a:spcPct val="108000"/>
              </a:lnSpc>
              <a:spcAft>
                <a:spcPts val="300"/>
              </a:spcAft>
              <a:defRPr sz="880">
                <a:solidFill>
                  <a:srgbClr val="5B6B7C"/>
                </a:solidFill>
                <a:latin typeface="Noto Sans JP"/>
              </a:defRPr>
            </a:pPr>
            <a:r>
              <a:rPr>
                <a:latin typeface="Noto Sans JP"/>
              </a:rPr>
              <a:t>• 苦しみが増える</a:t>
            </a:r>
          </a:p>
          <a:p>
            <a:pPr>
              <a:lnSpc>
                <a:spcPct val="108000"/>
              </a:lnSpc>
              <a:spcAft>
                <a:spcPts val="300"/>
              </a:spcAft>
              <a:defRPr sz="880">
                <a:solidFill>
                  <a:srgbClr val="5B6B7C"/>
                </a:solidFill>
                <a:latin typeface="Noto Sans JP"/>
              </a:defRPr>
            </a:pPr>
            <a:r>
              <a:rPr>
                <a:latin typeface="Noto Sans JP"/>
              </a:rPr>
              <a:t>• 他の依存へ移行</a:t>
            </a:r>
          </a:p>
          <a:p>
            <a:pPr>
              <a:lnSpc>
                <a:spcPct val="108000"/>
              </a:lnSpc>
              <a:spcAft>
                <a:spcPts val="300"/>
              </a:spcAft>
              <a:defRPr sz="880">
                <a:solidFill>
                  <a:srgbClr val="5B6B7C"/>
                </a:solidFill>
                <a:latin typeface="Noto Sans JP"/>
              </a:defRPr>
            </a:pPr>
            <a:r>
              <a:rPr>
                <a:latin typeface="Noto Sans JP"/>
              </a:rPr>
              <a:t>• 本命へ戻る</a:t>
            </a:r>
          </a:p>
        </p:txBody>
      </p:sp>
      <p:sp>
        <p:nvSpPr>
          <p:cNvPr id="35" name="Rounded Rectangle 34"/>
          <p:cNvSpPr/>
          <p:nvPr/>
        </p:nvSpPr>
        <p:spPr>
          <a:xfrm>
            <a:off x="9360000" y="3311999"/>
            <a:ext cx="2088000" cy="1368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360000" y="3311999"/>
            <a:ext cx="28800" cy="1368000"/>
          </a:xfrm>
          <a:prstGeom prst="rect">
            <a:avLst/>
          </a:prstGeom>
          <a:solidFill>
            <a:srgbClr val="17BC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486000" y="3412799"/>
            <a:ext cx="1835999" cy="162000"/>
          </a:xfrm>
          <a:prstGeom prst="rect">
            <a:avLst/>
          </a:prstGeom>
          <a:noFill/>
        </p:spPr>
        <p:txBody>
          <a:bodyPr wrap="square" lIns="18000" rIns="18000" tIns="7200" bIns="7200">
            <a:noAutofit/>
          </a:bodyPr>
          <a:lstStyle/>
          <a:p>
            <a:pPr algn="l">
              <a:lnSpc>
                <a:spcPct val="108000"/>
              </a:lnSpc>
            </a:pPr>
            <a:r>
              <a:rPr sz="1250" b="1">
                <a:solidFill>
                  <a:srgbClr val="0D223A"/>
                </a:solidFill>
                <a:latin typeface="Noto Sans JP"/>
              </a:rPr>
              <a:t>予防策</a:t>
            </a:r>
          </a:p>
        </p:txBody>
      </p:sp>
      <p:sp>
        <p:nvSpPr>
          <p:cNvPr id="38" name="TextBox 37"/>
          <p:cNvSpPr txBox="1"/>
          <p:nvPr/>
        </p:nvSpPr>
        <p:spPr>
          <a:xfrm>
            <a:off x="9486000" y="3643199"/>
            <a:ext cx="1835999" cy="990000"/>
          </a:xfrm>
          <a:prstGeom prst="rect">
            <a:avLst/>
          </a:prstGeom>
          <a:noFill/>
        </p:spPr>
        <p:txBody>
          <a:bodyPr wrap="square" lIns="18000" rIns="18000" tIns="7200" bIns="7200">
            <a:spAutoFit/>
          </a:bodyPr>
          <a:lstStyle/>
          <a:p>
            <a:pPr>
              <a:lnSpc>
                <a:spcPct val="108000"/>
              </a:lnSpc>
              <a:spcAft>
                <a:spcPts val="300"/>
              </a:spcAft>
              <a:defRPr sz="880">
                <a:solidFill>
                  <a:srgbClr val="5B6B7C"/>
                </a:solidFill>
                <a:latin typeface="Noto Sans JP"/>
              </a:defRPr>
            </a:pPr>
            <a:r>
              <a:rPr>
                <a:latin typeface="Noto Sans JP"/>
              </a:rPr>
              <a:t>• 早期介入</a:t>
            </a:r>
          </a:p>
          <a:p>
            <a:pPr>
              <a:lnSpc>
                <a:spcPct val="108000"/>
              </a:lnSpc>
              <a:spcAft>
                <a:spcPts val="300"/>
              </a:spcAft>
              <a:defRPr sz="880">
                <a:solidFill>
                  <a:srgbClr val="5B6B7C"/>
                </a:solidFill>
                <a:latin typeface="Noto Sans JP"/>
              </a:defRPr>
            </a:pPr>
            <a:r>
              <a:rPr>
                <a:latin typeface="Noto Sans JP"/>
              </a:rPr>
              <a:t>• 包括的な再発予防</a:t>
            </a:r>
          </a:p>
          <a:p>
            <a:pPr>
              <a:lnSpc>
                <a:spcPct val="108000"/>
              </a:lnSpc>
              <a:spcAft>
                <a:spcPts val="300"/>
              </a:spcAft>
              <a:defRPr sz="880">
                <a:solidFill>
                  <a:srgbClr val="5B6B7C"/>
                </a:solidFill>
                <a:latin typeface="Noto Sans JP"/>
              </a:defRPr>
            </a:pPr>
            <a:r>
              <a:rPr>
                <a:latin typeface="Noto Sans JP"/>
              </a:rPr>
              <a:t>• ピア支援・12ステップ</a:t>
            </a:r>
          </a:p>
        </p:txBody>
      </p:sp>
      <p:sp>
        <p:nvSpPr>
          <p:cNvPr id="39" name="TextBox 38"/>
          <p:cNvSpPr txBox="1"/>
          <p:nvPr/>
        </p:nvSpPr>
        <p:spPr>
          <a:xfrm>
            <a:off x="270000" y="6588000"/>
            <a:ext cx="5760000" cy="125999"/>
          </a:xfrm>
          <a:prstGeom prst="rect">
            <a:avLst/>
          </a:prstGeom>
          <a:noFill/>
        </p:spPr>
        <p:txBody>
          <a:bodyPr wrap="square" lIns="18000" rIns="18000" tIns="7200" bIns="7200">
            <a:noAutofit/>
          </a:bodyPr>
          <a:lstStyle/>
          <a:p>
            <a:pPr algn="l">
              <a:lnSpc>
                <a:spcPct val="108000"/>
              </a:lnSpc>
            </a:pPr>
            <a:r>
              <a:rPr sz="720" b="0">
                <a:solidFill>
                  <a:srgbClr val="5B6B7C"/>
                </a:solidFill>
                <a:latin typeface="Noto Sans JP"/>
              </a:rPr>
              <a:t>相模原ダルク｜依存症からの回復を全力で支えます</a:t>
            </a:r>
          </a:p>
        </p:txBody>
      </p:sp>
      <p:sp>
        <p:nvSpPr>
          <p:cNvPr id="40" name="TextBox 39"/>
          <p:cNvSpPr txBox="1"/>
          <p:nvPr/>
        </p:nvSpPr>
        <p:spPr>
          <a:xfrm>
            <a:off x="10062000" y="6566399"/>
            <a:ext cx="540000" cy="125999"/>
          </a:xfrm>
          <a:prstGeom prst="rect">
            <a:avLst/>
          </a:prstGeom>
          <a:noFill/>
        </p:spPr>
        <p:txBody>
          <a:bodyPr wrap="square" lIns="18000" rIns="18000" tIns="7200" bIns="7200">
            <a:noAutofit/>
          </a:bodyPr>
          <a:lstStyle/>
          <a:p>
            <a:pPr algn="r">
              <a:lnSpc>
                <a:spcPct val="108000"/>
              </a:lnSpc>
            </a:pPr>
            <a:r>
              <a:rPr sz="780" b="1">
                <a:solidFill>
                  <a:srgbClr val="0D223A"/>
                </a:solidFill>
                <a:latin typeface="Aptos Display"/>
              </a:rPr>
              <a:t>14/18</a:t>
            </a:r>
          </a:p>
        </p:txBody>
      </p:sp>
      <p:sp>
        <p:nvSpPr>
          <p:cNvPr id="41" name="Rounded Rectangle 40"/>
          <p:cNvSpPr/>
          <p:nvPr/>
        </p:nvSpPr>
        <p:spPr>
          <a:xfrm>
            <a:off x="10674000" y="6609600"/>
            <a:ext cx="1080000" cy="28800"/>
          </a:xfrm>
          <a:prstGeom prst="roundRect">
            <a:avLst/>
          </a:prstGeom>
          <a:solidFill>
            <a:srgbClr val="D7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10674000" y="6609600"/>
            <a:ext cx="840000" cy="28800"/>
          </a:xfrm>
          <a:prstGeom prst="roundRect">
            <a:avLst/>
          </a:prstGeom>
          <a:solidFill>
            <a:srgbClr val="16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119" cy="730799"/>
          </a:xfrm>
          <a:prstGeom prst="rect">
            <a:avLst/>
          </a:prstGeom>
          <a:solidFill>
            <a:srgbClr val="0D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70000" y="162000"/>
            <a:ext cx="259200" cy="259200"/>
          </a:xfrm>
          <a:prstGeom prst="roundRect">
            <a:avLst/>
          </a:prstGeom>
          <a:solidFill>
            <a:srgbClr val="153A5E"/>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1000" b="1">
                <a:solidFill>
                  <a:srgbClr val="FFFFFF"/>
                </a:solidFill>
                <a:latin typeface="Noto Sans JP"/>
              </a:rPr>
              <a:t>◆</a:t>
            </a:r>
          </a:p>
        </p:txBody>
      </p:sp>
      <p:sp>
        <p:nvSpPr>
          <p:cNvPr id="5" name="TextBox 4"/>
          <p:cNvSpPr txBox="1"/>
          <p:nvPr/>
        </p:nvSpPr>
        <p:spPr>
          <a:xfrm>
            <a:off x="619200" y="125999"/>
            <a:ext cx="7380000" cy="223200"/>
          </a:xfrm>
          <a:prstGeom prst="rect">
            <a:avLst/>
          </a:prstGeom>
          <a:noFill/>
        </p:spPr>
        <p:txBody>
          <a:bodyPr wrap="square" lIns="18000" rIns="18000" tIns="7200" bIns="7200">
            <a:noAutofit/>
          </a:bodyPr>
          <a:lstStyle/>
          <a:p>
            <a:pPr algn="l">
              <a:lnSpc>
                <a:spcPct val="108000"/>
              </a:lnSpc>
            </a:pPr>
            <a:r>
              <a:rPr sz="2000" b="1">
                <a:solidFill>
                  <a:srgbClr val="FFFFFF"/>
                </a:solidFill>
                <a:latin typeface="Noto Sans JP"/>
              </a:rPr>
              <a:t>長期離脱症状（PAWS）の理解</a:t>
            </a:r>
          </a:p>
        </p:txBody>
      </p:sp>
      <p:sp>
        <p:nvSpPr>
          <p:cNvPr id="6" name="TextBox 5"/>
          <p:cNvSpPr txBox="1"/>
          <p:nvPr/>
        </p:nvSpPr>
        <p:spPr>
          <a:xfrm>
            <a:off x="630000" y="396000"/>
            <a:ext cx="7920000" cy="151200"/>
          </a:xfrm>
          <a:prstGeom prst="rect">
            <a:avLst/>
          </a:prstGeom>
          <a:noFill/>
        </p:spPr>
        <p:txBody>
          <a:bodyPr wrap="square" lIns="18000" rIns="18000" tIns="7200" bIns="7200">
            <a:noAutofit/>
          </a:bodyPr>
          <a:lstStyle/>
          <a:p>
            <a:pPr algn="l">
              <a:lnSpc>
                <a:spcPct val="108000"/>
              </a:lnSpc>
            </a:pPr>
            <a:r>
              <a:rPr sz="880" b="0">
                <a:solidFill>
                  <a:srgbClr val="BED3E2"/>
                </a:solidFill>
                <a:latin typeface="Noto Sans JP"/>
              </a:rPr>
              <a:t>治療後に現れる長期離脱症状を理解し、波を乗り返しながら徐々に回復します</a:t>
            </a:r>
          </a:p>
        </p:txBody>
      </p:sp>
      <p:sp>
        <p:nvSpPr>
          <p:cNvPr id="7" name="Rounded Rectangle 6"/>
          <p:cNvSpPr/>
          <p:nvPr/>
        </p:nvSpPr>
        <p:spPr>
          <a:xfrm>
            <a:off x="9504000" y="198000"/>
            <a:ext cx="2124000" cy="208800"/>
          </a:xfrm>
          <a:prstGeom prst="roundRect">
            <a:avLst/>
          </a:prstGeom>
          <a:solidFill>
            <a:srgbClr val="EDF3F8"/>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850" b="1">
                <a:solidFill>
                  <a:srgbClr val="0D223A"/>
                </a:solidFill>
                <a:latin typeface="Noto Sans JP"/>
              </a:rPr>
              <a:t>12-24ヶ月の期間</a:t>
            </a:r>
          </a:p>
        </p:txBody>
      </p:sp>
      <p:sp>
        <p:nvSpPr>
          <p:cNvPr id="8" name="TextBox 7"/>
          <p:cNvSpPr txBox="1"/>
          <p:nvPr/>
        </p:nvSpPr>
        <p:spPr>
          <a:xfrm>
            <a:off x="503999" y="917999"/>
            <a:ext cx="8100000" cy="198000"/>
          </a:xfrm>
          <a:prstGeom prst="rect">
            <a:avLst/>
          </a:prstGeom>
          <a:noFill/>
        </p:spPr>
        <p:txBody>
          <a:bodyPr wrap="square" lIns="18000" rIns="18000" tIns="7200" bIns="7200">
            <a:noAutofit/>
          </a:bodyPr>
          <a:lstStyle/>
          <a:p>
            <a:pPr algn="l">
              <a:lnSpc>
                <a:spcPct val="108000"/>
              </a:lnSpc>
            </a:pPr>
            <a:r>
              <a:rPr sz="1200" b="1">
                <a:solidFill>
                  <a:srgbClr val="0D223A"/>
                </a:solidFill>
                <a:latin typeface="Noto Sans JP"/>
              </a:rPr>
              <a:t>PAWSは、治療後に現れる長期離脱症状です。「波を乗り返しながら徐々に回復します。」</a:t>
            </a:r>
          </a:p>
        </p:txBody>
      </p:sp>
      <p:sp>
        <p:nvSpPr>
          <p:cNvPr id="9" name="TextBox 8"/>
          <p:cNvSpPr txBox="1"/>
          <p:nvPr/>
        </p:nvSpPr>
        <p:spPr>
          <a:xfrm>
            <a:off x="9180000" y="882000"/>
            <a:ext cx="900000" cy="251999"/>
          </a:xfrm>
          <a:prstGeom prst="rect">
            <a:avLst/>
          </a:prstGeom>
          <a:noFill/>
        </p:spPr>
        <p:txBody>
          <a:bodyPr wrap="square" lIns="18000" rIns="18000" tIns="7200" bIns="7200">
            <a:noAutofit/>
          </a:bodyPr>
          <a:lstStyle/>
          <a:p>
            <a:pPr algn="l">
              <a:lnSpc>
                <a:spcPct val="108000"/>
              </a:lnSpc>
            </a:pPr>
            <a:r>
              <a:rPr sz="2000" b="1">
                <a:solidFill>
                  <a:srgbClr val="0D223A"/>
                </a:solidFill>
                <a:latin typeface="Aptos Display"/>
              </a:rPr>
              <a:t>3-6</a:t>
            </a:r>
          </a:p>
        </p:txBody>
      </p:sp>
      <p:sp>
        <p:nvSpPr>
          <p:cNvPr id="10" name="TextBox 9"/>
          <p:cNvSpPr txBox="1"/>
          <p:nvPr/>
        </p:nvSpPr>
        <p:spPr>
          <a:xfrm>
            <a:off x="10368000" y="882000"/>
            <a:ext cx="1007999" cy="251999"/>
          </a:xfrm>
          <a:prstGeom prst="rect">
            <a:avLst/>
          </a:prstGeom>
          <a:noFill/>
        </p:spPr>
        <p:txBody>
          <a:bodyPr wrap="square" lIns="18000" rIns="18000" tIns="7200" bIns="7200">
            <a:noAutofit/>
          </a:bodyPr>
          <a:lstStyle/>
          <a:p>
            <a:pPr algn="l">
              <a:lnSpc>
                <a:spcPct val="108000"/>
              </a:lnSpc>
            </a:pPr>
            <a:r>
              <a:rPr sz="2000" b="1">
                <a:solidFill>
                  <a:srgbClr val="0D223A"/>
                </a:solidFill>
                <a:latin typeface="Aptos Display"/>
              </a:rPr>
              <a:t>12-24</a:t>
            </a:r>
          </a:p>
        </p:txBody>
      </p:sp>
      <p:sp>
        <p:nvSpPr>
          <p:cNvPr id="11" name="Rounded Rectangle 10"/>
          <p:cNvSpPr/>
          <p:nvPr/>
        </p:nvSpPr>
        <p:spPr>
          <a:xfrm>
            <a:off x="450000" y="1655999"/>
            <a:ext cx="3528000" cy="1224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0000" y="1655999"/>
            <a:ext cx="28800" cy="1224000"/>
          </a:xfrm>
          <a:prstGeom prst="rect">
            <a:avLst/>
          </a:prstGeom>
          <a:solidFill>
            <a:srgbClr val="2D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6000" y="1756800"/>
            <a:ext cx="3276000" cy="162000"/>
          </a:xfrm>
          <a:prstGeom prst="rect">
            <a:avLst/>
          </a:prstGeom>
          <a:noFill/>
        </p:spPr>
        <p:txBody>
          <a:bodyPr wrap="square" lIns="18000" rIns="18000" tIns="7200" bIns="7200">
            <a:noAutofit/>
          </a:bodyPr>
          <a:lstStyle/>
          <a:p>
            <a:pPr algn="l">
              <a:lnSpc>
                <a:spcPct val="108000"/>
              </a:lnSpc>
            </a:pPr>
            <a:r>
              <a:rPr sz="1200" b="1">
                <a:solidFill>
                  <a:srgbClr val="0D223A"/>
                </a:solidFill>
                <a:latin typeface="Noto Sans JP"/>
              </a:rPr>
              <a:t>睡眠障害</a:t>
            </a:r>
          </a:p>
        </p:txBody>
      </p:sp>
      <p:sp>
        <p:nvSpPr>
          <p:cNvPr id="14" name="TextBox 13"/>
          <p:cNvSpPr txBox="1"/>
          <p:nvPr/>
        </p:nvSpPr>
        <p:spPr>
          <a:xfrm>
            <a:off x="576000" y="1987199"/>
            <a:ext cx="3276000" cy="864000"/>
          </a:xfrm>
          <a:prstGeom prst="rect">
            <a:avLst/>
          </a:prstGeom>
          <a:noFill/>
        </p:spPr>
        <p:txBody>
          <a:bodyPr wrap="square" lIns="18000" rIns="18000" tIns="7200" bIns="7200">
            <a:noAutofit/>
          </a:bodyPr>
          <a:lstStyle/>
          <a:p>
            <a:pPr algn="l">
              <a:lnSpc>
                <a:spcPct val="108000"/>
              </a:lnSpc>
            </a:pPr>
            <a:r>
              <a:rPr sz="950" b="0">
                <a:solidFill>
                  <a:srgbClr val="5B6B7C"/>
                </a:solidFill>
                <a:latin typeface="Noto Sans JP"/>
              </a:rPr>
              <a:t>不眠・過眠・中途覚醒</a:t>
            </a:r>
          </a:p>
        </p:txBody>
      </p:sp>
      <p:sp>
        <p:nvSpPr>
          <p:cNvPr id="15" name="Rounded Rectangle 14"/>
          <p:cNvSpPr/>
          <p:nvPr/>
        </p:nvSpPr>
        <p:spPr>
          <a:xfrm>
            <a:off x="4320000" y="1655999"/>
            <a:ext cx="3528000" cy="1224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20000" y="1655999"/>
            <a:ext cx="28800" cy="1224000"/>
          </a:xfrm>
          <a:prstGeom prst="rect">
            <a:avLst/>
          </a:prstGeom>
          <a:solidFill>
            <a:srgbClr val="F5A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46000" y="1756800"/>
            <a:ext cx="3276000" cy="162000"/>
          </a:xfrm>
          <a:prstGeom prst="rect">
            <a:avLst/>
          </a:prstGeom>
          <a:noFill/>
        </p:spPr>
        <p:txBody>
          <a:bodyPr wrap="square" lIns="18000" rIns="18000" tIns="7200" bIns="7200">
            <a:noAutofit/>
          </a:bodyPr>
          <a:lstStyle/>
          <a:p>
            <a:pPr algn="l">
              <a:lnSpc>
                <a:spcPct val="108000"/>
              </a:lnSpc>
            </a:pPr>
            <a:r>
              <a:rPr sz="1200" b="1">
                <a:solidFill>
                  <a:srgbClr val="0D223A"/>
                </a:solidFill>
                <a:latin typeface="Noto Sans JP"/>
              </a:rPr>
              <a:t>ストレス過敏</a:t>
            </a:r>
          </a:p>
        </p:txBody>
      </p:sp>
      <p:sp>
        <p:nvSpPr>
          <p:cNvPr id="18" name="TextBox 17"/>
          <p:cNvSpPr txBox="1"/>
          <p:nvPr/>
        </p:nvSpPr>
        <p:spPr>
          <a:xfrm>
            <a:off x="4446000" y="1987199"/>
            <a:ext cx="3276000" cy="864000"/>
          </a:xfrm>
          <a:prstGeom prst="rect">
            <a:avLst/>
          </a:prstGeom>
          <a:noFill/>
        </p:spPr>
        <p:txBody>
          <a:bodyPr wrap="square" lIns="18000" rIns="18000" tIns="7200" bIns="7200">
            <a:noAutofit/>
          </a:bodyPr>
          <a:lstStyle/>
          <a:p>
            <a:pPr algn="l">
              <a:lnSpc>
                <a:spcPct val="108000"/>
              </a:lnSpc>
            </a:pPr>
            <a:r>
              <a:rPr sz="950" b="0">
                <a:solidFill>
                  <a:srgbClr val="5B6B7C"/>
                </a:solidFill>
                <a:latin typeface="Noto Sans JP"/>
              </a:rPr>
              <a:t>音・視線・人混みへの過敏</a:t>
            </a:r>
          </a:p>
        </p:txBody>
      </p:sp>
      <p:sp>
        <p:nvSpPr>
          <p:cNvPr id="19" name="Rounded Rectangle 18"/>
          <p:cNvSpPr/>
          <p:nvPr/>
        </p:nvSpPr>
        <p:spPr>
          <a:xfrm>
            <a:off x="8190000" y="1655999"/>
            <a:ext cx="3528000" cy="1224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90000" y="1655999"/>
            <a:ext cx="28800" cy="1224000"/>
          </a:xfrm>
          <a:prstGeom prst="rect">
            <a:avLst/>
          </a:prstGeom>
          <a:solidFill>
            <a:srgbClr val="17BC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16000" y="1756800"/>
            <a:ext cx="3276000" cy="162000"/>
          </a:xfrm>
          <a:prstGeom prst="rect">
            <a:avLst/>
          </a:prstGeom>
          <a:noFill/>
        </p:spPr>
        <p:txBody>
          <a:bodyPr wrap="square" lIns="18000" rIns="18000" tIns="7200" bIns="7200">
            <a:noAutofit/>
          </a:bodyPr>
          <a:lstStyle/>
          <a:p>
            <a:pPr algn="l">
              <a:lnSpc>
                <a:spcPct val="108000"/>
              </a:lnSpc>
            </a:pPr>
            <a:r>
              <a:rPr sz="1200" b="1">
                <a:solidFill>
                  <a:srgbClr val="0D223A"/>
                </a:solidFill>
                <a:latin typeface="Noto Sans JP"/>
              </a:rPr>
              <a:t>記憶障害</a:t>
            </a:r>
          </a:p>
        </p:txBody>
      </p:sp>
      <p:sp>
        <p:nvSpPr>
          <p:cNvPr id="22" name="TextBox 21"/>
          <p:cNvSpPr txBox="1"/>
          <p:nvPr/>
        </p:nvSpPr>
        <p:spPr>
          <a:xfrm>
            <a:off x="8316000" y="1987199"/>
            <a:ext cx="3276000" cy="864000"/>
          </a:xfrm>
          <a:prstGeom prst="rect">
            <a:avLst/>
          </a:prstGeom>
          <a:noFill/>
        </p:spPr>
        <p:txBody>
          <a:bodyPr wrap="square" lIns="18000" rIns="18000" tIns="7200" bIns="7200">
            <a:noAutofit/>
          </a:bodyPr>
          <a:lstStyle/>
          <a:p>
            <a:pPr algn="l">
              <a:lnSpc>
                <a:spcPct val="108000"/>
              </a:lnSpc>
            </a:pPr>
            <a:r>
              <a:rPr sz="950" b="0">
                <a:solidFill>
                  <a:srgbClr val="5B6B7C"/>
                </a:solidFill>
                <a:latin typeface="Noto Sans JP"/>
              </a:rPr>
              <a:t>覚えられない・忘れる</a:t>
            </a:r>
          </a:p>
        </p:txBody>
      </p:sp>
      <p:sp>
        <p:nvSpPr>
          <p:cNvPr id="23" name="Rounded Rectangle 22"/>
          <p:cNvSpPr/>
          <p:nvPr/>
        </p:nvSpPr>
        <p:spPr>
          <a:xfrm>
            <a:off x="450000" y="3186000"/>
            <a:ext cx="3528000" cy="1224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0000" y="3186000"/>
            <a:ext cx="28800" cy="1224000"/>
          </a:xfrm>
          <a:prstGeom prst="rect">
            <a:avLst/>
          </a:prstGeom>
          <a:solidFill>
            <a:srgbClr val="EE57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6000" y="3286799"/>
            <a:ext cx="3276000" cy="162000"/>
          </a:xfrm>
          <a:prstGeom prst="rect">
            <a:avLst/>
          </a:prstGeom>
          <a:noFill/>
        </p:spPr>
        <p:txBody>
          <a:bodyPr wrap="square" lIns="18000" rIns="18000" tIns="7200" bIns="7200">
            <a:noAutofit/>
          </a:bodyPr>
          <a:lstStyle/>
          <a:p>
            <a:pPr algn="l">
              <a:lnSpc>
                <a:spcPct val="108000"/>
              </a:lnSpc>
            </a:pPr>
            <a:r>
              <a:rPr sz="1200" b="1">
                <a:solidFill>
                  <a:srgbClr val="0D223A"/>
                </a:solidFill>
                <a:latin typeface="Noto Sans JP"/>
              </a:rPr>
              <a:t>感情障害</a:t>
            </a:r>
          </a:p>
        </p:txBody>
      </p:sp>
      <p:sp>
        <p:nvSpPr>
          <p:cNvPr id="26" name="TextBox 25"/>
          <p:cNvSpPr txBox="1"/>
          <p:nvPr/>
        </p:nvSpPr>
        <p:spPr>
          <a:xfrm>
            <a:off x="576000" y="3517200"/>
            <a:ext cx="3276000" cy="864000"/>
          </a:xfrm>
          <a:prstGeom prst="rect">
            <a:avLst/>
          </a:prstGeom>
          <a:noFill/>
        </p:spPr>
        <p:txBody>
          <a:bodyPr wrap="square" lIns="18000" rIns="18000" tIns="7200" bIns="7200">
            <a:noAutofit/>
          </a:bodyPr>
          <a:lstStyle/>
          <a:p>
            <a:pPr algn="l">
              <a:lnSpc>
                <a:spcPct val="108000"/>
              </a:lnSpc>
            </a:pPr>
            <a:r>
              <a:rPr sz="950" b="0">
                <a:solidFill>
                  <a:srgbClr val="5B6B7C"/>
                </a:solidFill>
                <a:latin typeface="Noto Sans JP"/>
              </a:rPr>
              <a:t>怒りっぽい・情緒不安定</a:t>
            </a:r>
          </a:p>
        </p:txBody>
      </p:sp>
      <p:sp>
        <p:nvSpPr>
          <p:cNvPr id="27" name="Rounded Rectangle 26"/>
          <p:cNvSpPr/>
          <p:nvPr/>
        </p:nvSpPr>
        <p:spPr>
          <a:xfrm>
            <a:off x="4320000" y="3186000"/>
            <a:ext cx="3528000" cy="1224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20000" y="3186000"/>
            <a:ext cx="28800" cy="1224000"/>
          </a:xfrm>
          <a:prstGeom prst="rect">
            <a:avLst/>
          </a:prstGeom>
          <a:solidFill>
            <a:srgbClr val="85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46000" y="3286799"/>
            <a:ext cx="3276000" cy="162000"/>
          </a:xfrm>
          <a:prstGeom prst="rect">
            <a:avLst/>
          </a:prstGeom>
          <a:noFill/>
        </p:spPr>
        <p:txBody>
          <a:bodyPr wrap="square" lIns="18000" rIns="18000" tIns="7200" bIns="7200">
            <a:noAutofit/>
          </a:bodyPr>
          <a:lstStyle/>
          <a:p>
            <a:pPr algn="l">
              <a:lnSpc>
                <a:spcPct val="108000"/>
              </a:lnSpc>
            </a:pPr>
            <a:r>
              <a:rPr sz="1200" b="1">
                <a:solidFill>
                  <a:srgbClr val="0D223A"/>
                </a:solidFill>
                <a:latin typeface="Noto Sans JP"/>
              </a:rPr>
              <a:t>身体バランス</a:t>
            </a:r>
          </a:p>
        </p:txBody>
      </p:sp>
      <p:sp>
        <p:nvSpPr>
          <p:cNvPr id="30" name="TextBox 29"/>
          <p:cNvSpPr txBox="1"/>
          <p:nvPr/>
        </p:nvSpPr>
        <p:spPr>
          <a:xfrm>
            <a:off x="4446000" y="3517200"/>
            <a:ext cx="3276000" cy="864000"/>
          </a:xfrm>
          <a:prstGeom prst="rect">
            <a:avLst/>
          </a:prstGeom>
          <a:noFill/>
        </p:spPr>
        <p:txBody>
          <a:bodyPr wrap="square" lIns="18000" rIns="18000" tIns="7200" bIns="7200">
            <a:noAutofit/>
          </a:bodyPr>
          <a:lstStyle/>
          <a:p>
            <a:pPr algn="l">
              <a:lnSpc>
                <a:spcPct val="108000"/>
              </a:lnSpc>
            </a:pPr>
            <a:r>
              <a:rPr sz="950" b="0">
                <a:solidFill>
                  <a:srgbClr val="5B6B7C"/>
                </a:solidFill>
                <a:latin typeface="Noto Sans JP"/>
              </a:rPr>
              <a:t>疲れやすい・めまい</a:t>
            </a:r>
          </a:p>
        </p:txBody>
      </p:sp>
      <p:sp>
        <p:nvSpPr>
          <p:cNvPr id="31" name="Rounded Rectangle 30"/>
          <p:cNvSpPr/>
          <p:nvPr/>
        </p:nvSpPr>
        <p:spPr>
          <a:xfrm>
            <a:off x="8190000" y="3186000"/>
            <a:ext cx="3528000" cy="1224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190000" y="3186000"/>
            <a:ext cx="28800" cy="1224000"/>
          </a:xfrm>
          <a:prstGeom prst="rect">
            <a:avLst/>
          </a:prstGeom>
          <a:solidFill>
            <a:srgbClr val="EC58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16000" y="3286799"/>
            <a:ext cx="3276000" cy="162000"/>
          </a:xfrm>
          <a:prstGeom prst="rect">
            <a:avLst/>
          </a:prstGeom>
          <a:noFill/>
        </p:spPr>
        <p:txBody>
          <a:bodyPr wrap="square" lIns="18000" rIns="18000" tIns="7200" bIns="7200">
            <a:noAutofit/>
          </a:bodyPr>
          <a:lstStyle/>
          <a:p>
            <a:pPr algn="l">
              <a:lnSpc>
                <a:spcPct val="108000"/>
              </a:lnSpc>
            </a:pPr>
            <a:r>
              <a:rPr sz="1200" b="1">
                <a:solidFill>
                  <a:srgbClr val="0D223A"/>
                </a:solidFill>
                <a:latin typeface="Noto Sans JP"/>
              </a:rPr>
              <a:t>思考障害</a:t>
            </a:r>
          </a:p>
        </p:txBody>
      </p:sp>
      <p:sp>
        <p:nvSpPr>
          <p:cNvPr id="34" name="TextBox 33"/>
          <p:cNvSpPr txBox="1"/>
          <p:nvPr/>
        </p:nvSpPr>
        <p:spPr>
          <a:xfrm>
            <a:off x="8316000" y="3517200"/>
            <a:ext cx="3276000" cy="864000"/>
          </a:xfrm>
          <a:prstGeom prst="rect">
            <a:avLst/>
          </a:prstGeom>
          <a:noFill/>
        </p:spPr>
        <p:txBody>
          <a:bodyPr wrap="square" lIns="18000" rIns="18000" tIns="7200" bIns="7200">
            <a:noAutofit/>
          </a:bodyPr>
          <a:lstStyle/>
          <a:p>
            <a:pPr algn="l">
              <a:lnSpc>
                <a:spcPct val="108000"/>
              </a:lnSpc>
            </a:pPr>
            <a:r>
              <a:rPr sz="950" b="0">
                <a:solidFill>
                  <a:srgbClr val="5B6B7C"/>
                </a:solidFill>
                <a:latin typeface="Noto Sans JP"/>
              </a:rPr>
              <a:t>集中力低下・判断ミス</a:t>
            </a:r>
          </a:p>
        </p:txBody>
      </p:sp>
      <p:sp>
        <p:nvSpPr>
          <p:cNvPr id="35" name="Rounded Rectangle 34"/>
          <p:cNvSpPr/>
          <p:nvPr/>
        </p:nvSpPr>
        <p:spPr>
          <a:xfrm>
            <a:off x="720000" y="5472000"/>
            <a:ext cx="8100000" cy="79200"/>
          </a:xfrm>
          <a:prstGeom prst="roundRect">
            <a:avLst/>
          </a:prstGeom>
          <a:solidFill>
            <a:srgbClr val="D7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720000" y="5472000"/>
            <a:ext cx="2160000" cy="79200"/>
          </a:xfrm>
          <a:prstGeom prst="roundRect">
            <a:avLst/>
          </a:prstGeom>
          <a:solidFill>
            <a:srgbClr val="2D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2880000" y="5472000"/>
            <a:ext cx="3060000" cy="79200"/>
          </a:xfrm>
          <a:prstGeom prst="roundRect">
            <a:avLst/>
          </a:prstGeom>
          <a:solidFill>
            <a:srgbClr val="F5A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940000" y="5472000"/>
            <a:ext cx="2880000" cy="79200"/>
          </a:xfrm>
          <a:prstGeom prst="roundRect">
            <a:avLst/>
          </a:prstGeom>
          <a:solidFill>
            <a:srgbClr val="17BC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20000" y="5652000"/>
            <a:ext cx="8100000" cy="144000"/>
          </a:xfrm>
          <a:prstGeom prst="rect">
            <a:avLst/>
          </a:prstGeom>
          <a:noFill/>
        </p:spPr>
        <p:txBody>
          <a:bodyPr wrap="square" lIns="18000" rIns="18000" tIns="7200" bIns="7200">
            <a:noAutofit/>
          </a:bodyPr>
          <a:lstStyle/>
          <a:p>
            <a:pPr algn="l">
              <a:lnSpc>
                <a:spcPct val="108000"/>
              </a:lnSpc>
            </a:pPr>
            <a:r>
              <a:rPr sz="900" b="0">
                <a:solidFill>
                  <a:srgbClr val="5B6B7C"/>
                </a:solidFill>
                <a:latin typeface="Noto Sans JP"/>
              </a:rPr>
              <a:t>回復のプロセス：「波を乗り返しながら、徐々に回復に向かいます」</a:t>
            </a:r>
          </a:p>
        </p:txBody>
      </p:sp>
      <p:sp>
        <p:nvSpPr>
          <p:cNvPr id="40" name="Rounded Rectangle 39"/>
          <p:cNvSpPr/>
          <p:nvPr/>
        </p:nvSpPr>
        <p:spPr>
          <a:xfrm>
            <a:off x="4176000" y="5976000"/>
            <a:ext cx="6120000" cy="216000"/>
          </a:xfrm>
          <a:prstGeom prst="roundRect">
            <a:avLst/>
          </a:prstGeom>
          <a:solidFill>
            <a:srgbClr val="FFE7E9"/>
          </a:solidFill>
          <a:ln w="8890">
            <a:solidFill>
              <a:srgbClr val="FFBE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20000" y="6030000"/>
            <a:ext cx="5760000" cy="108000"/>
          </a:xfrm>
          <a:prstGeom prst="rect">
            <a:avLst/>
          </a:prstGeom>
          <a:noFill/>
        </p:spPr>
        <p:txBody>
          <a:bodyPr wrap="square" lIns="18000" rIns="18000" tIns="7200" bIns="7200">
            <a:noAutofit/>
          </a:bodyPr>
          <a:lstStyle/>
          <a:p>
            <a:pPr algn="ctr">
              <a:lnSpc>
                <a:spcPct val="108000"/>
              </a:lnSpc>
            </a:pPr>
            <a:r>
              <a:rPr sz="850" b="1">
                <a:solidFill>
                  <a:srgbClr val="EE575B"/>
                </a:solidFill>
                <a:latin typeface="Noto Sans JP"/>
              </a:rPr>
              <a:t>この時期のスリップに注意。一人で抱えずチームで支援</a:t>
            </a:r>
          </a:p>
        </p:txBody>
      </p:sp>
      <p:sp>
        <p:nvSpPr>
          <p:cNvPr id="42" name="TextBox 41"/>
          <p:cNvSpPr txBox="1"/>
          <p:nvPr/>
        </p:nvSpPr>
        <p:spPr>
          <a:xfrm>
            <a:off x="270000" y="6588000"/>
            <a:ext cx="5760000" cy="125999"/>
          </a:xfrm>
          <a:prstGeom prst="rect">
            <a:avLst/>
          </a:prstGeom>
          <a:noFill/>
        </p:spPr>
        <p:txBody>
          <a:bodyPr wrap="square" lIns="18000" rIns="18000" tIns="7200" bIns="7200">
            <a:noAutofit/>
          </a:bodyPr>
          <a:lstStyle/>
          <a:p>
            <a:pPr algn="l">
              <a:lnSpc>
                <a:spcPct val="108000"/>
              </a:lnSpc>
            </a:pPr>
            <a:r>
              <a:rPr sz="720" b="0">
                <a:solidFill>
                  <a:srgbClr val="5B6B7C"/>
                </a:solidFill>
                <a:latin typeface="Noto Sans JP"/>
              </a:rPr>
              <a:t>相模原ダルク｜依存症からの回復を全力で支えます</a:t>
            </a:r>
          </a:p>
        </p:txBody>
      </p:sp>
      <p:sp>
        <p:nvSpPr>
          <p:cNvPr id="43" name="TextBox 42"/>
          <p:cNvSpPr txBox="1"/>
          <p:nvPr/>
        </p:nvSpPr>
        <p:spPr>
          <a:xfrm>
            <a:off x="10062000" y="6566399"/>
            <a:ext cx="540000" cy="125999"/>
          </a:xfrm>
          <a:prstGeom prst="rect">
            <a:avLst/>
          </a:prstGeom>
          <a:noFill/>
        </p:spPr>
        <p:txBody>
          <a:bodyPr wrap="square" lIns="18000" rIns="18000" tIns="7200" bIns="7200">
            <a:noAutofit/>
          </a:bodyPr>
          <a:lstStyle/>
          <a:p>
            <a:pPr algn="r">
              <a:lnSpc>
                <a:spcPct val="108000"/>
              </a:lnSpc>
            </a:pPr>
            <a:r>
              <a:rPr sz="780" b="1">
                <a:solidFill>
                  <a:srgbClr val="0D223A"/>
                </a:solidFill>
                <a:latin typeface="Aptos Display"/>
              </a:rPr>
              <a:t>15/18</a:t>
            </a:r>
          </a:p>
        </p:txBody>
      </p:sp>
      <p:sp>
        <p:nvSpPr>
          <p:cNvPr id="44" name="Rounded Rectangle 43"/>
          <p:cNvSpPr/>
          <p:nvPr/>
        </p:nvSpPr>
        <p:spPr>
          <a:xfrm>
            <a:off x="10674000" y="6609600"/>
            <a:ext cx="1080000" cy="28800"/>
          </a:xfrm>
          <a:prstGeom prst="roundRect">
            <a:avLst/>
          </a:prstGeom>
          <a:solidFill>
            <a:srgbClr val="D7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10674000" y="6609600"/>
            <a:ext cx="900000" cy="28800"/>
          </a:xfrm>
          <a:prstGeom prst="roundRect">
            <a:avLst/>
          </a:prstGeom>
          <a:solidFill>
            <a:srgbClr val="16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119" cy="730799"/>
          </a:xfrm>
          <a:prstGeom prst="rect">
            <a:avLst/>
          </a:prstGeom>
          <a:solidFill>
            <a:srgbClr val="0D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70000" y="162000"/>
            <a:ext cx="259200" cy="259200"/>
          </a:xfrm>
          <a:prstGeom prst="roundRect">
            <a:avLst/>
          </a:prstGeom>
          <a:solidFill>
            <a:srgbClr val="153A5E"/>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1000" b="1">
                <a:solidFill>
                  <a:srgbClr val="FFFFFF"/>
                </a:solidFill>
                <a:latin typeface="Noto Sans JP"/>
              </a:rPr>
              <a:t>♣</a:t>
            </a:r>
          </a:p>
        </p:txBody>
      </p:sp>
      <p:sp>
        <p:nvSpPr>
          <p:cNvPr id="5" name="TextBox 4"/>
          <p:cNvSpPr txBox="1"/>
          <p:nvPr/>
        </p:nvSpPr>
        <p:spPr>
          <a:xfrm>
            <a:off x="619200" y="125999"/>
            <a:ext cx="7380000" cy="223200"/>
          </a:xfrm>
          <a:prstGeom prst="rect">
            <a:avLst/>
          </a:prstGeom>
          <a:noFill/>
        </p:spPr>
        <p:txBody>
          <a:bodyPr wrap="square" lIns="18000" rIns="18000" tIns="7200" bIns="7200">
            <a:noAutofit/>
          </a:bodyPr>
          <a:lstStyle/>
          <a:p>
            <a:pPr algn="l">
              <a:lnSpc>
                <a:spcPct val="108000"/>
              </a:lnSpc>
            </a:pPr>
            <a:r>
              <a:rPr sz="2000" b="1">
                <a:solidFill>
                  <a:srgbClr val="FFFFFF"/>
                </a:solidFill>
                <a:latin typeface="Noto Sans JP"/>
              </a:rPr>
              <a:t>家族支援プログラム（CRAFT／家族会）</a:t>
            </a:r>
          </a:p>
        </p:txBody>
      </p:sp>
      <p:sp>
        <p:nvSpPr>
          <p:cNvPr id="6" name="TextBox 5"/>
          <p:cNvSpPr txBox="1"/>
          <p:nvPr/>
        </p:nvSpPr>
        <p:spPr>
          <a:xfrm>
            <a:off x="630000" y="396000"/>
            <a:ext cx="7920000" cy="151200"/>
          </a:xfrm>
          <a:prstGeom prst="rect">
            <a:avLst/>
          </a:prstGeom>
          <a:noFill/>
        </p:spPr>
        <p:txBody>
          <a:bodyPr wrap="square" lIns="18000" rIns="18000" tIns="7200" bIns="7200">
            <a:noAutofit/>
          </a:bodyPr>
          <a:lstStyle/>
          <a:p>
            <a:pPr algn="l">
              <a:lnSpc>
                <a:spcPct val="108000"/>
              </a:lnSpc>
            </a:pPr>
            <a:r>
              <a:rPr sz="880" b="0">
                <a:solidFill>
                  <a:srgbClr val="BED3E2"/>
                </a:solidFill>
                <a:latin typeface="Noto Sans JP"/>
              </a:rPr>
              <a:t>家族は回復の重要パートナー。ポジティブな関わりが変化を生む</a:t>
            </a:r>
          </a:p>
        </p:txBody>
      </p:sp>
      <p:sp>
        <p:nvSpPr>
          <p:cNvPr id="7" name="Rounded Rectangle 6"/>
          <p:cNvSpPr/>
          <p:nvPr/>
        </p:nvSpPr>
        <p:spPr>
          <a:xfrm>
            <a:off x="9504000" y="198000"/>
            <a:ext cx="2124000" cy="208800"/>
          </a:xfrm>
          <a:prstGeom prst="roundRect">
            <a:avLst/>
          </a:prstGeom>
          <a:solidFill>
            <a:srgbClr val="EDF3F8"/>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850" b="1">
                <a:solidFill>
                  <a:srgbClr val="0D223A"/>
                </a:solidFill>
                <a:latin typeface="Noto Sans JP"/>
              </a:rPr>
              <a:t>家族支援</a:t>
            </a:r>
          </a:p>
        </p:txBody>
      </p:sp>
      <p:sp>
        <p:nvSpPr>
          <p:cNvPr id="8" name="TextBox 7"/>
          <p:cNvSpPr txBox="1"/>
          <p:nvPr/>
        </p:nvSpPr>
        <p:spPr>
          <a:xfrm>
            <a:off x="486000" y="917999"/>
            <a:ext cx="9000000" cy="223200"/>
          </a:xfrm>
          <a:prstGeom prst="rect">
            <a:avLst/>
          </a:prstGeom>
          <a:noFill/>
        </p:spPr>
        <p:txBody>
          <a:bodyPr wrap="square" lIns="18000" rIns="18000" tIns="7200" bIns="7200">
            <a:noAutofit/>
          </a:bodyPr>
          <a:lstStyle/>
          <a:p>
            <a:pPr algn="l">
              <a:lnSpc>
                <a:spcPct val="108000"/>
              </a:lnSpc>
            </a:pPr>
            <a:r>
              <a:rPr sz="1120" b="1">
                <a:solidFill>
                  <a:srgbClr val="0D223A"/>
                </a:solidFill>
                <a:latin typeface="Noto Sans JP"/>
              </a:rPr>
              <a:t>家族支援プログラムは、CRAFT（Community Reinforcement and Family Training）を基盤とし、家族が依存症者を支援するための実践的なスキルと知識を提供します。</a:t>
            </a:r>
          </a:p>
        </p:txBody>
      </p:sp>
      <p:sp>
        <p:nvSpPr>
          <p:cNvPr id="9" name="Rounded Rectangle 8"/>
          <p:cNvSpPr/>
          <p:nvPr/>
        </p:nvSpPr>
        <p:spPr>
          <a:xfrm>
            <a:off x="468000" y="1835999"/>
            <a:ext cx="1440000" cy="1800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8000" y="1835999"/>
            <a:ext cx="28800" cy="1800000"/>
          </a:xfrm>
          <a:prstGeom prst="rect">
            <a:avLst/>
          </a:prstGeom>
          <a:solidFill>
            <a:srgbClr val="2D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90000" y="2034000"/>
            <a:ext cx="360000" cy="360000"/>
          </a:xfrm>
          <a:prstGeom prst="roundRect">
            <a:avLst/>
          </a:prstGeom>
          <a:solidFill>
            <a:srgbClr val="2D7AFF"/>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1200" b="1">
                <a:solidFill>
                  <a:srgbClr val="FFFFFF"/>
                </a:solidFill>
                <a:latin typeface="Noto Sans JP"/>
              </a:rPr>
              <a:t>1</a:t>
            </a:r>
          </a:p>
        </p:txBody>
      </p:sp>
      <p:sp>
        <p:nvSpPr>
          <p:cNvPr id="12" name="TextBox 11"/>
          <p:cNvSpPr txBox="1"/>
          <p:nvPr/>
        </p:nvSpPr>
        <p:spPr>
          <a:xfrm>
            <a:off x="594000" y="2556000"/>
            <a:ext cx="1188000" cy="180000"/>
          </a:xfrm>
          <a:prstGeom prst="rect">
            <a:avLst/>
          </a:prstGeom>
          <a:noFill/>
        </p:spPr>
        <p:txBody>
          <a:bodyPr wrap="square" lIns="18000" rIns="18000" tIns="7200" bIns="7200">
            <a:noAutofit/>
          </a:bodyPr>
          <a:lstStyle/>
          <a:p>
            <a:pPr algn="ctr">
              <a:lnSpc>
                <a:spcPct val="108000"/>
              </a:lnSpc>
            </a:pPr>
            <a:r>
              <a:rPr sz="1019" b="1">
                <a:solidFill>
                  <a:srgbClr val="0D223A"/>
                </a:solidFill>
                <a:latin typeface="Noto Sans JP"/>
              </a:rPr>
              <a:t>理解・学ぶ</a:t>
            </a:r>
          </a:p>
        </p:txBody>
      </p:sp>
      <p:sp>
        <p:nvSpPr>
          <p:cNvPr id="13" name="TextBox 12"/>
          <p:cNvSpPr txBox="1"/>
          <p:nvPr/>
        </p:nvSpPr>
        <p:spPr>
          <a:xfrm>
            <a:off x="594000" y="2880000"/>
            <a:ext cx="1188000" cy="324000"/>
          </a:xfrm>
          <a:prstGeom prst="rect">
            <a:avLst/>
          </a:prstGeom>
          <a:noFill/>
        </p:spPr>
        <p:txBody>
          <a:bodyPr wrap="square" lIns="18000" rIns="18000" tIns="7200" bIns="7200">
            <a:noAutofit/>
          </a:bodyPr>
          <a:lstStyle/>
          <a:p>
            <a:pPr algn="ctr">
              <a:lnSpc>
                <a:spcPct val="108000"/>
              </a:lnSpc>
            </a:pPr>
            <a:r>
              <a:rPr sz="750" b="0">
                <a:solidFill>
                  <a:srgbClr val="5B6B7C"/>
                </a:solidFill>
                <a:latin typeface="Noto Sans JP"/>
              </a:rPr>
              <a:t>依存症の正しい知識とCRAFTの基本</a:t>
            </a:r>
          </a:p>
        </p:txBody>
      </p:sp>
      <p:sp>
        <p:nvSpPr>
          <p:cNvPr id="14" name="Rounded Rectangle 13"/>
          <p:cNvSpPr/>
          <p:nvPr/>
        </p:nvSpPr>
        <p:spPr>
          <a:xfrm>
            <a:off x="2070000" y="1835999"/>
            <a:ext cx="1440000" cy="1800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070000" y="1835999"/>
            <a:ext cx="28800" cy="1800000"/>
          </a:xfrm>
          <a:prstGeom prst="rect">
            <a:avLst/>
          </a:prstGeom>
          <a:solidFill>
            <a:srgbClr val="2D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592000" y="2034000"/>
            <a:ext cx="360000" cy="360000"/>
          </a:xfrm>
          <a:prstGeom prst="roundRect">
            <a:avLst/>
          </a:prstGeom>
          <a:solidFill>
            <a:srgbClr val="2D7AFF"/>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1200" b="1">
                <a:solidFill>
                  <a:srgbClr val="FFFFFF"/>
                </a:solidFill>
                <a:latin typeface="Noto Sans JP"/>
              </a:rPr>
              <a:t>2</a:t>
            </a:r>
          </a:p>
        </p:txBody>
      </p:sp>
      <p:sp>
        <p:nvSpPr>
          <p:cNvPr id="17" name="TextBox 16"/>
          <p:cNvSpPr txBox="1"/>
          <p:nvPr/>
        </p:nvSpPr>
        <p:spPr>
          <a:xfrm>
            <a:off x="2196000" y="2556000"/>
            <a:ext cx="1188000" cy="180000"/>
          </a:xfrm>
          <a:prstGeom prst="rect">
            <a:avLst/>
          </a:prstGeom>
          <a:noFill/>
        </p:spPr>
        <p:txBody>
          <a:bodyPr wrap="square" lIns="18000" rIns="18000" tIns="7200" bIns="7200">
            <a:noAutofit/>
          </a:bodyPr>
          <a:lstStyle/>
          <a:p>
            <a:pPr algn="ctr">
              <a:lnSpc>
                <a:spcPct val="108000"/>
              </a:lnSpc>
            </a:pPr>
            <a:r>
              <a:rPr sz="1019" b="1">
                <a:solidFill>
                  <a:srgbClr val="0D223A"/>
                </a:solidFill>
                <a:latin typeface="Noto Sans JP"/>
              </a:rPr>
              <a:t>相談・家族会</a:t>
            </a:r>
          </a:p>
        </p:txBody>
      </p:sp>
      <p:sp>
        <p:nvSpPr>
          <p:cNvPr id="18" name="TextBox 17"/>
          <p:cNvSpPr txBox="1"/>
          <p:nvPr/>
        </p:nvSpPr>
        <p:spPr>
          <a:xfrm>
            <a:off x="2196000" y="2880000"/>
            <a:ext cx="1188000" cy="324000"/>
          </a:xfrm>
          <a:prstGeom prst="rect">
            <a:avLst/>
          </a:prstGeom>
          <a:noFill/>
        </p:spPr>
        <p:txBody>
          <a:bodyPr wrap="square" lIns="18000" rIns="18000" tIns="7200" bIns="7200">
            <a:noAutofit/>
          </a:bodyPr>
          <a:lstStyle/>
          <a:p>
            <a:pPr algn="ctr">
              <a:lnSpc>
                <a:spcPct val="108000"/>
              </a:lnSpc>
            </a:pPr>
            <a:r>
              <a:rPr sz="750" b="0">
                <a:solidFill>
                  <a:srgbClr val="5B6B7C"/>
                </a:solidFill>
                <a:latin typeface="Noto Sans JP"/>
              </a:rPr>
              <a:t>仲間との分かち合い</a:t>
            </a:r>
          </a:p>
        </p:txBody>
      </p:sp>
      <p:sp>
        <p:nvSpPr>
          <p:cNvPr id="19" name="Rounded Rectangle 18"/>
          <p:cNvSpPr/>
          <p:nvPr/>
        </p:nvSpPr>
        <p:spPr>
          <a:xfrm>
            <a:off x="3672000" y="1835999"/>
            <a:ext cx="1440000" cy="1800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72000" y="1835999"/>
            <a:ext cx="28800" cy="1800000"/>
          </a:xfrm>
          <a:prstGeom prst="rect">
            <a:avLst/>
          </a:prstGeom>
          <a:solidFill>
            <a:srgbClr val="2D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194000" y="2034000"/>
            <a:ext cx="360000" cy="360000"/>
          </a:xfrm>
          <a:prstGeom prst="roundRect">
            <a:avLst/>
          </a:prstGeom>
          <a:solidFill>
            <a:srgbClr val="2D7AFF"/>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1200" b="1">
                <a:solidFill>
                  <a:srgbClr val="FFFFFF"/>
                </a:solidFill>
                <a:latin typeface="Noto Sans JP"/>
              </a:rPr>
              <a:t>3</a:t>
            </a:r>
          </a:p>
        </p:txBody>
      </p:sp>
      <p:sp>
        <p:nvSpPr>
          <p:cNvPr id="22" name="TextBox 21"/>
          <p:cNvSpPr txBox="1"/>
          <p:nvPr/>
        </p:nvSpPr>
        <p:spPr>
          <a:xfrm>
            <a:off x="3798000" y="2556000"/>
            <a:ext cx="1188000" cy="180000"/>
          </a:xfrm>
          <a:prstGeom prst="rect">
            <a:avLst/>
          </a:prstGeom>
          <a:noFill/>
        </p:spPr>
        <p:txBody>
          <a:bodyPr wrap="square" lIns="18000" rIns="18000" tIns="7200" bIns="7200">
            <a:noAutofit/>
          </a:bodyPr>
          <a:lstStyle/>
          <a:p>
            <a:pPr algn="ctr">
              <a:lnSpc>
                <a:spcPct val="108000"/>
              </a:lnSpc>
            </a:pPr>
            <a:r>
              <a:rPr sz="1019" b="1">
                <a:solidFill>
                  <a:srgbClr val="0D223A"/>
                </a:solidFill>
                <a:latin typeface="Noto Sans JP"/>
              </a:rPr>
              <a:t>関わりを変える</a:t>
            </a:r>
          </a:p>
        </p:txBody>
      </p:sp>
      <p:sp>
        <p:nvSpPr>
          <p:cNvPr id="23" name="TextBox 22"/>
          <p:cNvSpPr txBox="1"/>
          <p:nvPr/>
        </p:nvSpPr>
        <p:spPr>
          <a:xfrm>
            <a:off x="3798000" y="2880000"/>
            <a:ext cx="1188000" cy="324000"/>
          </a:xfrm>
          <a:prstGeom prst="rect">
            <a:avLst/>
          </a:prstGeom>
          <a:noFill/>
        </p:spPr>
        <p:txBody>
          <a:bodyPr wrap="square" lIns="18000" rIns="18000" tIns="7200" bIns="7200">
            <a:noAutofit/>
          </a:bodyPr>
          <a:lstStyle/>
          <a:p>
            <a:pPr algn="ctr">
              <a:lnSpc>
                <a:spcPct val="108000"/>
              </a:lnSpc>
            </a:pPr>
            <a:r>
              <a:rPr sz="750" b="0">
                <a:solidFill>
                  <a:srgbClr val="5B6B7C"/>
                </a:solidFill>
                <a:latin typeface="Noto Sans JP"/>
              </a:rPr>
              <a:t>効果的な対話と境界線設定</a:t>
            </a:r>
          </a:p>
        </p:txBody>
      </p:sp>
      <p:sp>
        <p:nvSpPr>
          <p:cNvPr id="24" name="Rounded Rectangle 23"/>
          <p:cNvSpPr/>
          <p:nvPr/>
        </p:nvSpPr>
        <p:spPr>
          <a:xfrm>
            <a:off x="5274000" y="1835999"/>
            <a:ext cx="1440000" cy="1800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274000" y="1835999"/>
            <a:ext cx="28800" cy="1800000"/>
          </a:xfrm>
          <a:prstGeom prst="rect">
            <a:avLst/>
          </a:prstGeom>
          <a:solidFill>
            <a:srgbClr val="2D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796000" y="2034000"/>
            <a:ext cx="360000" cy="360000"/>
          </a:xfrm>
          <a:prstGeom prst="roundRect">
            <a:avLst/>
          </a:prstGeom>
          <a:solidFill>
            <a:srgbClr val="2D7AFF"/>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1200" b="1">
                <a:solidFill>
                  <a:srgbClr val="FFFFFF"/>
                </a:solidFill>
                <a:latin typeface="Noto Sans JP"/>
              </a:rPr>
              <a:t>4</a:t>
            </a:r>
          </a:p>
        </p:txBody>
      </p:sp>
      <p:sp>
        <p:nvSpPr>
          <p:cNvPr id="27" name="TextBox 26"/>
          <p:cNvSpPr txBox="1"/>
          <p:nvPr/>
        </p:nvSpPr>
        <p:spPr>
          <a:xfrm>
            <a:off x="5400000" y="2556000"/>
            <a:ext cx="1188000" cy="180000"/>
          </a:xfrm>
          <a:prstGeom prst="rect">
            <a:avLst/>
          </a:prstGeom>
          <a:noFill/>
        </p:spPr>
        <p:txBody>
          <a:bodyPr wrap="square" lIns="18000" rIns="18000" tIns="7200" bIns="7200">
            <a:noAutofit/>
          </a:bodyPr>
          <a:lstStyle/>
          <a:p>
            <a:pPr algn="ctr">
              <a:lnSpc>
                <a:spcPct val="108000"/>
              </a:lnSpc>
            </a:pPr>
            <a:r>
              <a:rPr sz="1019" b="1">
                <a:solidFill>
                  <a:srgbClr val="0D223A"/>
                </a:solidFill>
                <a:latin typeface="Noto Sans JP"/>
              </a:rPr>
              <a:t>パターンを断つ</a:t>
            </a:r>
          </a:p>
        </p:txBody>
      </p:sp>
      <p:sp>
        <p:nvSpPr>
          <p:cNvPr id="28" name="TextBox 27"/>
          <p:cNvSpPr txBox="1"/>
          <p:nvPr/>
        </p:nvSpPr>
        <p:spPr>
          <a:xfrm>
            <a:off x="5400000" y="2880000"/>
            <a:ext cx="1188000" cy="324000"/>
          </a:xfrm>
          <a:prstGeom prst="rect">
            <a:avLst/>
          </a:prstGeom>
          <a:noFill/>
        </p:spPr>
        <p:txBody>
          <a:bodyPr wrap="square" lIns="18000" rIns="18000" tIns="7200" bIns="7200">
            <a:noAutofit/>
          </a:bodyPr>
          <a:lstStyle/>
          <a:p>
            <a:pPr algn="ctr">
              <a:lnSpc>
                <a:spcPct val="108000"/>
              </a:lnSpc>
            </a:pPr>
            <a:r>
              <a:rPr sz="750" b="0">
                <a:solidFill>
                  <a:srgbClr val="5B6B7C"/>
                </a:solidFill>
                <a:latin typeface="Noto Sans JP"/>
              </a:rPr>
              <a:t>巻き込まれを減らす</a:t>
            </a:r>
          </a:p>
        </p:txBody>
      </p:sp>
      <p:sp>
        <p:nvSpPr>
          <p:cNvPr id="29" name="Rounded Rectangle 28"/>
          <p:cNvSpPr/>
          <p:nvPr/>
        </p:nvSpPr>
        <p:spPr>
          <a:xfrm>
            <a:off x="6876000" y="1835999"/>
            <a:ext cx="1440000" cy="1800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876000" y="1835999"/>
            <a:ext cx="28800" cy="1800000"/>
          </a:xfrm>
          <a:prstGeom prst="rect">
            <a:avLst/>
          </a:prstGeom>
          <a:solidFill>
            <a:srgbClr val="2D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98000" y="2034000"/>
            <a:ext cx="360000" cy="360000"/>
          </a:xfrm>
          <a:prstGeom prst="roundRect">
            <a:avLst/>
          </a:prstGeom>
          <a:solidFill>
            <a:srgbClr val="2D7AFF"/>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1200" b="1">
                <a:solidFill>
                  <a:srgbClr val="FFFFFF"/>
                </a:solidFill>
                <a:latin typeface="Noto Sans JP"/>
              </a:rPr>
              <a:t>5</a:t>
            </a:r>
          </a:p>
        </p:txBody>
      </p:sp>
      <p:sp>
        <p:nvSpPr>
          <p:cNvPr id="32" name="TextBox 31"/>
          <p:cNvSpPr txBox="1"/>
          <p:nvPr/>
        </p:nvSpPr>
        <p:spPr>
          <a:xfrm>
            <a:off x="7002000" y="2556000"/>
            <a:ext cx="1188000" cy="180000"/>
          </a:xfrm>
          <a:prstGeom prst="rect">
            <a:avLst/>
          </a:prstGeom>
          <a:noFill/>
        </p:spPr>
        <p:txBody>
          <a:bodyPr wrap="square" lIns="18000" rIns="18000" tIns="7200" bIns="7200">
            <a:noAutofit/>
          </a:bodyPr>
          <a:lstStyle/>
          <a:p>
            <a:pPr algn="ctr">
              <a:lnSpc>
                <a:spcPct val="108000"/>
              </a:lnSpc>
            </a:pPr>
            <a:r>
              <a:rPr sz="1019" b="1">
                <a:solidFill>
                  <a:srgbClr val="0D223A"/>
                </a:solidFill>
                <a:latin typeface="Noto Sans JP"/>
              </a:rPr>
              <a:t>継続と強化</a:t>
            </a:r>
          </a:p>
        </p:txBody>
      </p:sp>
      <p:sp>
        <p:nvSpPr>
          <p:cNvPr id="33" name="TextBox 32"/>
          <p:cNvSpPr txBox="1"/>
          <p:nvPr/>
        </p:nvSpPr>
        <p:spPr>
          <a:xfrm>
            <a:off x="7002000" y="2880000"/>
            <a:ext cx="1188000" cy="324000"/>
          </a:xfrm>
          <a:prstGeom prst="rect">
            <a:avLst/>
          </a:prstGeom>
          <a:noFill/>
        </p:spPr>
        <p:txBody>
          <a:bodyPr wrap="square" lIns="18000" rIns="18000" tIns="7200" bIns="7200">
            <a:noAutofit/>
          </a:bodyPr>
          <a:lstStyle/>
          <a:p>
            <a:pPr algn="ctr">
              <a:lnSpc>
                <a:spcPct val="108000"/>
              </a:lnSpc>
            </a:pPr>
            <a:r>
              <a:rPr sz="750" b="0">
                <a:solidFill>
                  <a:srgbClr val="5B6B7C"/>
                </a:solidFill>
                <a:latin typeface="Noto Sans JP"/>
              </a:rPr>
              <a:t>回復行動を支える</a:t>
            </a:r>
          </a:p>
        </p:txBody>
      </p:sp>
      <p:sp>
        <p:nvSpPr>
          <p:cNvPr id="34" name="Rounded Rectangle 33"/>
          <p:cNvSpPr/>
          <p:nvPr/>
        </p:nvSpPr>
        <p:spPr>
          <a:xfrm>
            <a:off x="8712000" y="1835999"/>
            <a:ext cx="2664000" cy="3024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712000" y="1835999"/>
            <a:ext cx="28800" cy="3024000"/>
          </a:xfrm>
          <a:prstGeom prst="rect">
            <a:avLst/>
          </a:prstGeom>
          <a:solidFill>
            <a:srgbClr val="17BC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38000" y="1936800"/>
            <a:ext cx="2412000" cy="162000"/>
          </a:xfrm>
          <a:prstGeom prst="rect">
            <a:avLst/>
          </a:prstGeom>
          <a:noFill/>
        </p:spPr>
        <p:txBody>
          <a:bodyPr wrap="square" lIns="18000" rIns="18000" tIns="7200" bIns="7200">
            <a:noAutofit/>
          </a:bodyPr>
          <a:lstStyle/>
          <a:p>
            <a:pPr algn="l">
              <a:lnSpc>
                <a:spcPct val="108000"/>
              </a:lnSpc>
            </a:pPr>
            <a:r>
              <a:rPr sz="1250" b="1">
                <a:solidFill>
                  <a:srgbClr val="0D223A"/>
                </a:solidFill>
                <a:latin typeface="Noto Sans JP"/>
              </a:rPr>
              <a:t>援助の質を高める5つのポイント</a:t>
            </a:r>
          </a:p>
        </p:txBody>
      </p:sp>
      <p:sp>
        <p:nvSpPr>
          <p:cNvPr id="37" name="TextBox 36"/>
          <p:cNvSpPr txBox="1"/>
          <p:nvPr/>
        </p:nvSpPr>
        <p:spPr>
          <a:xfrm>
            <a:off x="8838000" y="2167200"/>
            <a:ext cx="2412000" cy="2646000"/>
          </a:xfrm>
          <a:prstGeom prst="rect">
            <a:avLst/>
          </a:prstGeom>
          <a:noFill/>
        </p:spPr>
        <p:txBody>
          <a:bodyPr wrap="square" lIns="18000" rIns="18000" tIns="7200" bIns="7200">
            <a:spAutoFit/>
          </a:bodyPr>
          <a:lstStyle/>
          <a:p>
            <a:pPr>
              <a:lnSpc>
                <a:spcPct val="108000"/>
              </a:lnSpc>
              <a:spcAft>
                <a:spcPts val="300"/>
              </a:spcAft>
              <a:defRPr sz="880">
                <a:solidFill>
                  <a:srgbClr val="5B6B7C"/>
                </a:solidFill>
                <a:latin typeface="Noto Sans JP"/>
              </a:defRPr>
            </a:pPr>
            <a:r>
              <a:rPr>
                <a:latin typeface="Noto Sans JP"/>
              </a:rPr>
              <a:t>• 原因を探さない</a:t>
            </a:r>
          </a:p>
          <a:p>
            <a:pPr>
              <a:lnSpc>
                <a:spcPct val="108000"/>
              </a:lnSpc>
              <a:spcAft>
                <a:spcPts val="300"/>
              </a:spcAft>
              <a:defRPr sz="880">
                <a:solidFill>
                  <a:srgbClr val="5B6B7C"/>
                </a:solidFill>
                <a:latin typeface="Noto Sans JP"/>
              </a:defRPr>
            </a:pPr>
            <a:r>
              <a:rPr>
                <a:latin typeface="Noto Sans JP"/>
              </a:rPr>
              <a:t>• 責めない・さばかない</a:t>
            </a:r>
          </a:p>
          <a:p>
            <a:pPr>
              <a:lnSpc>
                <a:spcPct val="108000"/>
              </a:lnSpc>
              <a:spcAft>
                <a:spcPts val="300"/>
              </a:spcAft>
              <a:defRPr sz="880">
                <a:solidFill>
                  <a:srgbClr val="5B6B7C"/>
                </a:solidFill>
                <a:latin typeface="Noto Sans JP"/>
              </a:defRPr>
            </a:pPr>
            <a:r>
              <a:rPr>
                <a:latin typeface="Noto Sans JP"/>
              </a:rPr>
              <a:t>• 知っておくべきこと</a:t>
            </a:r>
          </a:p>
          <a:p>
            <a:pPr>
              <a:lnSpc>
                <a:spcPct val="108000"/>
              </a:lnSpc>
              <a:spcAft>
                <a:spcPts val="300"/>
              </a:spcAft>
              <a:defRPr sz="880">
                <a:solidFill>
                  <a:srgbClr val="5B6B7C"/>
                </a:solidFill>
                <a:latin typeface="Noto Sans JP"/>
              </a:defRPr>
            </a:pPr>
            <a:r>
              <a:rPr>
                <a:latin typeface="Noto Sans JP"/>
              </a:rPr>
              <a:t>• タイミングがすべて</a:t>
            </a:r>
          </a:p>
          <a:p>
            <a:pPr>
              <a:lnSpc>
                <a:spcPct val="108000"/>
              </a:lnSpc>
              <a:spcAft>
                <a:spcPts val="300"/>
              </a:spcAft>
              <a:defRPr sz="880">
                <a:solidFill>
                  <a:srgbClr val="5B6B7C"/>
                </a:solidFill>
                <a:latin typeface="Noto Sans JP"/>
              </a:defRPr>
            </a:pPr>
            <a:r>
              <a:rPr>
                <a:latin typeface="Noto Sans JP"/>
              </a:rPr>
              <a:t>• ネイティブな言葉を避ける</a:t>
            </a:r>
          </a:p>
        </p:txBody>
      </p:sp>
      <p:sp>
        <p:nvSpPr>
          <p:cNvPr id="38" name="Rounded Rectangle 37"/>
          <p:cNvSpPr/>
          <p:nvPr/>
        </p:nvSpPr>
        <p:spPr>
          <a:xfrm>
            <a:off x="468000" y="4031999"/>
            <a:ext cx="7920000" cy="972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68000" y="4031999"/>
            <a:ext cx="28800" cy="972000"/>
          </a:xfrm>
          <a:prstGeom prst="rect">
            <a:avLst/>
          </a:prstGeom>
          <a:solidFill>
            <a:srgbClr val="F5A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94000" y="4132799"/>
            <a:ext cx="7668000" cy="162000"/>
          </a:xfrm>
          <a:prstGeom prst="rect">
            <a:avLst/>
          </a:prstGeom>
          <a:noFill/>
        </p:spPr>
        <p:txBody>
          <a:bodyPr wrap="square" lIns="18000" rIns="18000" tIns="7200" bIns="7200">
            <a:noAutofit/>
          </a:bodyPr>
          <a:lstStyle/>
          <a:p>
            <a:pPr algn="l">
              <a:lnSpc>
                <a:spcPct val="108000"/>
              </a:lnSpc>
            </a:pPr>
            <a:r>
              <a:rPr sz="1250" b="1">
                <a:solidFill>
                  <a:srgbClr val="0D223A"/>
                </a:solidFill>
                <a:latin typeface="Noto Sans JP"/>
              </a:rPr>
              <a:t>援助の質を高めるポイント</a:t>
            </a:r>
          </a:p>
        </p:txBody>
      </p:sp>
      <p:sp>
        <p:nvSpPr>
          <p:cNvPr id="41" name="TextBox 40"/>
          <p:cNvSpPr txBox="1"/>
          <p:nvPr/>
        </p:nvSpPr>
        <p:spPr>
          <a:xfrm>
            <a:off x="594000" y="4363200"/>
            <a:ext cx="7668000" cy="612000"/>
          </a:xfrm>
          <a:prstGeom prst="rect">
            <a:avLst/>
          </a:prstGeom>
          <a:noFill/>
        </p:spPr>
        <p:txBody>
          <a:bodyPr wrap="square" lIns="18000" rIns="18000" tIns="7200" bIns="7200">
            <a:noAutofit/>
          </a:bodyPr>
          <a:lstStyle/>
          <a:p>
            <a:pPr algn="l">
              <a:lnSpc>
                <a:spcPct val="108000"/>
              </a:lnSpc>
            </a:pPr>
            <a:r>
              <a:rPr sz="950" b="0">
                <a:solidFill>
                  <a:srgbClr val="5B6B7C"/>
                </a:solidFill>
                <a:latin typeface="Noto Sans JP"/>
              </a:rPr>
              <a:t>家族は回復の重要パートナーです。ポジティブな関わりが依存症者の変化を生み出します。</a:t>
            </a:r>
          </a:p>
        </p:txBody>
      </p:sp>
      <p:sp>
        <p:nvSpPr>
          <p:cNvPr id="42" name="TextBox 41"/>
          <p:cNvSpPr txBox="1"/>
          <p:nvPr/>
        </p:nvSpPr>
        <p:spPr>
          <a:xfrm>
            <a:off x="270000" y="6588000"/>
            <a:ext cx="5760000" cy="125999"/>
          </a:xfrm>
          <a:prstGeom prst="rect">
            <a:avLst/>
          </a:prstGeom>
          <a:noFill/>
        </p:spPr>
        <p:txBody>
          <a:bodyPr wrap="square" lIns="18000" rIns="18000" tIns="7200" bIns="7200">
            <a:noAutofit/>
          </a:bodyPr>
          <a:lstStyle/>
          <a:p>
            <a:pPr algn="l">
              <a:lnSpc>
                <a:spcPct val="108000"/>
              </a:lnSpc>
            </a:pPr>
            <a:r>
              <a:rPr sz="720" b="0">
                <a:solidFill>
                  <a:srgbClr val="5B6B7C"/>
                </a:solidFill>
                <a:latin typeface="Noto Sans JP"/>
              </a:rPr>
              <a:t>相模原ダルク｜依存症からの回復を全力で支えます</a:t>
            </a:r>
          </a:p>
        </p:txBody>
      </p:sp>
      <p:sp>
        <p:nvSpPr>
          <p:cNvPr id="43" name="TextBox 42"/>
          <p:cNvSpPr txBox="1"/>
          <p:nvPr/>
        </p:nvSpPr>
        <p:spPr>
          <a:xfrm>
            <a:off x="10062000" y="6566399"/>
            <a:ext cx="540000" cy="125999"/>
          </a:xfrm>
          <a:prstGeom prst="rect">
            <a:avLst/>
          </a:prstGeom>
          <a:noFill/>
        </p:spPr>
        <p:txBody>
          <a:bodyPr wrap="square" lIns="18000" rIns="18000" tIns="7200" bIns="7200">
            <a:noAutofit/>
          </a:bodyPr>
          <a:lstStyle/>
          <a:p>
            <a:pPr algn="r">
              <a:lnSpc>
                <a:spcPct val="108000"/>
              </a:lnSpc>
            </a:pPr>
            <a:r>
              <a:rPr sz="780" b="1">
                <a:solidFill>
                  <a:srgbClr val="0D223A"/>
                </a:solidFill>
                <a:latin typeface="Aptos Display"/>
              </a:rPr>
              <a:t>16/18</a:t>
            </a:r>
          </a:p>
        </p:txBody>
      </p:sp>
      <p:sp>
        <p:nvSpPr>
          <p:cNvPr id="44" name="Rounded Rectangle 43"/>
          <p:cNvSpPr/>
          <p:nvPr/>
        </p:nvSpPr>
        <p:spPr>
          <a:xfrm>
            <a:off x="10674000" y="6609600"/>
            <a:ext cx="1080000" cy="28800"/>
          </a:xfrm>
          <a:prstGeom prst="roundRect">
            <a:avLst/>
          </a:prstGeom>
          <a:solidFill>
            <a:srgbClr val="D7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10674000" y="6609600"/>
            <a:ext cx="960000" cy="28800"/>
          </a:xfrm>
          <a:prstGeom prst="roundRect">
            <a:avLst/>
          </a:prstGeom>
          <a:solidFill>
            <a:srgbClr val="16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119" cy="730799"/>
          </a:xfrm>
          <a:prstGeom prst="rect">
            <a:avLst/>
          </a:prstGeom>
          <a:solidFill>
            <a:srgbClr val="0D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70000" y="162000"/>
            <a:ext cx="259200" cy="259200"/>
          </a:xfrm>
          <a:prstGeom prst="roundRect">
            <a:avLst/>
          </a:prstGeom>
          <a:solidFill>
            <a:srgbClr val="153A5E"/>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1000" b="1">
                <a:solidFill>
                  <a:srgbClr val="FFFFFF"/>
                </a:solidFill>
                <a:latin typeface="Noto Sans JP"/>
              </a:rPr>
              <a:t>▦</a:t>
            </a:r>
          </a:p>
        </p:txBody>
      </p:sp>
      <p:sp>
        <p:nvSpPr>
          <p:cNvPr id="5" name="TextBox 4"/>
          <p:cNvSpPr txBox="1"/>
          <p:nvPr/>
        </p:nvSpPr>
        <p:spPr>
          <a:xfrm>
            <a:off x="619200" y="125999"/>
            <a:ext cx="7380000" cy="223200"/>
          </a:xfrm>
          <a:prstGeom prst="rect">
            <a:avLst/>
          </a:prstGeom>
          <a:noFill/>
        </p:spPr>
        <p:txBody>
          <a:bodyPr wrap="square" lIns="18000" rIns="18000" tIns="7200" bIns="7200">
            <a:noAutofit/>
          </a:bodyPr>
          <a:lstStyle/>
          <a:p>
            <a:pPr algn="l">
              <a:lnSpc>
                <a:spcPct val="108000"/>
              </a:lnSpc>
            </a:pPr>
            <a:r>
              <a:rPr sz="2000" b="1">
                <a:solidFill>
                  <a:srgbClr val="FFFFFF"/>
                </a:solidFill>
                <a:latin typeface="Noto Sans JP"/>
              </a:rPr>
              <a:t>連携機関とネットワーク</a:t>
            </a:r>
          </a:p>
        </p:txBody>
      </p:sp>
      <p:sp>
        <p:nvSpPr>
          <p:cNvPr id="6" name="TextBox 5"/>
          <p:cNvSpPr txBox="1"/>
          <p:nvPr/>
        </p:nvSpPr>
        <p:spPr>
          <a:xfrm>
            <a:off x="630000" y="396000"/>
            <a:ext cx="7920000" cy="151200"/>
          </a:xfrm>
          <a:prstGeom prst="rect">
            <a:avLst/>
          </a:prstGeom>
          <a:noFill/>
        </p:spPr>
        <p:txBody>
          <a:bodyPr wrap="square" lIns="18000" rIns="18000" tIns="7200" bIns="7200">
            <a:noAutofit/>
          </a:bodyPr>
          <a:lstStyle/>
          <a:p>
            <a:pPr algn="l">
              <a:lnSpc>
                <a:spcPct val="108000"/>
              </a:lnSpc>
            </a:pPr>
            <a:r>
              <a:rPr sz="880" b="0">
                <a:solidFill>
                  <a:srgbClr val="BED3E2"/>
                </a:solidFill>
                <a:latin typeface="Noto Sans JP"/>
              </a:rPr>
              <a:t>医療・行政・司法・地域と連携し、予防から社会復帰までを支援</a:t>
            </a:r>
          </a:p>
        </p:txBody>
      </p:sp>
      <p:sp>
        <p:nvSpPr>
          <p:cNvPr id="7" name="Rounded Rectangle 6"/>
          <p:cNvSpPr/>
          <p:nvPr/>
        </p:nvSpPr>
        <p:spPr>
          <a:xfrm>
            <a:off x="9504000" y="198000"/>
            <a:ext cx="2124000" cy="208800"/>
          </a:xfrm>
          <a:prstGeom prst="roundRect">
            <a:avLst/>
          </a:prstGeom>
          <a:solidFill>
            <a:srgbClr val="EDF3F8"/>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850" b="1">
                <a:solidFill>
                  <a:srgbClr val="0D223A"/>
                </a:solidFill>
                <a:latin typeface="Noto Sans JP"/>
              </a:rPr>
              <a:t>計4つの連携分野</a:t>
            </a:r>
          </a:p>
        </p:txBody>
      </p:sp>
      <p:sp>
        <p:nvSpPr>
          <p:cNvPr id="8" name="TextBox 7"/>
          <p:cNvSpPr txBox="1"/>
          <p:nvPr/>
        </p:nvSpPr>
        <p:spPr>
          <a:xfrm>
            <a:off x="486000" y="917999"/>
            <a:ext cx="9180000" cy="223200"/>
          </a:xfrm>
          <a:prstGeom prst="rect">
            <a:avLst/>
          </a:prstGeom>
          <a:noFill/>
        </p:spPr>
        <p:txBody>
          <a:bodyPr wrap="square" lIns="18000" rIns="18000" tIns="7200" bIns="7200">
            <a:noAutofit/>
          </a:bodyPr>
          <a:lstStyle/>
          <a:p>
            <a:pPr algn="l">
              <a:lnSpc>
                <a:spcPct val="108000"/>
              </a:lnSpc>
            </a:pPr>
            <a:r>
              <a:rPr sz="1060" b="1">
                <a:solidFill>
                  <a:srgbClr val="0D223A"/>
                </a:solidFill>
                <a:latin typeface="Noto Sans JP"/>
              </a:rPr>
              <a:t>相模原ダルクは、2026年1月時点の最新情報を反映しています。協定書・覚書に基づく正式連携および実績ベースの協力関係を含み、包括的な支援ネットワークを構築しています。</a:t>
            </a:r>
          </a:p>
        </p:txBody>
      </p:sp>
      <p:sp>
        <p:nvSpPr>
          <p:cNvPr id="9" name="Rounded Rectangle 8"/>
          <p:cNvSpPr/>
          <p:nvPr/>
        </p:nvSpPr>
        <p:spPr>
          <a:xfrm>
            <a:off x="450000" y="1565999"/>
            <a:ext cx="5256000" cy="1565999"/>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0000" y="1565999"/>
            <a:ext cx="28800" cy="1565999"/>
          </a:xfrm>
          <a:prstGeom prst="rect">
            <a:avLst/>
          </a:prstGeom>
          <a:solidFill>
            <a:srgbClr val="2D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00" y="1666800"/>
            <a:ext cx="5004000" cy="162000"/>
          </a:xfrm>
          <a:prstGeom prst="rect">
            <a:avLst/>
          </a:prstGeom>
          <a:noFill/>
        </p:spPr>
        <p:txBody>
          <a:bodyPr wrap="square" lIns="18000" rIns="18000" tIns="7200" bIns="7200">
            <a:noAutofit/>
          </a:bodyPr>
          <a:lstStyle/>
          <a:p>
            <a:pPr algn="l">
              <a:lnSpc>
                <a:spcPct val="108000"/>
              </a:lnSpc>
            </a:pPr>
            <a:r>
              <a:rPr sz="1240" b="1">
                <a:solidFill>
                  <a:srgbClr val="0D223A"/>
                </a:solidFill>
                <a:latin typeface="Noto Sans JP"/>
              </a:rPr>
              <a:t>医療（MEDICAL PARTNERS）</a:t>
            </a:r>
          </a:p>
        </p:txBody>
      </p:sp>
      <p:sp>
        <p:nvSpPr>
          <p:cNvPr id="12" name="TextBox 11"/>
          <p:cNvSpPr txBox="1"/>
          <p:nvPr/>
        </p:nvSpPr>
        <p:spPr>
          <a:xfrm>
            <a:off x="576000" y="1897199"/>
            <a:ext cx="5004000" cy="1188000"/>
          </a:xfrm>
          <a:prstGeom prst="rect">
            <a:avLst/>
          </a:prstGeom>
          <a:noFill/>
        </p:spPr>
        <p:txBody>
          <a:bodyPr wrap="square" lIns="18000" rIns="18000" tIns="7200" bIns="7200">
            <a:spAutoFit/>
          </a:bodyPr>
          <a:lstStyle/>
          <a:p>
            <a:pPr>
              <a:lnSpc>
                <a:spcPct val="108000"/>
              </a:lnSpc>
              <a:spcAft>
                <a:spcPts val="300"/>
              </a:spcAft>
              <a:defRPr sz="880">
                <a:solidFill>
                  <a:srgbClr val="5B6B7C"/>
                </a:solidFill>
                <a:latin typeface="Noto Sans JP"/>
              </a:defRPr>
            </a:pPr>
            <a:r>
              <a:rPr>
                <a:latin typeface="Noto Sans JP"/>
              </a:rPr>
              <a:t>• 北里大学病院</a:t>
            </a:r>
          </a:p>
          <a:p>
            <a:pPr>
              <a:lnSpc>
                <a:spcPct val="108000"/>
              </a:lnSpc>
              <a:spcAft>
                <a:spcPts val="300"/>
              </a:spcAft>
              <a:defRPr sz="880">
                <a:solidFill>
                  <a:srgbClr val="5B6B7C"/>
                </a:solidFill>
                <a:latin typeface="Noto Sans JP"/>
              </a:defRPr>
            </a:pPr>
            <a:r>
              <a:rPr>
                <a:latin typeface="Noto Sans JP"/>
              </a:rPr>
              <a:t>• 相模湖病院</a:t>
            </a:r>
          </a:p>
          <a:p>
            <a:pPr>
              <a:lnSpc>
                <a:spcPct val="108000"/>
              </a:lnSpc>
              <a:spcAft>
                <a:spcPts val="300"/>
              </a:spcAft>
              <a:defRPr sz="880">
                <a:solidFill>
                  <a:srgbClr val="5B6B7C"/>
                </a:solidFill>
                <a:latin typeface="Noto Sans JP"/>
              </a:defRPr>
            </a:pPr>
            <a:r>
              <a:rPr>
                <a:latin typeface="Noto Sans JP"/>
              </a:rPr>
              <a:t>• 高尾厚生病院</a:t>
            </a:r>
          </a:p>
        </p:txBody>
      </p:sp>
      <p:sp>
        <p:nvSpPr>
          <p:cNvPr id="13" name="Rounded Rectangle 12"/>
          <p:cNvSpPr/>
          <p:nvPr/>
        </p:nvSpPr>
        <p:spPr>
          <a:xfrm>
            <a:off x="6138000" y="1565999"/>
            <a:ext cx="5256000" cy="1565999"/>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38000" y="1565999"/>
            <a:ext cx="28800" cy="1565999"/>
          </a:xfrm>
          <a:prstGeom prst="rect">
            <a:avLst/>
          </a:prstGeom>
          <a:solidFill>
            <a:srgbClr val="17BC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4000" y="1666800"/>
            <a:ext cx="5004000" cy="162000"/>
          </a:xfrm>
          <a:prstGeom prst="rect">
            <a:avLst/>
          </a:prstGeom>
          <a:noFill/>
        </p:spPr>
        <p:txBody>
          <a:bodyPr wrap="square" lIns="18000" rIns="18000" tIns="7200" bIns="7200">
            <a:noAutofit/>
          </a:bodyPr>
          <a:lstStyle/>
          <a:p>
            <a:pPr algn="l">
              <a:lnSpc>
                <a:spcPct val="108000"/>
              </a:lnSpc>
            </a:pPr>
            <a:r>
              <a:rPr sz="1240" b="1">
                <a:solidFill>
                  <a:srgbClr val="0D223A"/>
                </a:solidFill>
                <a:latin typeface="Noto Sans JP"/>
              </a:rPr>
              <a:t>行政（PUBLIC SECTOR）</a:t>
            </a:r>
          </a:p>
        </p:txBody>
      </p:sp>
      <p:sp>
        <p:nvSpPr>
          <p:cNvPr id="16" name="TextBox 15"/>
          <p:cNvSpPr txBox="1"/>
          <p:nvPr/>
        </p:nvSpPr>
        <p:spPr>
          <a:xfrm>
            <a:off x="6264000" y="1897199"/>
            <a:ext cx="5004000" cy="1188000"/>
          </a:xfrm>
          <a:prstGeom prst="rect">
            <a:avLst/>
          </a:prstGeom>
          <a:noFill/>
        </p:spPr>
        <p:txBody>
          <a:bodyPr wrap="square" lIns="18000" rIns="18000" tIns="7200" bIns="7200">
            <a:spAutoFit/>
          </a:bodyPr>
          <a:lstStyle/>
          <a:p>
            <a:pPr>
              <a:lnSpc>
                <a:spcPct val="108000"/>
              </a:lnSpc>
              <a:spcAft>
                <a:spcPts val="300"/>
              </a:spcAft>
              <a:defRPr sz="880">
                <a:solidFill>
                  <a:srgbClr val="5B6B7C"/>
                </a:solidFill>
                <a:latin typeface="Noto Sans JP"/>
              </a:defRPr>
            </a:pPr>
            <a:r>
              <a:rPr>
                <a:latin typeface="Noto Sans JP"/>
              </a:rPr>
              <a:t>• 相模原市精神保健福祉センター</a:t>
            </a:r>
          </a:p>
          <a:p>
            <a:pPr>
              <a:lnSpc>
                <a:spcPct val="108000"/>
              </a:lnSpc>
              <a:spcAft>
                <a:spcPts val="300"/>
              </a:spcAft>
              <a:defRPr sz="880">
                <a:solidFill>
                  <a:srgbClr val="5B6B7C"/>
                </a:solidFill>
                <a:latin typeface="Noto Sans JP"/>
              </a:defRPr>
            </a:pPr>
            <a:r>
              <a:rPr>
                <a:latin typeface="Noto Sans JP"/>
              </a:rPr>
              <a:t>• 東京都多摩総合精神保健福祉センター</a:t>
            </a:r>
          </a:p>
        </p:txBody>
      </p:sp>
      <p:sp>
        <p:nvSpPr>
          <p:cNvPr id="17" name="Rounded Rectangle 16"/>
          <p:cNvSpPr/>
          <p:nvPr/>
        </p:nvSpPr>
        <p:spPr>
          <a:xfrm>
            <a:off x="450000" y="3491999"/>
            <a:ext cx="5256000" cy="1565999"/>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0000" y="3491999"/>
            <a:ext cx="28800" cy="1565999"/>
          </a:xfrm>
          <a:prstGeom prst="rect">
            <a:avLst/>
          </a:prstGeom>
          <a:solidFill>
            <a:srgbClr val="F5A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6000" y="3592799"/>
            <a:ext cx="5004000" cy="162000"/>
          </a:xfrm>
          <a:prstGeom prst="rect">
            <a:avLst/>
          </a:prstGeom>
          <a:noFill/>
        </p:spPr>
        <p:txBody>
          <a:bodyPr wrap="square" lIns="18000" rIns="18000" tIns="7200" bIns="7200">
            <a:noAutofit/>
          </a:bodyPr>
          <a:lstStyle/>
          <a:p>
            <a:pPr algn="l">
              <a:lnSpc>
                <a:spcPct val="108000"/>
              </a:lnSpc>
            </a:pPr>
            <a:r>
              <a:rPr sz="1240" b="1">
                <a:solidFill>
                  <a:srgbClr val="0D223A"/>
                </a:solidFill>
                <a:latin typeface="Noto Sans JP"/>
              </a:rPr>
              <a:t>司法（JUSTICE）</a:t>
            </a:r>
          </a:p>
        </p:txBody>
      </p:sp>
      <p:sp>
        <p:nvSpPr>
          <p:cNvPr id="20" name="TextBox 19"/>
          <p:cNvSpPr txBox="1"/>
          <p:nvPr/>
        </p:nvSpPr>
        <p:spPr>
          <a:xfrm>
            <a:off x="576000" y="3823199"/>
            <a:ext cx="5004000" cy="1188000"/>
          </a:xfrm>
          <a:prstGeom prst="rect">
            <a:avLst/>
          </a:prstGeom>
          <a:noFill/>
        </p:spPr>
        <p:txBody>
          <a:bodyPr wrap="square" lIns="18000" rIns="18000" tIns="7200" bIns="7200">
            <a:spAutoFit/>
          </a:bodyPr>
          <a:lstStyle/>
          <a:p>
            <a:pPr>
              <a:lnSpc>
                <a:spcPct val="108000"/>
              </a:lnSpc>
              <a:spcAft>
                <a:spcPts val="300"/>
              </a:spcAft>
              <a:defRPr sz="880">
                <a:solidFill>
                  <a:srgbClr val="5B6B7C"/>
                </a:solidFill>
                <a:latin typeface="Noto Sans JP"/>
              </a:defRPr>
            </a:pPr>
            <a:r>
              <a:rPr>
                <a:latin typeface="Noto Sans JP"/>
              </a:rPr>
              <a:t>• 横浜保護観察所</a:t>
            </a:r>
          </a:p>
          <a:p>
            <a:pPr>
              <a:lnSpc>
                <a:spcPct val="108000"/>
              </a:lnSpc>
              <a:spcAft>
                <a:spcPts val="300"/>
              </a:spcAft>
              <a:defRPr sz="880">
                <a:solidFill>
                  <a:srgbClr val="5B6B7C"/>
                </a:solidFill>
                <a:latin typeface="Noto Sans JP"/>
              </a:defRPr>
            </a:pPr>
            <a:r>
              <a:rPr>
                <a:latin typeface="Noto Sans JP"/>
              </a:rPr>
              <a:t>• 府中刑務所</a:t>
            </a:r>
          </a:p>
          <a:p>
            <a:pPr>
              <a:lnSpc>
                <a:spcPct val="108000"/>
              </a:lnSpc>
              <a:spcAft>
                <a:spcPts val="300"/>
              </a:spcAft>
              <a:defRPr sz="880">
                <a:solidFill>
                  <a:srgbClr val="5B6B7C"/>
                </a:solidFill>
                <a:latin typeface="Noto Sans JP"/>
              </a:defRPr>
            </a:pPr>
            <a:r>
              <a:rPr>
                <a:latin typeface="Noto Sans JP"/>
              </a:rPr>
              <a:t>• 八王子少年鑑別所</a:t>
            </a:r>
          </a:p>
        </p:txBody>
      </p:sp>
      <p:sp>
        <p:nvSpPr>
          <p:cNvPr id="21" name="Rounded Rectangle 20"/>
          <p:cNvSpPr/>
          <p:nvPr/>
        </p:nvSpPr>
        <p:spPr>
          <a:xfrm>
            <a:off x="6138000" y="3491999"/>
            <a:ext cx="5256000" cy="1565999"/>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38000" y="3491999"/>
            <a:ext cx="28800" cy="1565999"/>
          </a:xfrm>
          <a:prstGeom prst="rect">
            <a:avLst/>
          </a:prstGeom>
          <a:solidFill>
            <a:srgbClr val="85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64000" y="3592799"/>
            <a:ext cx="5004000" cy="162000"/>
          </a:xfrm>
          <a:prstGeom prst="rect">
            <a:avLst/>
          </a:prstGeom>
          <a:noFill/>
        </p:spPr>
        <p:txBody>
          <a:bodyPr wrap="square" lIns="18000" rIns="18000" tIns="7200" bIns="7200">
            <a:noAutofit/>
          </a:bodyPr>
          <a:lstStyle/>
          <a:p>
            <a:pPr algn="l">
              <a:lnSpc>
                <a:spcPct val="108000"/>
              </a:lnSpc>
            </a:pPr>
            <a:r>
              <a:rPr sz="1240" b="1">
                <a:solidFill>
                  <a:srgbClr val="0D223A"/>
                </a:solidFill>
                <a:latin typeface="Noto Sans JP"/>
              </a:rPr>
              <a:t>地域（COMMUNITY）</a:t>
            </a:r>
          </a:p>
        </p:txBody>
      </p:sp>
      <p:sp>
        <p:nvSpPr>
          <p:cNvPr id="24" name="TextBox 23"/>
          <p:cNvSpPr txBox="1"/>
          <p:nvPr/>
        </p:nvSpPr>
        <p:spPr>
          <a:xfrm>
            <a:off x="6264000" y="3823199"/>
            <a:ext cx="5004000" cy="1188000"/>
          </a:xfrm>
          <a:prstGeom prst="rect">
            <a:avLst/>
          </a:prstGeom>
          <a:noFill/>
        </p:spPr>
        <p:txBody>
          <a:bodyPr wrap="square" lIns="18000" rIns="18000" tIns="7200" bIns="7200">
            <a:spAutoFit/>
          </a:bodyPr>
          <a:lstStyle/>
          <a:p>
            <a:pPr>
              <a:lnSpc>
                <a:spcPct val="108000"/>
              </a:lnSpc>
              <a:spcAft>
                <a:spcPts val="300"/>
              </a:spcAft>
              <a:defRPr sz="880">
                <a:solidFill>
                  <a:srgbClr val="5B6B7C"/>
                </a:solidFill>
                <a:latin typeface="Noto Sans JP"/>
              </a:defRPr>
            </a:pPr>
            <a:r>
              <a:rPr>
                <a:latin typeface="Noto Sans JP"/>
              </a:rPr>
              <a:t>• 地域行政</a:t>
            </a:r>
          </a:p>
          <a:p>
            <a:pPr>
              <a:lnSpc>
                <a:spcPct val="108000"/>
              </a:lnSpc>
              <a:spcAft>
                <a:spcPts val="300"/>
              </a:spcAft>
              <a:defRPr sz="880">
                <a:solidFill>
                  <a:srgbClr val="5B6B7C"/>
                </a:solidFill>
                <a:latin typeface="Noto Sans JP"/>
              </a:defRPr>
            </a:pPr>
            <a:r>
              <a:rPr>
                <a:latin typeface="Noto Sans JP"/>
              </a:rPr>
              <a:t>• 専門病院</a:t>
            </a:r>
          </a:p>
          <a:p>
            <a:pPr>
              <a:lnSpc>
                <a:spcPct val="108000"/>
              </a:lnSpc>
              <a:spcAft>
                <a:spcPts val="300"/>
              </a:spcAft>
              <a:defRPr sz="880">
                <a:solidFill>
                  <a:srgbClr val="5B6B7C"/>
                </a:solidFill>
                <a:latin typeface="Noto Sans JP"/>
              </a:defRPr>
            </a:pPr>
            <a:r>
              <a:rPr>
                <a:latin typeface="Noto Sans JP"/>
              </a:rPr>
              <a:t>• 学校</a:t>
            </a:r>
          </a:p>
          <a:p>
            <a:pPr>
              <a:lnSpc>
                <a:spcPct val="108000"/>
              </a:lnSpc>
              <a:spcAft>
                <a:spcPts val="300"/>
              </a:spcAft>
              <a:defRPr sz="880">
                <a:solidFill>
                  <a:srgbClr val="5B6B7C"/>
                </a:solidFill>
                <a:latin typeface="Noto Sans JP"/>
              </a:defRPr>
            </a:pPr>
            <a:r>
              <a:rPr>
                <a:latin typeface="Noto Sans JP"/>
              </a:rPr>
              <a:t>• 企業</a:t>
            </a:r>
          </a:p>
        </p:txBody>
      </p:sp>
      <p:sp>
        <p:nvSpPr>
          <p:cNvPr id="25" name="TextBox 24"/>
          <p:cNvSpPr txBox="1"/>
          <p:nvPr/>
        </p:nvSpPr>
        <p:spPr>
          <a:xfrm>
            <a:off x="270000" y="6588000"/>
            <a:ext cx="5760000" cy="125999"/>
          </a:xfrm>
          <a:prstGeom prst="rect">
            <a:avLst/>
          </a:prstGeom>
          <a:noFill/>
        </p:spPr>
        <p:txBody>
          <a:bodyPr wrap="square" lIns="18000" rIns="18000" tIns="7200" bIns="7200">
            <a:noAutofit/>
          </a:bodyPr>
          <a:lstStyle/>
          <a:p>
            <a:pPr algn="l">
              <a:lnSpc>
                <a:spcPct val="108000"/>
              </a:lnSpc>
            </a:pPr>
            <a:r>
              <a:rPr sz="720" b="0">
                <a:solidFill>
                  <a:srgbClr val="5B6B7C"/>
                </a:solidFill>
                <a:latin typeface="Noto Sans JP"/>
              </a:rPr>
              <a:t>相模原ダルク｜依存症からの回復を全力で支えます</a:t>
            </a:r>
          </a:p>
        </p:txBody>
      </p:sp>
      <p:sp>
        <p:nvSpPr>
          <p:cNvPr id="26" name="TextBox 25"/>
          <p:cNvSpPr txBox="1"/>
          <p:nvPr/>
        </p:nvSpPr>
        <p:spPr>
          <a:xfrm>
            <a:off x="10062000" y="6566399"/>
            <a:ext cx="540000" cy="125999"/>
          </a:xfrm>
          <a:prstGeom prst="rect">
            <a:avLst/>
          </a:prstGeom>
          <a:noFill/>
        </p:spPr>
        <p:txBody>
          <a:bodyPr wrap="square" lIns="18000" rIns="18000" tIns="7200" bIns="7200">
            <a:noAutofit/>
          </a:bodyPr>
          <a:lstStyle/>
          <a:p>
            <a:pPr algn="r">
              <a:lnSpc>
                <a:spcPct val="108000"/>
              </a:lnSpc>
            </a:pPr>
            <a:r>
              <a:rPr sz="780" b="1">
                <a:solidFill>
                  <a:srgbClr val="0D223A"/>
                </a:solidFill>
                <a:latin typeface="Aptos Display"/>
              </a:rPr>
              <a:t>17/18</a:t>
            </a:r>
          </a:p>
        </p:txBody>
      </p:sp>
      <p:sp>
        <p:nvSpPr>
          <p:cNvPr id="27" name="Rounded Rectangle 26"/>
          <p:cNvSpPr/>
          <p:nvPr/>
        </p:nvSpPr>
        <p:spPr>
          <a:xfrm>
            <a:off x="10674000" y="6609600"/>
            <a:ext cx="1080000" cy="28800"/>
          </a:xfrm>
          <a:prstGeom prst="roundRect">
            <a:avLst/>
          </a:prstGeom>
          <a:solidFill>
            <a:srgbClr val="D7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0674000" y="6609600"/>
            <a:ext cx="1020000" cy="28800"/>
          </a:xfrm>
          <a:prstGeom prst="roundRect">
            <a:avLst/>
          </a:prstGeom>
          <a:solidFill>
            <a:srgbClr val="16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1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119" cy="730799"/>
          </a:xfrm>
          <a:prstGeom prst="rect">
            <a:avLst/>
          </a:prstGeom>
          <a:solidFill>
            <a:srgbClr val="0D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70000" y="162000"/>
            <a:ext cx="259200" cy="259200"/>
          </a:xfrm>
          <a:prstGeom prst="roundRect">
            <a:avLst/>
          </a:prstGeom>
          <a:solidFill>
            <a:srgbClr val="153A5E"/>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1000" b="1">
                <a:solidFill>
                  <a:srgbClr val="FFFFFF"/>
                </a:solidFill>
                <a:latin typeface="Noto Sans JP"/>
              </a:rPr>
              <a:t>♪</a:t>
            </a:r>
          </a:p>
        </p:txBody>
      </p:sp>
      <p:sp>
        <p:nvSpPr>
          <p:cNvPr id="5" name="TextBox 4"/>
          <p:cNvSpPr txBox="1"/>
          <p:nvPr/>
        </p:nvSpPr>
        <p:spPr>
          <a:xfrm>
            <a:off x="619200" y="125999"/>
            <a:ext cx="7380000" cy="223200"/>
          </a:xfrm>
          <a:prstGeom prst="rect">
            <a:avLst/>
          </a:prstGeom>
          <a:noFill/>
        </p:spPr>
        <p:txBody>
          <a:bodyPr wrap="square" lIns="18000" rIns="18000" tIns="7200" bIns="7200">
            <a:noAutofit/>
          </a:bodyPr>
          <a:lstStyle/>
          <a:p>
            <a:pPr algn="l">
              <a:lnSpc>
                <a:spcPct val="108000"/>
              </a:lnSpc>
            </a:pPr>
            <a:r>
              <a:rPr sz="2000" b="1">
                <a:solidFill>
                  <a:srgbClr val="FFFFFF"/>
                </a:solidFill>
                <a:latin typeface="Noto Sans JP"/>
              </a:rPr>
              <a:t>お問い合わせ｜CHANGE YOUR LIFE!</a:t>
            </a:r>
          </a:p>
        </p:txBody>
      </p:sp>
      <p:sp>
        <p:nvSpPr>
          <p:cNvPr id="6" name="TextBox 5"/>
          <p:cNvSpPr txBox="1"/>
          <p:nvPr/>
        </p:nvSpPr>
        <p:spPr>
          <a:xfrm>
            <a:off x="630000" y="396000"/>
            <a:ext cx="7920000" cy="151200"/>
          </a:xfrm>
          <a:prstGeom prst="rect">
            <a:avLst/>
          </a:prstGeom>
          <a:noFill/>
        </p:spPr>
        <p:txBody>
          <a:bodyPr wrap="square" lIns="18000" rIns="18000" tIns="7200" bIns="7200">
            <a:noAutofit/>
          </a:bodyPr>
          <a:lstStyle/>
          <a:p>
            <a:pPr algn="l">
              <a:lnSpc>
                <a:spcPct val="108000"/>
              </a:lnSpc>
            </a:pPr>
            <a:r>
              <a:rPr sz="880" b="0">
                <a:solidFill>
                  <a:srgbClr val="BED3E2"/>
                </a:solidFill>
                <a:latin typeface="Noto Sans JP"/>
              </a:rPr>
              <a:t>依存症からの回復を全力で支えます</a:t>
            </a:r>
          </a:p>
        </p:txBody>
      </p:sp>
      <p:sp>
        <p:nvSpPr>
          <p:cNvPr id="7" name="Rounded Rectangle 6"/>
          <p:cNvSpPr/>
          <p:nvPr/>
        </p:nvSpPr>
        <p:spPr>
          <a:xfrm>
            <a:off x="9504000" y="198000"/>
            <a:ext cx="2124000" cy="208800"/>
          </a:xfrm>
          <a:prstGeom prst="roundRect">
            <a:avLst/>
          </a:prstGeom>
          <a:solidFill>
            <a:srgbClr val="EDF3F8"/>
          </a:solidFill>
          <a:ln>
            <a:noFill/>
          </a:ln>
        </p:spPr>
        <p:style>
          <a:lnRef idx="1">
            <a:schemeClr val="accent1"/>
          </a:lnRef>
          <a:fillRef idx="3">
            <a:schemeClr val="accent1"/>
          </a:fillRef>
          <a:effectRef idx="2">
            <a:schemeClr val="accent1"/>
          </a:effectRef>
          <a:fontRef idx="minor">
            <a:schemeClr val="lt1"/>
          </a:fontRef>
        </p:style>
        <p:txBody>
          <a:bodyPr rtlCol="0" anchor="ctr" lIns="54000" rIns="54000"/>
          <a:lstStyle/>
          <a:p>
            <a:pPr algn="ctr"/>
            <a:r>
              <a:rPr sz="850" b="1">
                <a:solidFill>
                  <a:srgbClr val="0D223A"/>
                </a:solidFill>
                <a:latin typeface="Noto Sans JP"/>
              </a:rPr>
              <a:t>初回相談無料</a:t>
            </a:r>
          </a:p>
        </p:txBody>
      </p:sp>
      <p:sp>
        <p:nvSpPr>
          <p:cNvPr id="8" name="TextBox 7"/>
          <p:cNvSpPr txBox="1"/>
          <p:nvPr/>
        </p:nvSpPr>
        <p:spPr>
          <a:xfrm>
            <a:off x="2592000" y="1080000"/>
            <a:ext cx="7020000" cy="342000"/>
          </a:xfrm>
          <a:prstGeom prst="rect">
            <a:avLst/>
          </a:prstGeom>
          <a:noFill/>
        </p:spPr>
        <p:txBody>
          <a:bodyPr wrap="square" lIns="18000" rIns="18000" tIns="7200" bIns="7200">
            <a:noAutofit/>
          </a:bodyPr>
          <a:lstStyle/>
          <a:p>
            <a:pPr algn="ctr">
              <a:lnSpc>
                <a:spcPct val="108000"/>
              </a:lnSpc>
            </a:pPr>
            <a:r>
              <a:rPr sz="2900" b="1">
                <a:solidFill>
                  <a:srgbClr val="0D223A"/>
                </a:solidFill>
                <a:latin typeface="Aptos Display"/>
              </a:rPr>
              <a:t>CHANGE YOUR LIFE!</a:t>
            </a:r>
          </a:p>
        </p:txBody>
      </p:sp>
      <p:sp>
        <p:nvSpPr>
          <p:cNvPr id="9" name="TextBox 8"/>
          <p:cNvSpPr txBox="1"/>
          <p:nvPr/>
        </p:nvSpPr>
        <p:spPr>
          <a:xfrm>
            <a:off x="2916000" y="1494000"/>
            <a:ext cx="6408000" cy="198000"/>
          </a:xfrm>
          <a:prstGeom prst="rect">
            <a:avLst/>
          </a:prstGeom>
          <a:noFill/>
        </p:spPr>
        <p:txBody>
          <a:bodyPr wrap="square" lIns="18000" rIns="18000" tIns="7200" bIns="7200">
            <a:noAutofit/>
          </a:bodyPr>
          <a:lstStyle/>
          <a:p>
            <a:pPr algn="ctr">
              <a:lnSpc>
                <a:spcPct val="108000"/>
              </a:lnSpc>
            </a:pPr>
            <a:r>
              <a:rPr sz="1120" b="1">
                <a:solidFill>
                  <a:srgbClr val="5B6B7C"/>
                </a:solidFill>
                <a:latin typeface="Noto Sans JP"/>
              </a:rPr>
              <a:t>変われる。変われた仲間がいる。相模原ダルクは、依存症からの回復を全力で支えます。</a:t>
            </a:r>
          </a:p>
        </p:txBody>
      </p:sp>
      <p:sp>
        <p:nvSpPr>
          <p:cNvPr id="10" name="Rounded Rectangle 9"/>
          <p:cNvSpPr/>
          <p:nvPr/>
        </p:nvSpPr>
        <p:spPr>
          <a:xfrm>
            <a:off x="503999" y="2160000"/>
            <a:ext cx="2951999" cy="1080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3999" y="2160000"/>
            <a:ext cx="28800" cy="1080000"/>
          </a:xfrm>
          <a:prstGeom prst="rect">
            <a:avLst/>
          </a:prstGeom>
          <a:solidFill>
            <a:srgbClr val="2D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000" y="2260800"/>
            <a:ext cx="2699999" cy="162000"/>
          </a:xfrm>
          <a:prstGeom prst="rect">
            <a:avLst/>
          </a:prstGeom>
          <a:noFill/>
        </p:spPr>
        <p:txBody>
          <a:bodyPr wrap="square" lIns="18000" rIns="18000" tIns="7200" bIns="7200">
            <a:noAutofit/>
          </a:bodyPr>
          <a:lstStyle/>
          <a:p>
            <a:pPr algn="l">
              <a:lnSpc>
                <a:spcPct val="108000"/>
              </a:lnSpc>
            </a:pPr>
            <a:r>
              <a:rPr sz="1250" b="1">
                <a:solidFill>
                  <a:srgbClr val="0D223A"/>
                </a:solidFill>
                <a:latin typeface="Noto Sans JP"/>
              </a:rPr>
              <a:t>電話でのご相談</a:t>
            </a:r>
          </a:p>
        </p:txBody>
      </p:sp>
      <p:sp>
        <p:nvSpPr>
          <p:cNvPr id="13" name="TextBox 12"/>
          <p:cNvSpPr txBox="1"/>
          <p:nvPr/>
        </p:nvSpPr>
        <p:spPr>
          <a:xfrm>
            <a:off x="630000" y="2491200"/>
            <a:ext cx="2699999" cy="702000"/>
          </a:xfrm>
          <a:prstGeom prst="rect">
            <a:avLst/>
          </a:prstGeom>
          <a:noFill/>
        </p:spPr>
        <p:txBody>
          <a:bodyPr wrap="square" lIns="18000" rIns="18000" tIns="7200" bIns="7200">
            <a:spAutoFit/>
          </a:bodyPr>
          <a:lstStyle/>
          <a:p>
            <a:pPr>
              <a:lnSpc>
                <a:spcPct val="108000"/>
              </a:lnSpc>
              <a:spcAft>
                <a:spcPts val="300"/>
              </a:spcAft>
              <a:defRPr sz="880">
                <a:solidFill>
                  <a:srgbClr val="5B6B7C"/>
                </a:solidFill>
                <a:latin typeface="Noto Sans JP"/>
              </a:defRPr>
            </a:pPr>
            <a:r>
              <a:rPr>
                <a:latin typeface="Noto Sans JP"/>
              </a:rPr>
              <a:t>• 042-707-0391</a:t>
            </a:r>
          </a:p>
          <a:p>
            <a:pPr>
              <a:lnSpc>
                <a:spcPct val="108000"/>
              </a:lnSpc>
              <a:spcAft>
                <a:spcPts val="300"/>
              </a:spcAft>
              <a:defRPr sz="880">
                <a:solidFill>
                  <a:srgbClr val="5B6B7C"/>
                </a:solidFill>
                <a:latin typeface="Noto Sans JP"/>
              </a:defRPr>
            </a:pPr>
            <a:r>
              <a:rPr>
                <a:latin typeface="Noto Sans JP"/>
              </a:rPr>
              <a:t>• 平日 9:00-17:00／土祝 9:00-14:00</a:t>
            </a:r>
          </a:p>
        </p:txBody>
      </p:sp>
      <p:sp>
        <p:nvSpPr>
          <p:cNvPr id="14" name="Rounded Rectangle 13"/>
          <p:cNvSpPr/>
          <p:nvPr/>
        </p:nvSpPr>
        <p:spPr>
          <a:xfrm>
            <a:off x="3671999" y="2160000"/>
            <a:ext cx="2951999" cy="1080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71999" y="2160000"/>
            <a:ext cx="28800" cy="1080000"/>
          </a:xfrm>
          <a:prstGeom prst="rect">
            <a:avLst/>
          </a:prstGeom>
          <a:solidFill>
            <a:srgbClr val="17BC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97999" y="2260800"/>
            <a:ext cx="2699999" cy="162000"/>
          </a:xfrm>
          <a:prstGeom prst="rect">
            <a:avLst/>
          </a:prstGeom>
          <a:noFill/>
        </p:spPr>
        <p:txBody>
          <a:bodyPr wrap="square" lIns="18000" rIns="18000" tIns="7200" bIns="7200">
            <a:noAutofit/>
          </a:bodyPr>
          <a:lstStyle/>
          <a:p>
            <a:pPr algn="l">
              <a:lnSpc>
                <a:spcPct val="108000"/>
              </a:lnSpc>
            </a:pPr>
            <a:r>
              <a:rPr sz="1250" b="1">
                <a:solidFill>
                  <a:srgbClr val="0D223A"/>
                </a:solidFill>
                <a:latin typeface="Noto Sans JP"/>
              </a:rPr>
              <a:t>お問い合わせフォーム</a:t>
            </a:r>
          </a:p>
        </p:txBody>
      </p:sp>
      <p:sp>
        <p:nvSpPr>
          <p:cNvPr id="17" name="TextBox 16"/>
          <p:cNvSpPr txBox="1"/>
          <p:nvPr/>
        </p:nvSpPr>
        <p:spPr>
          <a:xfrm>
            <a:off x="3797999" y="2491200"/>
            <a:ext cx="2699999" cy="702000"/>
          </a:xfrm>
          <a:prstGeom prst="rect">
            <a:avLst/>
          </a:prstGeom>
          <a:noFill/>
        </p:spPr>
        <p:txBody>
          <a:bodyPr wrap="square" lIns="18000" rIns="18000" tIns="7200" bIns="7200">
            <a:spAutoFit/>
          </a:bodyPr>
          <a:lstStyle/>
          <a:p>
            <a:pPr>
              <a:lnSpc>
                <a:spcPct val="108000"/>
              </a:lnSpc>
              <a:spcAft>
                <a:spcPts val="300"/>
              </a:spcAft>
              <a:defRPr sz="880">
                <a:solidFill>
                  <a:srgbClr val="5B6B7C"/>
                </a:solidFill>
                <a:latin typeface="Noto Sans JP"/>
              </a:defRPr>
            </a:pPr>
            <a:r>
              <a:rPr>
                <a:latin typeface="Noto Sans JP"/>
              </a:rPr>
              <a:t>• https://s-darc.com</a:t>
            </a:r>
          </a:p>
          <a:p>
            <a:pPr>
              <a:lnSpc>
                <a:spcPct val="108000"/>
              </a:lnSpc>
              <a:spcAft>
                <a:spcPts val="300"/>
              </a:spcAft>
              <a:defRPr sz="880">
                <a:solidFill>
                  <a:srgbClr val="5B6B7C"/>
                </a:solidFill>
                <a:latin typeface="Noto Sans JP"/>
              </a:defRPr>
            </a:pPr>
            <a:r>
              <a:rPr>
                <a:latin typeface="Noto Sans JP"/>
              </a:rPr>
              <a:t>• 24時間受付可能</a:t>
            </a:r>
          </a:p>
        </p:txBody>
      </p:sp>
      <p:sp>
        <p:nvSpPr>
          <p:cNvPr id="18" name="Rounded Rectangle 17"/>
          <p:cNvSpPr/>
          <p:nvPr/>
        </p:nvSpPr>
        <p:spPr>
          <a:xfrm>
            <a:off x="6840000" y="2160000"/>
            <a:ext cx="2951999" cy="1080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40000" y="2160000"/>
            <a:ext cx="28800" cy="1080000"/>
          </a:xfrm>
          <a:prstGeom prst="rect">
            <a:avLst/>
          </a:prstGeom>
          <a:solidFill>
            <a:srgbClr val="F5A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66000" y="2260800"/>
            <a:ext cx="2699999" cy="162000"/>
          </a:xfrm>
          <a:prstGeom prst="rect">
            <a:avLst/>
          </a:prstGeom>
          <a:noFill/>
        </p:spPr>
        <p:txBody>
          <a:bodyPr wrap="square" lIns="18000" rIns="18000" tIns="7200" bIns="7200">
            <a:noAutofit/>
          </a:bodyPr>
          <a:lstStyle/>
          <a:p>
            <a:pPr algn="l">
              <a:lnSpc>
                <a:spcPct val="108000"/>
              </a:lnSpc>
            </a:pPr>
            <a:r>
              <a:rPr sz="1250" b="1">
                <a:solidFill>
                  <a:srgbClr val="0D223A"/>
                </a:solidFill>
                <a:latin typeface="Noto Sans JP"/>
              </a:rPr>
              <a:t>所在地</a:t>
            </a:r>
          </a:p>
        </p:txBody>
      </p:sp>
      <p:sp>
        <p:nvSpPr>
          <p:cNvPr id="21" name="TextBox 20"/>
          <p:cNvSpPr txBox="1"/>
          <p:nvPr/>
        </p:nvSpPr>
        <p:spPr>
          <a:xfrm>
            <a:off x="6966000" y="2491200"/>
            <a:ext cx="2699999" cy="702000"/>
          </a:xfrm>
          <a:prstGeom prst="rect">
            <a:avLst/>
          </a:prstGeom>
          <a:noFill/>
        </p:spPr>
        <p:txBody>
          <a:bodyPr wrap="square" lIns="18000" rIns="18000" tIns="7200" bIns="7200">
            <a:spAutoFit/>
          </a:bodyPr>
          <a:lstStyle/>
          <a:p>
            <a:pPr>
              <a:lnSpc>
                <a:spcPct val="108000"/>
              </a:lnSpc>
              <a:spcAft>
                <a:spcPts val="300"/>
              </a:spcAft>
              <a:defRPr sz="880">
                <a:solidFill>
                  <a:srgbClr val="5B6B7C"/>
                </a:solidFill>
                <a:latin typeface="Noto Sans JP"/>
              </a:defRPr>
            </a:pPr>
            <a:r>
              <a:rPr>
                <a:latin typeface="Noto Sans JP"/>
              </a:rPr>
              <a:t>• 〒252-0237</a:t>
            </a:r>
          </a:p>
          <a:p>
            <a:pPr>
              <a:lnSpc>
                <a:spcPct val="108000"/>
              </a:lnSpc>
              <a:spcAft>
                <a:spcPts val="300"/>
              </a:spcAft>
              <a:defRPr sz="880">
                <a:solidFill>
                  <a:srgbClr val="5B6B7C"/>
                </a:solidFill>
                <a:latin typeface="Noto Sans JP"/>
              </a:defRPr>
            </a:pPr>
            <a:r>
              <a:rPr>
                <a:latin typeface="Noto Sans JP"/>
              </a:rPr>
              <a:t>• 相模原市中央区千代田3-3-20</a:t>
            </a:r>
          </a:p>
        </p:txBody>
      </p:sp>
      <p:sp>
        <p:nvSpPr>
          <p:cNvPr id="22" name="Rounded Rectangle 21"/>
          <p:cNvSpPr/>
          <p:nvPr/>
        </p:nvSpPr>
        <p:spPr>
          <a:xfrm>
            <a:off x="7416000" y="3636000"/>
            <a:ext cx="3888000" cy="1584000"/>
          </a:xfrm>
          <a:prstGeom prst="roundRect">
            <a:avLst/>
          </a:prstGeom>
          <a:solidFill>
            <a:srgbClr val="2D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68000" y="3798000"/>
            <a:ext cx="3456000" cy="198000"/>
          </a:xfrm>
          <a:prstGeom prst="rect">
            <a:avLst/>
          </a:prstGeom>
          <a:noFill/>
        </p:spPr>
        <p:txBody>
          <a:bodyPr wrap="square" lIns="18000" rIns="18000" tIns="7200" bIns="7200">
            <a:noAutofit/>
          </a:bodyPr>
          <a:lstStyle/>
          <a:p>
            <a:pPr algn="ctr">
              <a:lnSpc>
                <a:spcPct val="108000"/>
              </a:lnSpc>
            </a:pPr>
            <a:r>
              <a:rPr sz="1300" b="1">
                <a:solidFill>
                  <a:srgbClr val="FFFFFF"/>
                </a:solidFill>
                <a:latin typeface="Noto Sans JP"/>
              </a:rPr>
              <a:t>お電話でのご相談</a:t>
            </a:r>
          </a:p>
        </p:txBody>
      </p:sp>
      <p:sp>
        <p:nvSpPr>
          <p:cNvPr id="24" name="TextBox 23"/>
          <p:cNvSpPr txBox="1"/>
          <p:nvPr/>
        </p:nvSpPr>
        <p:spPr>
          <a:xfrm>
            <a:off x="7668000" y="4121999"/>
            <a:ext cx="3456000" cy="432000"/>
          </a:xfrm>
          <a:prstGeom prst="rect">
            <a:avLst/>
          </a:prstGeom>
          <a:noFill/>
        </p:spPr>
        <p:txBody>
          <a:bodyPr wrap="square" lIns="18000" rIns="18000" tIns="7200" bIns="7200">
            <a:noAutofit/>
          </a:bodyPr>
          <a:lstStyle/>
          <a:p>
            <a:pPr algn="ctr">
              <a:lnSpc>
                <a:spcPct val="108000"/>
              </a:lnSpc>
            </a:pPr>
            <a:r>
              <a:rPr sz="2700" b="1">
                <a:solidFill>
                  <a:srgbClr val="FFFFFF"/>
                </a:solidFill>
                <a:latin typeface="Aptos Display"/>
              </a:rPr>
              <a:t>042-707-
0391</a:t>
            </a:r>
          </a:p>
        </p:txBody>
      </p:sp>
      <p:sp>
        <p:nvSpPr>
          <p:cNvPr id="25" name="TextBox 24"/>
          <p:cNvSpPr txBox="1"/>
          <p:nvPr/>
        </p:nvSpPr>
        <p:spPr>
          <a:xfrm>
            <a:off x="7668000" y="4716000"/>
            <a:ext cx="3456000" cy="144000"/>
          </a:xfrm>
          <a:prstGeom prst="rect">
            <a:avLst/>
          </a:prstGeom>
          <a:noFill/>
        </p:spPr>
        <p:txBody>
          <a:bodyPr wrap="square" lIns="18000" rIns="18000" tIns="7200" bIns="7200">
            <a:noAutofit/>
          </a:bodyPr>
          <a:lstStyle/>
          <a:p>
            <a:pPr algn="ctr">
              <a:lnSpc>
                <a:spcPct val="108000"/>
              </a:lnSpc>
            </a:pPr>
            <a:r>
              <a:rPr sz="819" b="0">
                <a:solidFill>
                  <a:srgbClr val="D7E6FF"/>
                </a:solidFill>
                <a:latin typeface="Noto Sans JP"/>
              </a:rPr>
              <a:t>受付：平日9:00-17:00／土祝9:00-14:00</a:t>
            </a:r>
          </a:p>
        </p:txBody>
      </p:sp>
      <p:sp>
        <p:nvSpPr>
          <p:cNvPr id="26" name="Rounded Rectangle 25"/>
          <p:cNvSpPr/>
          <p:nvPr/>
        </p:nvSpPr>
        <p:spPr>
          <a:xfrm>
            <a:off x="7416000" y="5400000"/>
            <a:ext cx="3888000" cy="288000"/>
          </a:xfrm>
          <a:prstGeom prst="roundRect">
            <a:avLst/>
          </a:prstGeom>
          <a:solidFill>
            <a:srgbClr val="FFE8EB"/>
          </a:solidFill>
          <a:ln w="8890">
            <a:solidFill>
              <a:srgbClr val="FFBB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60000" y="5464800"/>
            <a:ext cx="3600000" cy="125999"/>
          </a:xfrm>
          <a:prstGeom prst="rect">
            <a:avLst/>
          </a:prstGeom>
          <a:noFill/>
        </p:spPr>
        <p:txBody>
          <a:bodyPr wrap="square" lIns="18000" rIns="18000" tIns="7200" bIns="7200">
            <a:noAutofit/>
          </a:bodyPr>
          <a:lstStyle/>
          <a:p>
            <a:pPr algn="ctr">
              <a:lnSpc>
                <a:spcPct val="108000"/>
              </a:lnSpc>
            </a:pPr>
            <a:r>
              <a:rPr sz="1120" b="1">
                <a:solidFill>
                  <a:srgbClr val="EE575B"/>
                </a:solidFill>
                <a:latin typeface="Noto Sans JP"/>
              </a:rPr>
              <a:t>初回相談無料・秘密厳守</a:t>
            </a:r>
          </a:p>
        </p:txBody>
      </p:sp>
      <p:sp>
        <p:nvSpPr>
          <p:cNvPr id="28" name="Rounded Rectangle 27"/>
          <p:cNvSpPr/>
          <p:nvPr/>
        </p:nvSpPr>
        <p:spPr>
          <a:xfrm>
            <a:off x="3671999" y="3636000"/>
            <a:ext cx="2951999" cy="1584000"/>
          </a:xfrm>
          <a:prstGeom prst="roundRect">
            <a:avLst/>
          </a:prstGeom>
          <a:solidFill>
            <a:srgbClr val="FFFFFF"/>
          </a:solidFill>
          <a:ln w="8890">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671999" y="3636000"/>
            <a:ext cx="28800" cy="1584000"/>
          </a:xfrm>
          <a:prstGeom prst="rect">
            <a:avLst/>
          </a:prstGeom>
          <a:solidFill>
            <a:srgbClr val="85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97999" y="3736799"/>
            <a:ext cx="2699999" cy="162000"/>
          </a:xfrm>
          <a:prstGeom prst="rect">
            <a:avLst/>
          </a:prstGeom>
          <a:noFill/>
        </p:spPr>
        <p:txBody>
          <a:bodyPr wrap="square" lIns="18000" rIns="18000" tIns="7200" bIns="7200">
            <a:noAutofit/>
          </a:bodyPr>
          <a:lstStyle/>
          <a:p>
            <a:pPr algn="l">
              <a:lnSpc>
                <a:spcPct val="108000"/>
              </a:lnSpc>
            </a:pPr>
            <a:r>
              <a:rPr sz="1250" b="1">
                <a:solidFill>
                  <a:srgbClr val="0D223A"/>
                </a:solidFill>
                <a:latin typeface="Noto Sans JP"/>
              </a:rPr>
              <a:t>運営情報</a:t>
            </a:r>
          </a:p>
        </p:txBody>
      </p:sp>
      <p:sp>
        <p:nvSpPr>
          <p:cNvPr id="31" name="TextBox 30"/>
          <p:cNvSpPr txBox="1"/>
          <p:nvPr/>
        </p:nvSpPr>
        <p:spPr>
          <a:xfrm>
            <a:off x="3797999" y="3967200"/>
            <a:ext cx="2699999" cy="1206000"/>
          </a:xfrm>
          <a:prstGeom prst="rect">
            <a:avLst/>
          </a:prstGeom>
          <a:noFill/>
        </p:spPr>
        <p:txBody>
          <a:bodyPr wrap="square" lIns="18000" rIns="18000" tIns="7200" bIns="7200">
            <a:spAutoFit/>
          </a:bodyPr>
          <a:lstStyle/>
          <a:p>
            <a:pPr>
              <a:lnSpc>
                <a:spcPct val="108000"/>
              </a:lnSpc>
              <a:spcAft>
                <a:spcPts val="300"/>
              </a:spcAft>
              <a:defRPr sz="880">
                <a:solidFill>
                  <a:srgbClr val="5B6B7C"/>
                </a:solidFill>
                <a:latin typeface="Noto Sans JP"/>
              </a:defRPr>
            </a:pPr>
            <a:r>
              <a:rPr>
                <a:latin typeface="Noto Sans JP"/>
              </a:rPr>
              <a:t>• 一般社団法人 相模原ダルク</a:t>
            </a:r>
          </a:p>
          <a:p>
            <a:pPr>
              <a:lnSpc>
                <a:spcPct val="108000"/>
              </a:lnSpc>
              <a:spcAft>
                <a:spcPts val="300"/>
              </a:spcAft>
              <a:defRPr sz="880">
                <a:solidFill>
                  <a:srgbClr val="5B6B7C"/>
                </a:solidFill>
                <a:latin typeface="Noto Sans JP"/>
              </a:defRPr>
            </a:pPr>
            <a:r>
              <a:rPr>
                <a:latin typeface="Noto Sans JP"/>
              </a:rPr>
              <a:t>• 代表理事：田中 秀泰</a:t>
            </a:r>
          </a:p>
          <a:p>
            <a:pPr>
              <a:lnSpc>
                <a:spcPct val="108000"/>
              </a:lnSpc>
              <a:spcAft>
                <a:spcPts val="300"/>
              </a:spcAft>
              <a:defRPr sz="880">
                <a:solidFill>
                  <a:srgbClr val="5B6B7C"/>
                </a:solidFill>
                <a:latin typeface="Noto Sans JP"/>
              </a:defRPr>
            </a:pPr>
            <a:r>
              <a:rPr>
                <a:latin typeface="Noto Sans JP"/>
              </a:rPr>
              <a:t>• 日曜定休</a:t>
            </a:r>
          </a:p>
        </p:txBody>
      </p:sp>
      <p:sp>
        <p:nvSpPr>
          <p:cNvPr id="32" name="TextBox 31"/>
          <p:cNvSpPr txBox="1"/>
          <p:nvPr/>
        </p:nvSpPr>
        <p:spPr>
          <a:xfrm>
            <a:off x="270000" y="6588000"/>
            <a:ext cx="5760000" cy="125999"/>
          </a:xfrm>
          <a:prstGeom prst="rect">
            <a:avLst/>
          </a:prstGeom>
          <a:noFill/>
        </p:spPr>
        <p:txBody>
          <a:bodyPr wrap="square" lIns="18000" rIns="18000" tIns="7200" bIns="7200">
            <a:noAutofit/>
          </a:bodyPr>
          <a:lstStyle/>
          <a:p>
            <a:pPr algn="l">
              <a:lnSpc>
                <a:spcPct val="108000"/>
              </a:lnSpc>
            </a:pPr>
            <a:r>
              <a:rPr sz="720" b="0">
                <a:solidFill>
                  <a:srgbClr val="5B6B7C"/>
                </a:solidFill>
                <a:latin typeface="Noto Sans JP"/>
              </a:rPr>
              <a:t>相模原ダルク｜依存症からの回復を全力で支えます</a:t>
            </a:r>
          </a:p>
        </p:txBody>
      </p:sp>
      <p:sp>
        <p:nvSpPr>
          <p:cNvPr id="33" name="TextBox 32"/>
          <p:cNvSpPr txBox="1"/>
          <p:nvPr/>
        </p:nvSpPr>
        <p:spPr>
          <a:xfrm>
            <a:off x="10062000" y="6566399"/>
            <a:ext cx="540000" cy="125999"/>
          </a:xfrm>
          <a:prstGeom prst="rect">
            <a:avLst/>
          </a:prstGeom>
          <a:noFill/>
        </p:spPr>
        <p:txBody>
          <a:bodyPr wrap="square" lIns="18000" rIns="18000" tIns="7200" bIns="7200">
            <a:noAutofit/>
          </a:bodyPr>
          <a:lstStyle/>
          <a:p>
            <a:pPr algn="r">
              <a:lnSpc>
                <a:spcPct val="108000"/>
              </a:lnSpc>
            </a:pPr>
            <a:r>
              <a:rPr sz="780" b="1">
                <a:solidFill>
                  <a:srgbClr val="0D223A"/>
                </a:solidFill>
                <a:latin typeface="Aptos Display"/>
              </a:rPr>
              <a:t>18/18</a:t>
            </a:r>
          </a:p>
        </p:txBody>
      </p:sp>
      <p:sp>
        <p:nvSpPr>
          <p:cNvPr id="34" name="Rounded Rectangle 33"/>
          <p:cNvSpPr/>
          <p:nvPr/>
        </p:nvSpPr>
        <p:spPr>
          <a:xfrm>
            <a:off x="10674000" y="6609600"/>
            <a:ext cx="1080000" cy="28800"/>
          </a:xfrm>
          <a:prstGeom prst="roundRect">
            <a:avLst/>
          </a:prstGeom>
          <a:solidFill>
            <a:srgbClr val="D7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674000" y="6609600"/>
            <a:ext cx="1080000" cy="28800"/>
          </a:xfrm>
          <a:prstGeom prst="roundRect">
            <a:avLst/>
          </a:prstGeom>
          <a:solidFill>
            <a:srgbClr val="17BC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